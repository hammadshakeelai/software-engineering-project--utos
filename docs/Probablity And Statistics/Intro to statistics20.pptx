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handoutMasterIdLst>
    <p:handoutMasterId r:id="rId23"/>
  </p:handoutMasterIdLst>
  <p:sldIdLst>
    <p:sldId id="278" r:id="rId2"/>
    <p:sldId id="256" r:id="rId3"/>
    <p:sldId id="257" r:id="rId4"/>
    <p:sldId id="258" r:id="rId5"/>
    <p:sldId id="259" r:id="rId6"/>
    <p:sldId id="277" r:id="rId7"/>
    <p:sldId id="266" r:id="rId8"/>
    <p:sldId id="267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9" r:id="rId18"/>
    <p:sldId id="280" r:id="rId19"/>
    <p:sldId id="281" r:id="rId20"/>
    <p:sldId id="282" r:id="rId21"/>
    <p:sldId id="283" r:id="rId22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39" d="100"/>
          <a:sy n="39" d="100"/>
        </p:scale>
        <p:origin x="-1380" y="-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9075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738" y="0"/>
            <a:ext cx="4029075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920DF1-B4CF-4D12-BA3C-3FB1CD7ABCB8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57975"/>
            <a:ext cx="4029075" cy="3508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738" y="6657975"/>
            <a:ext cx="4029075" cy="3508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635CA1-3A19-4B20-B998-84B6FE93C61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marL="12700">
              <a:lnSpc>
                <a:spcPts val="1430"/>
              </a:lnSpc>
            </a:pPr>
            <a:r>
              <a:rPr lang="en-US" spc="-5" smtClean="0"/>
              <a:t>Larson/Farber </a:t>
            </a:r>
            <a:r>
              <a:rPr lang="en-US" smtClean="0"/>
              <a:t>4th</a:t>
            </a:r>
            <a:r>
              <a:rPr lang="en-US" spc="-65" smtClean="0"/>
              <a:t> </a:t>
            </a:r>
            <a:r>
              <a:rPr lang="en-US" smtClean="0"/>
              <a:t>ed.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25400">
              <a:lnSpc>
                <a:spcPts val="1430"/>
              </a:lnSpc>
            </a:pPr>
            <a:fld id="{81D60167-4931-47E6-BA6A-407CBD079E47}" type="slidenum">
              <a:rPr lang="en-US" smtClean="0"/>
              <a:pPr marL="25400">
                <a:lnSpc>
                  <a:spcPts val="143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marL="12700">
              <a:lnSpc>
                <a:spcPts val="1430"/>
              </a:lnSpc>
            </a:pPr>
            <a:r>
              <a:rPr lang="en-US" spc="-5" smtClean="0"/>
              <a:t>Larson/Farber </a:t>
            </a:r>
            <a:r>
              <a:rPr lang="en-US" smtClean="0"/>
              <a:t>4th</a:t>
            </a:r>
            <a:r>
              <a:rPr lang="en-US" spc="-65" smtClean="0"/>
              <a:t> </a:t>
            </a:r>
            <a:r>
              <a:rPr lang="en-US" smtClean="0"/>
              <a:t>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25400">
              <a:lnSpc>
                <a:spcPts val="1430"/>
              </a:lnSpc>
            </a:pPr>
            <a:fld id="{81D60167-4931-47E6-BA6A-407CBD079E47}" type="slidenum">
              <a:rPr lang="en-US" smtClean="0"/>
              <a:pPr marL="25400">
                <a:lnSpc>
                  <a:spcPts val="143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marL="12700">
              <a:lnSpc>
                <a:spcPts val="1430"/>
              </a:lnSpc>
            </a:pPr>
            <a:r>
              <a:rPr lang="en-US" spc="-5" smtClean="0"/>
              <a:t>Larson/Farber </a:t>
            </a:r>
            <a:r>
              <a:rPr lang="en-US" smtClean="0"/>
              <a:t>4th</a:t>
            </a:r>
            <a:r>
              <a:rPr lang="en-US" spc="-65" smtClean="0"/>
              <a:t> </a:t>
            </a:r>
            <a:r>
              <a:rPr lang="en-US" smtClean="0"/>
              <a:t>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25400">
              <a:lnSpc>
                <a:spcPts val="1430"/>
              </a:lnSpc>
            </a:pPr>
            <a:fld id="{81D60167-4931-47E6-BA6A-407CBD079E47}" type="slidenum">
              <a:rPr lang="en-US" smtClean="0"/>
              <a:pPr marL="25400">
                <a:lnSpc>
                  <a:spcPts val="143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marL="12700">
              <a:lnSpc>
                <a:spcPts val="1430"/>
              </a:lnSpc>
            </a:pPr>
            <a:r>
              <a:rPr lang="en-US" spc="-5" smtClean="0"/>
              <a:t>Larson/Farber </a:t>
            </a:r>
            <a:r>
              <a:rPr lang="en-US" smtClean="0"/>
              <a:t>4th</a:t>
            </a:r>
            <a:r>
              <a:rPr lang="en-US" spc="-65" smtClean="0"/>
              <a:t> </a:t>
            </a:r>
            <a:r>
              <a:rPr lang="en-US" smtClean="0"/>
              <a:t>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25400">
              <a:lnSpc>
                <a:spcPts val="1430"/>
              </a:lnSpc>
            </a:pPr>
            <a:fld id="{81D60167-4931-47E6-BA6A-407CBD079E47}" type="slidenum">
              <a:rPr lang="en-US" smtClean="0"/>
              <a:pPr marL="25400">
                <a:lnSpc>
                  <a:spcPts val="143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marL="12700">
              <a:lnSpc>
                <a:spcPts val="1430"/>
              </a:lnSpc>
            </a:pPr>
            <a:r>
              <a:rPr lang="en-US" spc="-5" smtClean="0"/>
              <a:t>Larson/Farber </a:t>
            </a:r>
            <a:r>
              <a:rPr lang="en-US" smtClean="0"/>
              <a:t>4th</a:t>
            </a:r>
            <a:r>
              <a:rPr lang="en-US" spc="-65" smtClean="0"/>
              <a:t> </a:t>
            </a:r>
            <a:r>
              <a:rPr lang="en-US" smtClean="0"/>
              <a:t>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25400">
              <a:lnSpc>
                <a:spcPts val="1430"/>
              </a:lnSpc>
            </a:pPr>
            <a:fld id="{81D60167-4931-47E6-BA6A-407CBD079E47}" type="slidenum">
              <a:rPr lang="en-US" smtClean="0"/>
              <a:pPr marL="25400">
                <a:lnSpc>
                  <a:spcPts val="143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marL="12700">
              <a:lnSpc>
                <a:spcPts val="1430"/>
              </a:lnSpc>
            </a:pPr>
            <a:r>
              <a:rPr lang="en-US" spc="-5" smtClean="0"/>
              <a:t>Larson/Farber </a:t>
            </a:r>
            <a:r>
              <a:rPr lang="en-US" smtClean="0"/>
              <a:t>4th</a:t>
            </a:r>
            <a:r>
              <a:rPr lang="en-US" spc="-65" smtClean="0"/>
              <a:t> </a:t>
            </a:r>
            <a:r>
              <a:rPr lang="en-US" smtClean="0"/>
              <a:t>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25400">
              <a:lnSpc>
                <a:spcPts val="1430"/>
              </a:lnSpc>
            </a:pPr>
            <a:fld id="{81D60167-4931-47E6-BA6A-407CBD079E47}" type="slidenum">
              <a:rPr lang="en-US" smtClean="0"/>
              <a:pPr marL="25400">
                <a:lnSpc>
                  <a:spcPts val="143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marL="12700">
              <a:lnSpc>
                <a:spcPts val="1430"/>
              </a:lnSpc>
            </a:pPr>
            <a:r>
              <a:rPr lang="en-US" spc="-5" smtClean="0"/>
              <a:t>Larson/Farber </a:t>
            </a:r>
            <a:r>
              <a:rPr lang="en-US" smtClean="0"/>
              <a:t>4th</a:t>
            </a:r>
            <a:r>
              <a:rPr lang="en-US" spc="-65" smtClean="0"/>
              <a:t> </a:t>
            </a:r>
            <a:r>
              <a:rPr lang="en-US" smtClean="0"/>
              <a:t>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25400">
              <a:lnSpc>
                <a:spcPts val="1430"/>
              </a:lnSpc>
            </a:pPr>
            <a:fld id="{81D60167-4931-47E6-BA6A-407CBD079E47}" type="slidenum">
              <a:rPr lang="en-US" smtClean="0"/>
              <a:pPr marL="25400">
                <a:lnSpc>
                  <a:spcPts val="143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marL="12700">
              <a:lnSpc>
                <a:spcPts val="1430"/>
              </a:lnSpc>
            </a:pPr>
            <a:r>
              <a:rPr lang="en-US" spc="-5" smtClean="0"/>
              <a:t>Larson/Farber </a:t>
            </a:r>
            <a:r>
              <a:rPr lang="en-US" smtClean="0"/>
              <a:t>4th</a:t>
            </a:r>
            <a:r>
              <a:rPr lang="en-US" spc="-65" smtClean="0"/>
              <a:t> </a:t>
            </a:r>
            <a:r>
              <a:rPr lang="en-US" smtClean="0"/>
              <a:t>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25400">
              <a:lnSpc>
                <a:spcPts val="1430"/>
              </a:lnSpc>
            </a:pPr>
            <a:fld id="{81D60167-4931-47E6-BA6A-407CBD079E47}" type="slidenum">
              <a:rPr lang="en-US" smtClean="0"/>
              <a:pPr marL="25400">
                <a:lnSpc>
                  <a:spcPts val="143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marL="12700">
              <a:lnSpc>
                <a:spcPts val="1430"/>
              </a:lnSpc>
            </a:pPr>
            <a:r>
              <a:rPr lang="en-US" spc="-5" smtClean="0"/>
              <a:t>Larson/Farber </a:t>
            </a:r>
            <a:r>
              <a:rPr lang="en-US" smtClean="0"/>
              <a:t>4th</a:t>
            </a:r>
            <a:r>
              <a:rPr lang="en-US" spc="-65" smtClean="0"/>
              <a:t> </a:t>
            </a:r>
            <a:r>
              <a:rPr lang="en-US" smtClean="0"/>
              <a:t>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25400">
              <a:lnSpc>
                <a:spcPts val="1430"/>
              </a:lnSpc>
            </a:pPr>
            <a:fld id="{81D60167-4931-47E6-BA6A-407CBD079E47}" type="slidenum">
              <a:rPr lang="en-US" smtClean="0"/>
              <a:pPr marL="25400">
                <a:lnSpc>
                  <a:spcPts val="1430"/>
                </a:lnSpc>
              </a:pPr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marL="12700">
              <a:lnSpc>
                <a:spcPts val="1430"/>
              </a:lnSpc>
            </a:pPr>
            <a:r>
              <a:rPr lang="en-US" spc="-5" smtClean="0"/>
              <a:t>Larson/Farber </a:t>
            </a:r>
            <a:r>
              <a:rPr lang="en-US" smtClean="0"/>
              <a:t>4th</a:t>
            </a:r>
            <a:r>
              <a:rPr lang="en-US" spc="-65" smtClean="0"/>
              <a:t> </a:t>
            </a:r>
            <a:r>
              <a:rPr lang="en-US" smtClean="0"/>
              <a:t>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25400">
              <a:lnSpc>
                <a:spcPts val="1430"/>
              </a:lnSpc>
            </a:pPr>
            <a:fld id="{81D60167-4931-47E6-BA6A-407CBD079E47}" type="slidenum">
              <a:rPr lang="en-US" smtClean="0"/>
              <a:pPr marL="25400">
                <a:lnSpc>
                  <a:spcPts val="143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marL="12700">
              <a:lnSpc>
                <a:spcPts val="1430"/>
              </a:lnSpc>
            </a:pPr>
            <a:r>
              <a:rPr lang="en-US" spc="-5" smtClean="0"/>
              <a:t>Larson/Farber </a:t>
            </a:r>
            <a:r>
              <a:rPr lang="en-US" smtClean="0"/>
              <a:t>4th</a:t>
            </a:r>
            <a:r>
              <a:rPr lang="en-US" spc="-65" smtClean="0"/>
              <a:t> </a:t>
            </a:r>
            <a:r>
              <a:rPr lang="en-US" smtClean="0"/>
              <a:t>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25400">
              <a:lnSpc>
                <a:spcPts val="1430"/>
              </a:lnSpc>
            </a:pPr>
            <a:fld id="{81D60167-4931-47E6-BA6A-407CBD079E47}" type="slidenum">
              <a:rPr lang="en-US" smtClean="0"/>
              <a:pPr marL="25400">
                <a:lnSpc>
                  <a:spcPts val="143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4/14/2021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pPr marL="12700">
              <a:lnSpc>
                <a:spcPts val="1430"/>
              </a:lnSpc>
            </a:pPr>
            <a:r>
              <a:rPr lang="en-US" spc="-5" smtClean="0"/>
              <a:t>Larson/Farber </a:t>
            </a:r>
            <a:r>
              <a:rPr lang="en-US" smtClean="0"/>
              <a:t>4th</a:t>
            </a:r>
            <a:r>
              <a:rPr lang="en-US" spc="-65" smtClean="0"/>
              <a:t> </a:t>
            </a:r>
            <a:r>
              <a:rPr lang="en-US" smtClean="0"/>
              <a:t>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pPr marL="25400">
              <a:lnSpc>
                <a:spcPts val="1430"/>
              </a:lnSpc>
            </a:pPr>
            <a:fld id="{81D60167-4931-47E6-BA6A-407CBD079E47}" type="slidenum">
              <a:rPr lang="en-US" smtClean="0"/>
              <a:pPr marL="25400">
                <a:lnSpc>
                  <a:spcPts val="1430"/>
                </a:lnSpc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9" Type="http://schemas.openxmlformats.org/officeDocument/2006/relationships/image" Target="../media/image40.png"/><Relationship Id="rId21" Type="http://schemas.openxmlformats.org/officeDocument/2006/relationships/image" Target="../media/image22.png"/><Relationship Id="rId34" Type="http://schemas.openxmlformats.org/officeDocument/2006/relationships/image" Target="../media/image35.png"/><Relationship Id="rId42" Type="http://schemas.openxmlformats.org/officeDocument/2006/relationships/image" Target="../media/image43.png"/><Relationship Id="rId47" Type="http://schemas.openxmlformats.org/officeDocument/2006/relationships/image" Target="../media/image48.png"/><Relationship Id="rId50" Type="http://schemas.openxmlformats.org/officeDocument/2006/relationships/image" Target="../media/image51.png"/><Relationship Id="rId55" Type="http://schemas.openxmlformats.org/officeDocument/2006/relationships/image" Target="../media/image56.png"/><Relationship Id="rId63" Type="http://schemas.openxmlformats.org/officeDocument/2006/relationships/image" Target="../media/image64.png"/><Relationship Id="rId68" Type="http://schemas.openxmlformats.org/officeDocument/2006/relationships/image" Target="../media/image69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8.png"/><Relationship Id="rId40" Type="http://schemas.openxmlformats.org/officeDocument/2006/relationships/image" Target="../media/image41.png"/><Relationship Id="rId45" Type="http://schemas.openxmlformats.org/officeDocument/2006/relationships/image" Target="../media/image46.png"/><Relationship Id="rId53" Type="http://schemas.openxmlformats.org/officeDocument/2006/relationships/image" Target="../media/image54.png"/><Relationship Id="rId58" Type="http://schemas.openxmlformats.org/officeDocument/2006/relationships/image" Target="../media/image59.png"/><Relationship Id="rId66" Type="http://schemas.openxmlformats.org/officeDocument/2006/relationships/image" Target="../media/image67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7.png"/><Relationship Id="rId49" Type="http://schemas.openxmlformats.org/officeDocument/2006/relationships/image" Target="../media/image50.png"/><Relationship Id="rId57" Type="http://schemas.openxmlformats.org/officeDocument/2006/relationships/image" Target="../media/image58.png"/><Relationship Id="rId61" Type="http://schemas.openxmlformats.org/officeDocument/2006/relationships/image" Target="../media/image62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4" Type="http://schemas.openxmlformats.org/officeDocument/2006/relationships/image" Target="../media/image45.png"/><Relationship Id="rId52" Type="http://schemas.openxmlformats.org/officeDocument/2006/relationships/image" Target="../media/image53.png"/><Relationship Id="rId60" Type="http://schemas.openxmlformats.org/officeDocument/2006/relationships/image" Target="../media/image61.png"/><Relationship Id="rId65" Type="http://schemas.openxmlformats.org/officeDocument/2006/relationships/image" Target="../media/image6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Relationship Id="rId43" Type="http://schemas.openxmlformats.org/officeDocument/2006/relationships/image" Target="../media/image44.png"/><Relationship Id="rId48" Type="http://schemas.openxmlformats.org/officeDocument/2006/relationships/image" Target="../media/image49.png"/><Relationship Id="rId56" Type="http://schemas.openxmlformats.org/officeDocument/2006/relationships/image" Target="../media/image57.png"/><Relationship Id="rId64" Type="http://schemas.openxmlformats.org/officeDocument/2006/relationships/image" Target="../media/image65.png"/><Relationship Id="rId69" Type="http://schemas.openxmlformats.org/officeDocument/2006/relationships/image" Target="../media/image70.png"/><Relationship Id="rId8" Type="http://schemas.openxmlformats.org/officeDocument/2006/relationships/image" Target="../media/image9.png"/><Relationship Id="rId51" Type="http://schemas.openxmlformats.org/officeDocument/2006/relationships/image" Target="../media/image52.png"/><Relationship Id="rId3" Type="http://schemas.openxmlformats.org/officeDocument/2006/relationships/image" Target="../media/image4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image" Target="../media/image39.png"/><Relationship Id="rId46" Type="http://schemas.openxmlformats.org/officeDocument/2006/relationships/image" Target="../media/image47.png"/><Relationship Id="rId59" Type="http://schemas.openxmlformats.org/officeDocument/2006/relationships/image" Target="../media/image60.png"/><Relationship Id="rId67" Type="http://schemas.openxmlformats.org/officeDocument/2006/relationships/image" Target="../media/image68.png"/><Relationship Id="rId20" Type="http://schemas.openxmlformats.org/officeDocument/2006/relationships/image" Target="../media/image21.png"/><Relationship Id="rId41" Type="http://schemas.openxmlformats.org/officeDocument/2006/relationships/image" Target="../media/image42.png"/><Relationship Id="rId54" Type="http://schemas.openxmlformats.org/officeDocument/2006/relationships/image" Target="../media/image55.png"/><Relationship Id="rId62" Type="http://schemas.openxmlformats.org/officeDocument/2006/relationships/image" Target="../media/image63.png"/><Relationship Id="rId70" Type="http://schemas.openxmlformats.org/officeDocument/2006/relationships/image" Target="../media/image7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5.png"/><Relationship Id="rId18" Type="http://schemas.openxmlformats.org/officeDocument/2006/relationships/image" Target="../media/image88.png"/><Relationship Id="rId26" Type="http://schemas.openxmlformats.org/officeDocument/2006/relationships/image" Target="../media/image96.png"/><Relationship Id="rId39" Type="http://schemas.openxmlformats.org/officeDocument/2006/relationships/image" Target="../media/image109.png"/><Relationship Id="rId21" Type="http://schemas.openxmlformats.org/officeDocument/2006/relationships/image" Target="../media/image91.png"/><Relationship Id="rId34" Type="http://schemas.openxmlformats.org/officeDocument/2006/relationships/image" Target="../media/image104.png"/><Relationship Id="rId42" Type="http://schemas.openxmlformats.org/officeDocument/2006/relationships/image" Target="../media/image23.png"/><Relationship Id="rId47" Type="http://schemas.openxmlformats.org/officeDocument/2006/relationships/image" Target="../media/image116.png"/><Relationship Id="rId50" Type="http://schemas.openxmlformats.org/officeDocument/2006/relationships/image" Target="../media/image119.png"/><Relationship Id="rId55" Type="http://schemas.openxmlformats.org/officeDocument/2006/relationships/image" Target="../media/image124.png"/><Relationship Id="rId63" Type="http://schemas.openxmlformats.org/officeDocument/2006/relationships/image" Target="../media/image132.png"/><Relationship Id="rId68" Type="http://schemas.openxmlformats.org/officeDocument/2006/relationships/image" Target="../media/image136.png"/><Relationship Id="rId7" Type="http://schemas.openxmlformats.org/officeDocument/2006/relationships/image" Target="../media/image79.png"/><Relationship Id="rId71" Type="http://schemas.openxmlformats.org/officeDocument/2006/relationships/image" Target="../media/image139.png"/><Relationship Id="rId2" Type="http://schemas.openxmlformats.org/officeDocument/2006/relationships/image" Target="../media/image74.png"/><Relationship Id="rId16" Type="http://schemas.openxmlformats.org/officeDocument/2006/relationships/image" Target="../media/image11.png"/><Relationship Id="rId29" Type="http://schemas.openxmlformats.org/officeDocument/2006/relationships/image" Target="../media/image9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24" Type="http://schemas.openxmlformats.org/officeDocument/2006/relationships/image" Target="../media/image94.png"/><Relationship Id="rId32" Type="http://schemas.openxmlformats.org/officeDocument/2006/relationships/image" Target="../media/image102.png"/><Relationship Id="rId37" Type="http://schemas.openxmlformats.org/officeDocument/2006/relationships/image" Target="../media/image107.png"/><Relationship Id="rId40" Type="http://schemas.openxmlformats.org/officeDocument/2006/relationships/image" Target="../media/image110.png"/><Relationship Id="rId45" Type="http://schemas.openxmlformats.org/officeDocument/2006/relationships/image" Target="../media/image114.png"/><Relationship Id="rId53" Type="http://schemas.openxmlformats.org/officeDocument/2006/relationships/image" Target="../media/image122.png"/><Relationship Id="rId58" Type="http://schemas.openxmlformats.org/officeDocument/2006/relationships/image" Target="../media/image127.png"/><Relationship Id="rId66" Type="http://schemas.openxmlformats.org/officeDocument/2006/relationships/image" Target="../media/image48.png"/><Relationship Id="rId5" Type="http://schemas.openxmlformats.org/officeDocument/2006/relationships/image" Target="../media/image77.png"/><Relationship Id="rId15" Type="http://schemas.openxmlformats.org/officeDocument/2006/relationships/image" Target="../media/image10.png"/><Relationship Id="rId23" Type="http://schemas.openxmlformats.org/officeDocument/2006/relationships/image" Target="../media/image93.png"/><Relationship Id="rId28" Type="http://schemas.openxmlformats.org/officeDocument/2006/relationships/image" Target="../media/image98.png"/><Relationship Id="rId36" Type="http://schemas.openxmlformats.org/officeDocument/2006/relationships/image" Target="../media/image106.png"/><Relationship Id="rId49" Type="http://schemas.openxmlformats.org/officeDocument/2006/relationships/image" Target="../media/image118.png"/><Relationship Id="rId57" Type="http://schemas.openxmlformats.org/officeDocument/2006/relationships/image" Target="../media/image126.png"/><Relationship Id="rId61" Type="http://schemas.openxmlformats.org/officeDocument/2006/relationships/image" Target="../media/image130.png"/><Relationship Id="rId10" Type="http://schemas.openxmlformats.org/officeDocument/2006/relationships/image" Target="../media/image82.png"/><Relationship Id="rId19" Type="http://schemas.openxmlformats.org/officeDocument/2006/relationships/image" Target="../media/image89.png"/><Relationship Id="rId31" Type="http://schemas.openxmlformats.org/officeDocument/2006/relationships/image" Target="../media/image101.png"/><Relationship Id="rId44" Type="http://schemas.openxmlformats.org/officeDocument/2006/relationships/image" Target="../media/image113.png"/><Relationship Id="rId52" Type="http://schemas.openxmlformats.org/officeDocument/2006/relationships/image" Target="../media/image121.png"/><Relationship Id="rId60" Type="http://schemas.openxmlformats.org/officeDocument/2006/relationships/image" Target="../media/image129.png"/><Relationship Id="rId65" Type="http://schemas.openxmlformats.org/officeDocument/2006/relationships/image" Target="../media/image134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Relationship Id="rId22" Type="http://schemas.openxmlformats.org/officeDocument/2006/relationships/image" Target="../media/image92.png"/><Relationship Id="rId27" Type="http://schemas.openxmlformats.org/officeDocument/2006/relationships/image" Target="../media/image97.png"/><Relationship Id="rId30" Type="http://schemas.openxmlformats.org/officeDocument/2006/relationships/image" Target="../media/image100.png"/><Relationship Id="rId35" Type="http://schemas.openxmlformats.org/officeDocument/2006/relationships/image" Target="../media/image105.png"/><Relationship Id="rId43" Type="http://schemas.openxmlformats.org/officeDocument/2006/relationships/image" Target="../media/image112.png"/><Relationship Id="rId48" Type="http://schemas.openxmlformats.org/officeDocument/2006/relationships/image" Target="../media/image117.png"/><Relationship Id="rId56" Type="http://schemas.openxmlformats.org/officeDocument/2006/relationships/image" Target="../media/image125.png"/><Relationship Id="rId64" Type="http://schemas.openxmlformats.org/officeDocument/2006/relationships/image" Target="../media/image133.png"/><Relationship Id="rId69" Type="http://schemas.openxmlformats.org/officeDocument/2006/relationships/image" Target="../media/image137.png"/><Relationship Id="rId8" Type="http://schemas.openxmlformats.org/officeDocument/2006/relationships/image" Target="../media/image80.png"/><Relationship Id="rId51" Type="http://schemas.openxmlformats.org/officeDocument/2006/relationships/image" Target="../media/image120.png"/><Relationship Id="rId3" Type="http://schemas.openxmlformats.org/officeDocument/2006/relationships/image" Target="../media/image75.png"/><Relationship Id="rId12" Type="http://schemas.openxmlformats.org/officeDocument/2006/relationships/image" Target="../media/image84.png"/><Relationship Id="rId17" Type="http://schemas.openxmlformats.org/officeDocument/2006/relationships/image" Target="../media/image87.png"/><Relationship Id="rId25" Type="http://schemas.openxmlformats.org/officeDocument/2006/relationships/image" Target="../media/image95.png"/><Relationship Id="rId33" Type="http://schemas.openxmlformats.org/officeDocument/2006/relationships/image" Target="../media/image103.png"/><Relationship Id="rId38" Type="http://schemas.openxmlformats.org/officeDocument/2006/relationships/image" Target="../media/image108.png"/><Relationship Id="rId46" Type="http://schemas.openxmlformats.org/officeDocument/2006/relationships/image" Target="../media/image115.png"/><Relationship Id="rId59" Type="http://schemas.openxmlformats.org/officeDocument/2006/relationships/image" Target="../media/image128.png"/><Relationship Id="rId67" Type="http://schemas.openxmlformats.org/officeDocument/2006/relationships/image" Target="../media/image135.png"/><Relationship Id="rId20" Type="http://schemas.openxmlformats.org/officeDocument/2006/relationships/image" Target="../media/image90.png"/><Relationship Id="rId41" Type="http://schemas.openxmlformats.org/officeDocument/2006/relationships/image" Target="../media/image111.png"/><Relationship Id="rId54" Type="http://schemas.openxmlformats.org/officeDocument/2006/relationships/image" Target="../media/image123.png"/><Relationship Id="rId62" Type="http://schemas.openxmlformats.org/officeDocument/2006/relationships/image" Target="../media/image131.png"/><Relationship Id="rId70" Type="http://schemas.openxmlformats.org/officeDocument/2006/relationships/image" Target="../media/image13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jpeg"/><Relationship Id="rId2" Type="http://schemas.openxmlformats.org/officeDocument/2006/relationships/image" Target="../media/image146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jpeg"/><Relationship Id="rId2" Type="http://schemas.openxmlformats.org/officeDocument/2006/relationships/image" Target="../media/image14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jpeg"/><Relationship Id="rId2" Type="http://schemas.openxmlformats.org/officeDocument/2006/relationships/image" Target="../media/image148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jpeg"/><Relationship Id="rId2" Type="http://schemas.openxmlformats.org/officeDocument/2006/relationships/image" Target="../media/image15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deel_tc@hotmail.com" TargetMode="External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219200"/>
            <a:ext cx="7728915" cy="203132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/>
            </a:r>
            <a:b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/>
            </a:r>
            <a:b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/>
            </a:r>
            <a:br>
              <a:rPr 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b="1" dirty="0" smtClean="0"/>
              <a:t>INTRODUCTION TO STATISTICS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4644" y="870661"/>
            <a:ext cx="488035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What </a:t>
            </a:r>
            <a:r>
              <a:rPr spc="-140" dirty="0"/>
              <a:t>is</a:t>
            </a:r>
            <a:r>
              <a:rPr spc="-400" dirty="0"/>
              <a:t> </a:t>
            </a:r>
            <a:r>
              <a:rPr spc="-145" dirty="0"/>
              <a:t>Statistics?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869" y="2013822"/>
            <a:ext cx="4656455" cy="2158411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800" b="1" spc="-150" dirty="0">
                <a:solidFill>
                  <a:srgbClr val="EC7C30"/>
                </a:solidFill>
                <a:latin typeface="Trebuchet MS"/>
                <a:cs typeface="Trebuchet MS"/>
              </a:rPr>
              <a:t>Statistics</a:t>
            </a:r>
            <a:endParaRPr sz="2800">
              <a:latin typeface="Trebuchet MS"/>
              <a:cs typeface="Trebuchet MS"/>
            </a:endParaRPr>
          </a:p>
          <a:p>
            <a:pPr marL="12700" marR="5080">
              <a:lnSpc>
                <a:spcPct val="90000"/>
              </a:lnSpc>
              <a:spcBef>
                <a:spcPts val="805"/>
              </a:spcBef>
            </a:pPr>
            <a:r>
              <a:rPr lang="en-US" sz="2800" spc="-95" dirty="0" smtClean="0">
                <a:latin typeface="Arial"/>
                <a:cs typeface="Arial"/>
              </a:rPr>
              <a:t>It</a:t>
            </a:r>
            <a:r>
              <a:rPr sz="2800" spc="-105" smtClean="0">
                <a:latin typeface="Arial"/>
                <a:cs typeface="Arial"/>
              </a:rPr>
              <a:t> </a:t>
            </a:r>
            <a:r>
              <a:rPr sz="2800" spc="-160" smtClean="0">
                <a:latin typeface="Arial"/>
                <a:cs typeface="Arial"/>
              </a:rPr>
              <a:t>deals  </a:t>
            </a:r>
            <a:r>
              <a:rPr sz="2800" spc="15">
                <a:latin typeface="Arial"/>
                <a:cs typeface="Arial"/>
              </a:rPr>
              <a:t>with </a:t>
            </a:r>
            <a:r>
              <a:rPr sz="2800" spc="-70" smtClean="0">
                <a:latin typeface="Arial"/>
                <a:cs typeface="Arial"/>
              </a:rPr>
              <a:t>collection</a:t>
            </a:r>
            <a:r>
              <a:rPr sz="2800" spc="-105" smtClean="0">
                <a:latin typeface="Arial"/>
                <a:cs typeface="Arial"/>
              </a:rPr>
              <a:t>,  </a:t>
            </a:r>
            <a:r>
              <a:rPr sz="2800" spc="-85" dirty="0">
                <a:latin typeface="Arial"/>
                <a:cs typeface="Arial"/>
              </a:rPr>
              <a:t>presentation, </a:t>
            </a:r>
            <a:r>
              <a:rPr sz="2800" spc="-155" dirty="0">
                <a:latin typeface="Arial"/>
                <a:cs typeface="Arial"/>
              </a:rPr>
              <a:t>analysis, </a:t>
            </a:r>
            <a:r>
              <a:rPr sz="2800" spc="-135" dirty="0">
                <a:latin typeface="Arial"/>
                <a:cs typeface="Arial"/>
              </a:rPr>
              <a:t>and  </a:t>
            </a:r>
            <a:r>
              <a:rPr sz="2800" spc="-35" dirty="0">
                <a:latin typeface="Arial"/>
                <a:cs typeface="Arial"/>
              </a:rPr>
              <a:t>interpretation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100" dirty="0">
                <a:latin typeface="Arial"/>
                <a:cs typeface="Arial"/>
              </a:rPr>
              <a:t>numerical</a:t>
            </a:r>
            <a:r>
              <a:rPr sz="2800" spc="-40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data  </a:t>
            </a:r>
            <a:r>
              <a:rPr sz="2800" spc="-35" dirty="0">
                <a:latin typeface="Arial"/>
                <a:cs typeface="Arial"/>
              </a:rPr>
              <a:t>in </a:t>
            </a:r>
            <a:r>
              <a:rPr sz="2800" spc="-65" dirty="0">
                <a:latin typeface="Arial"/>
                <a:cs typeface="Arial"/>
              </a:rPr>
              <a:t>order </a:t>
            </a:r>
            <a:r>
              <a:rPr sz="2800" spc="25" dirty="0">
                <a:latin typeface="Arial"/>
                <a:cs typeface="Arial"/>
              </a:rPr>
              <a:t>to </a:t>
            </a:r>
            <a:r>
              <a:rPr sz="2800" spc="-175" dirty="0">
                <a:latin typeface="Arial"/>
                <a:cs typeface="Arial"/>
              </a:rPr>
              <a:t>make</a:t>
            </a:r>
            <a:r>
              <a:rPr sz="2800" spc="-535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decisions.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91200" y="2133600"/>
            <a:ext cx="2449068" cy="16113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313039" y="6400431"/>
            <a:ext cx="1358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30"/>
              </a:lnSpc>
            </a:pPr>
            <a:r>
              <a:rPr sz="1200" dirty="0">
                <a:solidFill>
                  <a:srgbClr val="FDFDFD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04800"/>
            <a:ext cx="2667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180" smtClean="0"/>
              <a:t>Data</a:t>
            </a:r>
            <a:r>
              <a:rPr spc="-310" smtClean="0"/>
              <a:t> </a:t>
            </a:r>
            <a:r>
              <a:rPr spc="-145" dirty="0"/>
              <a:t>Sets</a:t>
            </a:r>
          </a:p>
        </p:txBody>
      </p:sp>
      <p:sp>
        <p:nvSpPr>
          <p:cNvPr id="3" name="object 3"/>
          <p:cNvSpPr/>
          <p:nvPr/>
        </p:nvSpPr>
        <p:spPr>
          <a:xfrm>
            <a:off x="7924800" y="2763011"/>
            <a:ext cx="150495" cy="2411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871459" y="2468879"/>
            <a:ext cx="74295" cy="2335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78723" y="2461260"/>
            <a:ext cx="65150" cy="2183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68411" y="2212848"/>
            <a:ext cx="281559" cy="5566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30895" y="2197607"/>
            <a:ext cx="170306" cy="918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76616" y="2324100"/>
            <a:ext cx="64135" cy="22225"/>
          </a:xfrm>
          <a:custGeom>
            <a:avLst/>
            <a:gdLst/>
            <a:ahLst/>
            <a:cxnLst/>
            <a:rect l="l" t="t" r="r" b="b"/>
            <a:pathLst>
              <a:path w="64134" h="22225">
                <a:moveTo>
                  <a:pt x="0" y="1142"/>
                </a:moveTo>
                <a:lnTo>
                  <a:pt x="13080" y="21716"/>
                </a:lnTo>
                <a:lnTo>
                  <a:pt x="31876" y="0"/>
                </a:lnTo>
                <a:lnTo>
                  <a:pt x="50545" y="21716"/>
                </a:lnTo>
                <a:lnTo>
                  <a:pt x="63626" y="2412"/>
                </a:lnTo>
                <a:lnTo>
                  <a:pt x="0" y="1142"/>
                </a:lnTo>
              </a:path>
            </a:pathLst>
          </a:custGeom>
          <a:ln w="12192">
            <a:solidFill>
              <a:srgbClr val="0000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013192" y="2330195"/>
            <a:ext cx="14858" cy="1725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13192" y="2330195"/>
            <a:ext cx="15240" cy="172720"/>
          </a:xfrm>
          <a:custGeom>
            <a:avLst/>
            <a:gdLst/>
            <a:ahLst/>
            <a:cxnLst/>
            <a:rect l="l" t="t" r="r" b="b"/>
            <a:pathLst>
              <a:path w="15240" h="172719">
                <a:moveTo>
                  <a:pt x="0" y="0"/>
                </a:moveTo>
                <a:lnTo>
                  <a:pt x="14858" y="71374"/>
                </a:lnTo>
                <a:lnTo>
                  <a:pt x="14858" y="172592"/>
                </a:lnTo>
                <a:lnTo>
                  <a:pt x="0" y="0"/>
                </a:lnTo>
              </a:path>
            </a:pathLst>
          </a:custGeom>
          <a:ln w="12192">
            <a:solidFill>
              <a:srgbClr val="0000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50707" y="2502407"/>
            <a:ext cx="121539" cy="95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950707" y="2502407"/>
            <a:ext cx="121920" cy="9525"/>
          </a:xfrm>
          <a:custGeom>
            <a:avLst/>
            <a:gdLst/>
            <a:ahLst/>
            <a:cxnLst/>
            <a:rect l="l" t="t" r="r" b="b"/>
            <a:pathLst>
              <a:path w="121920" h="9525">
                <a:moveTo>
                  <a:pt x="0" y="9525"/>
                </a:moveTo>
                <a:lnTo>
                  <a:pt x="65405" y="0"/>
                </a:lnTo>
                <a:lnTo>
                  <a:pt x="121539" y="3555"/>
                </a:lnTo>
                <a:lnTo>
                  <a:pt x="0" y="9525"/>
                </a:lnTo>
              </a:path>
            </a:pathLst>
          </a:custGeom>
          <a:ln w="12192">
            <a:solidFill>
              <a:srgbClr val="0000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17180" y="2962655"/>
            <a:ext cx="65150" cy="6438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008619" y="2956560"/>
            <a:ext cx="74295" cy="7048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693152" y="2612135"/>
            <a:ext cx="50038" cy="7950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84364" y="2606039"/>
            <a:ext cx="46862" cy="6438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644383" y="2939795"/>
            <a:ext cx="140335" cy="55244"/>
          </a:xfrm>
          <a:custGeom>
            <a:avLst/>
            <a:gdLst/>
            <a:ahLst/>
            <a:cxnLst/>
            <a:rect l="l" t="t" r="r" b="b"/>
            <a:pathLst>
              <a:path w="140334" h="55244">
                <a:moveTo>
                  <a:pt x="68961" y="0"/>
                </a:moveTo>
                <a:lnTo>
                  <a:pt x="1905" y="2412"/>
                </a:lnTo>
                <a:lnTo>
                  <a:pt x="0" y="27558"/>
                </a:lnTo>
                <a:lnTo>
                  <a:pt x="7493" y="32384"/>
                </a:lnTo>
                <a:lnTo>
                  <a:pt x="33527" y="34798"/>
                </a:lnTo>
                <a:lnTo>
                  <a:pt x="56007" y="43179"/>
                </a:lnTo>
                <a:lnTo>
                  <a:pt x="89535" y="52831"/>
                </a:lnTo>
                <a:lnTo>
                  <a:pt x="115570" y="55244"/>
                </a:lnTo>
                <a:lnTo>
                  <a:pt x="139826" y="50418"/>
                </a:lnTo>
                <a:lnTo>
                  <a:pt x="138049" y="43179"/>
                </a:lnTo>
                <a:lnTo>
                  <a:pt x="111887" y="29971"/>
                </a:lnTo>
                <a:lnTo>
                  <a:pt x="91440" y="14350"/>
                </a:lnTo>
                <a:lnTo>
                  <a:pt x="689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446264" y="2967227"/>
            <a:ext cx="86995" cy="62865"/>
          </a:xfrm>
          <a:custGeom>
            <a:avLst/>
            <a:gdLst/>
            <a:ahLst/>
            <a:cxnLst/>
            <a:rect l="l" t="t" r="r" b="b"/>
            <a:pathLst>
              <a:path w="86995" h="62864">
                <a:moveTo>
                  <a:pt x="38607" y="0"/>
                </a:moveTo>
                <a:lnTo>
                  <a:pt x="36829" y="6096"/>
                </a:lnTo>
                <a:lnTo>
                  <a:pt x="16509" y="22987"/>
                </a:lnTo>
                <a:lnTo>
                  <a:pt x="1777" y="38608"/>
                </a:lnTo>
                <a:lnTo>
                  <a:pt x="0" y="51943"/>
                </a:lnTo>
                <a:lnTo>
                  <a:pt x="7365" y="61595"/>
                </a:lnTo>
                <a:lnTo>
                  <a:pt x="20192" y="62737"/>
                </a:lnTo>
                <a:lnTo>
                  <a:pt x="34925" y="60325"/>
                </a:lnTo>
                <a:lnTo>
                  <a:pt x="51561" y="53086"/>
                </a:lnTo>
                <a:lnTo>
                  <a:pt x="71754" y="39877"/>
                </a:lnTo>
                <a:lnTo>
                  <a:pt x="73659" y="26543"/>
                </a:lnTo>
                <a:lnTo>
                  <a:pt x="86486" y="18161"/>
                </a:lnTo>
                <a:lnTo>
                  <a:pt x="84708" y="1270"/>
                </a:lnTo>
                <a:lnTo>
                  <a:pt x="386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392923" y="2229611"/>
            <a:ext cx="529971" cy="81724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510271" y="2231135"/>
            <a:ext cx="211835" cy="25450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71943" y="2101595"/>
            <a:ext cx="516254" cy="35242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085332" y="2132076"/>
            <a:ext cx="155066" cy="15278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59423" y="2648711"/>
            <a:ext cx="185547" cy="36614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271259" y="2557272"/>
            <a:ext cx="40766" cy="4292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58484" y="2651760"/>
            <a:ext cx="15240" cy="145415"/>
          </a:xfrm>
          <a:custGeom>
            <a:avLst/>
            <a:gdLst/>
            <a:ahLst/>
            <a:cxnLst/>
            <a:rect l="l" t="t" r="r" b="b"/>
            <a:pathLst>
              <a:path w="15239" h="145414">
                <a:moveTo>
                  <a:pt x="14858" y="0"/>
                </a:moveTo>
                <a:lnTo>
                  <a:pt x="14858" y="48767"/>
                </a:lnTo>
                <a:lnTo>
                  <a:pt x="11175" y="77342"/>
                </a:lnTo>
                <a:lnTo>
                  <a:pt x="7492" y="108203"/>
                </a:lnTo>
                <a:lnTo>
                  <a:pt x="0" y="137922"/>
                </a:lnTo>
                <a:lnTo>
                  <a:pt x="1904" y="145161"/>
                </a:lnTo>
                <a:lnTo>
                  <a:pt x="14858" y="0"/>
                </a:lnTo>
              </a:path>
            </a:pathLst>
          </a:custGeom>
          <a:ln w="12191">
            <a:solidFill>
              <a:srgbClr val="FF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021323" y="2266188"/>
            <a:ext cx="295275" cy="41173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082284" y="2455164"/>
            <a:ext cx="112395" cy="134620"/>
          </a:xfrm>
          <a:custGeom>
            <a:avLst/>
            <a:gdLst/>
            <a:ahLst/>
            <a:cxnLst/>
            <a:rect l="l" t="t" r="r" b="b"/>
            <a:pathLst>
              <a:path w="112395" h="134619">
                <a:moveTo>
                  <a:pt x="0" y="134493"/>
                </a:moveTo>
                <a:lnTo>
                  <a:pt x="110489" y="127253"/>
                </a:lnTo>
                <a:lnTo>
                  <a:pt x="112394" y="0"/>
                </a:lnTo>
              </a:path>
            </a:pathLst>
          </a:custGeom>
          <a:ln w="12192">
            <a:solidFill>
              <a:srgbClr val="9F3E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067044" y="2471927"/>
            <a:ext cx="126364" cy="34290"/>
          </a:xfrm>
          <a:custGeom>
            <a:avLst/>
            <a:gdLst/>
            <a:ahLst/>
            <a:cxnLst/>
            <a:rect l="l" t="t" r="r" b="b"/>
            <a:pathLst>
              <a:path w="126364" h="34289">
                <a:moveTo>
                  <a:pt x="0" y="33782"/>
                </a:moveTo>
                <a:lnTo>
                  <a:pt x="44576" y="24130"/>
                </a:lnTo>
                <a:lnTo>
                  <a:pt x="126110" y="0"/>
                </a:lnTo>
              </a:path>
            </a:pathLst>
          </a:custGeom>
          <a:ln w="12192">
            <a:solidFill>
              <a:srgbClr val="9F3E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001511" y="2345435"/>
            <a:ext cx="241935" cy="30975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577583" y="2145792"/>
            <a:ext cx="118491" cy="12687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556247" y="2139695"/>
            <a:ext cx="155067" cy="8572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541007" y="2697479"/>
            <a:ext cx="165735" cy="267081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95288" y="2403348"/>
            <a:ext cx="74294" cy="23507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492240" y="2258567"/>
            <a:ext cx="281559" cy="46215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492240" y="2258567"/>
            <a:ext cx="281940" cy="462280"/>
          </a:xfrm>
          <a:custGeom>
            <a:avLst/>
            <a:gdLst/>
            <a:ahLst/>
            <a:cxnLst/>
            <a:rect l="l" t="t" r="r" b="b"/>
            <a:pathLst>
              <a:path w="281940" h="462280">
                <a:moveTo>
                  <a:pt x="111125" y="0"/>
                </a:moveTo>
                <a:lnTo>
                  <a:pt x="44450" y="24003"/>
                </a:lnTo>
                <a:lnTo>
                  <a:pt x="35179" y="31115"/>
                </a:lnTo>
                <a:lnTo>
                  <a:pt x="0" y="146050"/>
                </a:lnTo>
                <a:lnTo>
                  <a:pt x="53720" y="150876"/>
                </a:lnTo>
                <a:lnTo>
                  <a:pt x="61087" y="122047"/>
                </a:lnTo>
                <a:lnTo>
                  <a:pt x="81534" y="181991"/>
                </a:lnTo>
                <a:lnTo>
                  <a:pt x="46355" y="259842"/>
                </a:lnTo>
                <a:lnTo>
                  <a:pt x="46355" y="316103"/>
                </a:lnTo>
                <a:lnTo>
                  <a:pt x="53720" y="355600"/>
                </a:lnTo>
                <a:lnTo>
                  <a:pt x="70358" y="411861"/>
                </a:lnTo>
                <a:lnTo>
                  <a:pt x="87121" y="454914"/>
                </a:lnTo>
                <a:lnTo>
                  <a:pt x="138937" y="462153"/>
                </a:lnTo>
                <a:lnTo>
                  <a:pt x="144526" y="454914"/>
                </a:lnTo>
                <a:lnTo>
                  <a:pt x="194563" y="453771"/>
                </a:lnTo>
                <a:lnTo>
                  <a:pt x="211201" y="399796"/>
                </a:lnTo>
                <a:lnTo>
                  <a:pt x="226060" y="329184"/>
                </a:lnTo>
                <a:lnTo>
                  <a:pt x="239013" y="257429"/>
                </a:lnTo>
                <a:lnTo>
                  <a:pt x="207517" y="176022"/>
                </a:lnTo>
                <a:lnTo>
                  <a:pt x="218566" y="130429"/>
                </a:lnTo>
                <a:lnTo>
                  <a:pt x="226060" y="147193"/>
                </a:lnTo>
                <a:lnTo>
                  <a:pt x="281559" y="137668"/>
                </a:lnTo>
                <a:lnTo>
                  <a:pt x="239013" y="29972"/>
                </a:lnTo>
                <a:lnTo>
                  <a:pt x="166751" y="0"/>
                </a:lnTo>
                <a:lnTo>
                  <a:pt x="164845" y="3556"/>
                </a:lnTo>
                <a:lnTo>
                  <a:pt x="155575" y="7239"/>
                </a:lnTo>
                <a:lnTo>
                  <a:pt x="148209" y="8382"/>
                </a:lnTo>
                <a:lnTo>
                  <a:pt x="140842" y="8382"/>
                </a:lnTo>
                <a:lnTo>
                  <a:pt x="131571" y="8382"/>
                </a:lnTo>
                <a:lnTo>
                  <a:pt x="124079" y="7239"/>
                </a:lnTo>
                <a:lnTo>
                  <a:pt x="114808" y="3556"/>
                </a:lnTo>
                <a:lnTo>
                  <a:pt x="111125" y="0"/>
                </a:lnTo>
              </a:path>
            </a:pathLst>
          </a:custGeom>
          <a:ln w="12192">
            <a:solidFill>
              <a:srgbClr val="FF1F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742176" y="2119883"/>
            <a:ext cx="156591" cy="21374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717792" y="2638044"/>
            <a:ext cx="184023" cy="366140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928104" y="2546604"/>
            <a:ext cx="40767" cy="4292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816852" y="2641092"/>
            <a:ext cx="15240" cy="145415"/>
          </a:xfrm>
          <a:custGeom>
            <a:avLst/>
            <a:gdLst/>
            <a:ahLst/>
            <a:cxnLst/>
            <a:rect l="l" t="t" r="r" b="b"/>
            <a:pathLst>
              <a:path w="15240" h="145414">
                <a:moveTo>
                  <a:pt x="14858" y="0"/>
                </a:moveTo>
                <a:lnTo>
                  <a:pt x="14858" y="48006"/>
                </a:lnTo>
                <a:lnTo>
                  <a:pt x="11175" y="76708"/>
                </a:lnTo>
                <a:lnTo>
                  <a:pt x="7493" y="107950"/>
                </a:lnTo>
                <a:lnTo>
                  <a:pt x="0" y="137922"/>
                </a:lnTo>
                <a:lnTo>
                  <a:pt x="1904" y="145161"/>
                </a:lnTo>
                <a:lnTo>
                  <a:pt x="14858" y="0"/>
                </a:lnTo>
              </a:path>
            </a:pathLst>
          </a:custGeom>
          <a:ln w="12191">
            <a:solidFill>
              <a:srgbClr val="FF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679692" y="2267711"/>
            <a:ext cx="295275" cy="640461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740652" y="2444495"/>
            <a:ext cx="111125" cy="134620"/>
          </a:xfrm>
          <a:custGeom>
            <a:avLst/>
            <a:gdLst/>
            <a:ahLst/>
            <a:cxnLst/>
            <a:rect l="l" t="t" r="r" b="b"/>
            <a:pathLst>
              <a:path w="111125" h="134619">
                <a:moveTo>
                  <a:pt x="0" y="134492"/>
                </a:moveTo>
                <a:lnTo>
                  <a:pt x="107188" y="127253"/>
                </a:lnTo>
                <a:lnTo>
                  <a:pt x="110871" y="0"/>
                </a:lnTo>
              </a:path>
            </a:pathLst>
          </a:custGeom>
          <a:ln w="12192">
            <a:solidFill>
              <a:srgbClr val="5F3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723888" y="2461260"/>
            <a:ext cx="126364" cy="34290"/>
          </a:xfrm>
          <a:custGeom>
            <a:avLst/>
            <a:gdLst/>
            <a:ahLst/>
            <a:cxnLst/>
            <a:rect l="l" t="t" r="r" b="b"/>
            <a:pathLst>
              <a:path w="126365" h="34289">
                <a:moveTo>
                  <a:pt x="0" y="33781"/>
                </a:moveTo>
                <a:lnTo>
                  <a:pt x="44576" y="24129"/>
                </a:lnTo>
                <a:lnTo>
                  <a:pt x="126110" y="0"/>
                </a:lnTo>
              </a:path>
            </a:pathLst>
          </a:custGeom>
          <a:ln w="12192">
            <a:solidFill>
              <a:srgbClr val="5F3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717792" y="2334767"/>
            <a:ext cx="182499" cy="157353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812280" y="2599944"/>
            <a:ext cx="17780" cy="232410"/>
          </a:xfrm>
          <a:custGeom>
            <a:avLst/>
            <a:gdLst/>
            <a:ahLst/>
            <a:cxnLst/>
            <a:rect l="l" t="t" r="r" b="b"/>
            <a:pathLst>
              <a:path w="17779" h="232410">
                <a:moveTo>
                  <a:pt x="17779" y="0"/>
                </a:moveTo>
                <a:lnTo>
                  <a:pt x="11938" y="124332"/>
                </a:lnTo>
                <a:lnTo>
                  <a:pt x="0" y="232028"/>
                </a:lnTo>
              </a:path>
            </a:pathLst>
          </a:custGeom>
          <a:ln w="12192">
            <a:solidFill>
              <a:srgbClr val="5F3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313676" y="2345435"/>
            <a:ext cx="224154" cy="47625"/>
          </a:xfrm>
          <a:custGeom>
            <a:avLst/>
            <a:gdLst/>
            <a:ahLst/>
            <a:cxnLst/>
            <a:rect l="l" t="t" r="r" b="b"/>
            <a:pathLst>
              <a:path w="224154" h="47625">
                <a:moveTo>
                  <a:pt x="171450" y="0"/>
                </a:moveTo>
                <a:lnTo>
                  <a:pt x="18669" y="29210"/>
                </a:lnTo>
                <a:lnTo>
                  <a:pt x="0" y="34162"/>
                </a:lnTo>
                <a:lnTo>
                  <a:pt x="37338" y="47498"/>
                </a:lnTo>
                <a:lnTo>
                  <a:pt x="223647" y="3683"/>
                </a:lnTo>
                <a:lnTo>
                  <a:pt x="171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414259" y="2348483"/>
            <a:ext cx="124587" cy="5219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252716" y="2331720"/>
            <a:ext cx="100202" cy="72008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301483" y="2093976"/>
            <a:ext cx="141350" cy="79628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181088" y="2872739"/>
            <a:ext cx="170306" cy="64262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249668" y="2452116"/>
            <a:ext cx="263525" cy="443865"/>
          </a:xfrm>
          <a:custGeom>
            <a:avLst/>
            <a:gdLst/>
            <a:ahLst/>
            <a:cxnLst/>
            <a:rect l="l" t="t" r="r" b="b"/>
            <a:pathLst>
              <a:path w="263525" h="443864">
                <a:moveTo>
                  <a:pt x="252458" y="121666"/>
                </a:moveTo>
                <a:lnTo>
                  <a:pt x="127888" y="121666"/>
                </a:lnTo>
                <a:lnTo>
                  <a:pt x="135381" y="245745"/>
                </a:lnTo>
                <a:lnTo>
                  <a:pt x="144652" y="429513"/>
                </a:lnTo>
                <a:lnTo>
                  <a:pt x="211454" y="443864"/>
                </a:lnTo>
                <a:lnTo>
                  <a:pt x="224408" y="433070"/>
                </a:lnTo>
                <a:lnTo>
                  <a:pt x="241046" y="270763"/>
                </a:lnTo>
                <a:lnTo>
                  <a:pt x="244728" y="193294"/>
                </a:lnTo>
                <a:lnTo>
                  <a:pt x="252458" y="121666"/>
                </a:lnTo>
                <a:close/>
              </a:path>
              <a:path w="263525" h="443864">
                <a:moveTo>
                  <a:pt x="7365" y="0"/>
                </a:moveTo>
                <a:lnTo>
                  <a:pt x="0" y="39370"/>
                </a:lnTo>
                <a:lnTo>
                  <a:pt x="0" y="171831"/>
                </a:lnTo>
                <a:lnTo>
                  <a:pt x="7365" y="213613"/>
                </a:lnTo>
                <a:lnTo>
                  <a:pt x="7365" y="231394"/>
                </a:lnTo>
                <a:lnTo>
                  <a:pt x="1904" y="299466"/>
                </a:lnTo>
                <a:lnTo>
                  <a:pt x="5587" y="348361"/>
                </a:lnTo>
                <a:lnTo>
                  <a:pt x="11175" y="415163"/>
                </a:lnTo>
                <a:lnTo>
                  <a:pt x="11175" y="433070"/>
                </a:lnTo>
                <a:lnTo>
                  <a:pt x="27812" y="441451"/>
                </a:lnTo>
                <a:lnTo>
                  <a:pt x="94614" y="430657"/>
                </a:lnTo>
                <a:lnTo>
                  <a:pt x="114934" y="288671"/>
                </a:lnTo>
                <a:lnTo>
                  <a:pt x="120523" y="199262"/>
                </a:lnTo>
                <a:lnTo>
                  <a:pt x="127888" y="121666"/>
                </a:lnTo>
                <a:lnTo>
                  <a:pt x="252458" y="121666"/>
                </a:lnTo>
                <a:lnTo>
                  <a:pt x="263271" y="21462"/>
                </a:lnTo>
                <a:lnTo>
                  <a:pt x="257809" y="2412"/>
                </a:lnTo>
                <a:lnTo>
                  <a:pt x="73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792723" y="2442972"/>
            <a:ext cx="74295" cy="23507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789676" y="2298192"/>
            <a:ext cx="281559" cy="355473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789676" y="2298192"/>
            <a:ext cx="281940" cy="355600"/>
          </a:xfrm>
          <a:custGeom>
            <a:avLst/>
            <a:gdLst/>
            <a:ahLst/>
            <a:cxnLst/>
            <a:rect l="l" t="t" r="r" b="b"/>
            <a:pathLst>
              <a:path w="281939" h="355600">
                <a:moveTo>
                  <a:pt x="114808" y="0"/>
                </a:moveTo>
                <a:lnTo>
                  <a:pt x="44450" y="23875"/>
                </a:lnTo>
                <a:lnTo>
                  <a:pt x="37084" y="32258"/>
                </a:lnTo>
                <a:lnTo>
                  <a:pt x="0" y="146050"/>
                </a:lnTo>
                <a:lnTo>
                  <a:pt x="5587" y="266827"/>
                </a:lnTo>
                <a:lnTo>
                  <a:pt x="50037" y="257302"/>
                </a:lnTo>
                <a:lnTo>
                  <a:pt x="53721" y="150749"/>
                </a:lnTo>
                <a:lnTo>
                  <a:pt x="61087" y="122047"/>
                </a:lnTo>
                <a:lnTo>
                  <a:pt x="62991" y="184277"/>
                </a:lnTo>
                <a:lnTo>
                  <a:pt x="50037" y="293243"/>
                </a:lnTo>
                <a:lnTo>
                  <a:pt x="70358" y="293243"/>
                </a:lnTo>
                <a:lnTo>
                  <a:pt x="68579" y="330327"/>
                </a:lnTo>
                <a:lnTo>
                  <a:pt x="70358" y="351790"/>
                </a:lnTo>
                <a:lnTo>
                  <a:pt x="144525" y="355473"/>
                </a:lnTo>
                <a:lnTo>
                  <a:pt x="201929" y="347091"/>
                </a:lnTo>
                <a:lnTo>
                  <a:pt x="237109" y="345821"/>
                </a:lnTo>
                <a:lnTo>
                  <a:pt x="233425" y="286004"/>
                </a:lnTo>
                <a:lnTo>
                  <a:pt x="237109" y="257302"/>
                </a:lnTo>
                <a:lnTo>
                  <a:pt x="220472" y="174752"/>
                </a:lnTo>
                <a:lnTo>
                  <a:pt x="218566" y="130429"/>
                </a:lnTo>
                <a:lnTo>
                  <a:pt x="226060" y="147193"/>
                </a:lnTo>
                <a:lnTo>
                  <a:pt x="233425" y="242950"/>
                </a:lnTo>
                <a:lnTo>
                  <a:pt x="268604" y="248920"/>
                </a:lnTo>
                <a:lnTo>
                  <a:pt x="281559" y="137668"/>
                </a:lnTo>
                <a:lnTo>
                  <a:pt x="239013" y="31115"/>
                </a:lnTo>
                <a:lnTo>
                  <a:pt x="168656" y="0"/>
                </a:lnTo>
                <a:lnTo>
                  <a:pt x="114808" y="0"/>
                </a:lnTo>
              </a:path>
            </a:pathLst>
          </a:custGeom>
          <a:ln w="12192">
            <a:solidFill>
              <a:srgbClr val="9FBE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847588" y="2642616"/>
            <a:ext cx="162687" cy="335661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867400" y="2293620"/>
            <a:ext cx="132207" cy="20154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839967" y="2936748"/>
            <a:ext cx="65151" cy="65912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932932" y="2930651"/>
            <a:ext cx="72770" cy="72009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859779" y="2179320"/>
            <a:ext cx="155067" cy="12077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911340" y="2932176"/>
            <a:ext cx="123189" cy="60325"/>
          </a:xfrm>
          <a:custGeom>
            <a:avLst/>
            <a:gdLst/>
            <a:ahLst/>
            <a:cxnLst/>
            <a:rect l="l" t="t" r="r" b="b"/>
            <a:pathLst>
              <a:path w="123190" h="60325">
                <a:moveTo>
                  <a:pt x="117475" y="0"/>
                </a:moveTo>
                <a:lnTo>
                  <a:pt x="83946" y="10795"/>
                </a:lnTo>
                <a:lnTo>
                  <a:pt x="46608" y="11937"/>
                </a:lnTo>
                <a:lnTo>
                  <a:pt x="18668" y="28701"/>
                </a:lnTo>
                <a:lnTo>
                  <a:pt x="0" y="44196"/>
                </a:lnTo>
                <a:lnTo>
                  <a:pt x="1904" y="54990"/>
                </a:lnTo>
                <a:lnTo>
                  <a:pt x="14858" y="59816"/>
                </a:lnTo>
                <a:lnTo>
                  <a:pt x="54101" y="58547"/>
                </a:lnTo>
                <a:lnTo>
                  <a:pt x="76453" y="51435"/>
                </a:lnTo>
                <a:lnTo>
                  <a:pt x="87629" y="39497"/>
                </a:lnTo>
                <a:lnTo>
                  <a:pt x="121284" y="29845"/>
                </a:lnTo>
                <a:lnTo>
                  <a:pt x="123062" y="14350"/>
                </a:lnTo>
                <a:lnTo>
                  <a:pt x="117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164323" y="2915411"/>
            <a:ext cx="137160" cy="61594"/>
          </a:xfrm>
          <a:custGeom>
            <a:avLst/>
            <a:gdLst/>
            <a:ahLst/>
            <a:cxnLst/>
            <a:rect l="l" t="t" r="r" b="b"/>
            <a:pathLst>
              <a:path w="137159" h="61594">
                <a:moveTo>
                  <a:pt x="57276" y="0"/>
                </a:moveTo>
                <a:lnTo>
                  <a:pt x="1904" y="3555"/>
                </a:lnTo>
                <a:lnTo>
                  <a:pt x="0" y="28321"/>
                </a:lnTo>
                <a:lnTo>
                  <a:pt x="18542" y="37718"/>
                </a:lnTo>
                <a:lnTo>
                  <a:pt x="36956" y="41275"/>
                </a:lnTo>
                <a:lnTo>
                  <a:pt x="72135" y="54228"/>
                </a:lnTo>
                <a:lnTo>
                  <a:pt x="110998" y="61340"/>
                </a:lnTo>
                <a:lnTo>
                  <a:pt x="125729" y="58927"/>
                </a:lnTo>
                <a:lnTo>
                  <a:pt x="136778" y="55372"/>
                </a:lnTo>
                <a:lnTo>
                  <a:pt x="136778" y="49529"/>
                </a:lnTo>
                <a:lnTo>
                  <a:pt x="122047" y="35305"/>
                </a:lnTo>
                <a:lnTo>
                  <a:pt x="90550" y="21209"/>
                </a:lnTo>
                <a:lnTo>
                  <a:pt x="66548" y="8254"/>
                </a:lnTo>
                <a:lnTo>
                  <a:pt x="572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952488" y="2252472"/>
            <a:ext cx="278510" cy="224408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069835" y="2278379"/>
            <a:ext cx="69850" cy="23495"/>
          </a:xfrm>
          <a:custGeom>
            <a:avLst/>
            <a:gdLst/>
            <a:ahLst/>
            <a:cxnLst/>
            <a:rect l="l" t="t" r="r" b="b"/>
            <a:pathLst>
              <a:path w="69850" h="23494">
                <a:moveTo>
                  <a:pt x="0" y="23241"/>
                </a:moveTo>
                <a:lnTo>
                  <a:pt x="38608" y="0"/>
                </a:lnTo>
                <a:lnTo>
                  <a:pt x="69850" y="1854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896100" y="2144267"/>
            <a:ext cx="440054" cy="806577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220967" y="2936748"/>
            <a:ext cx="138430" cy="55244"/>
          </a:xfrm>
          <a:custGeom>
            <a:avLst/>
            <a:gdLst/>
            <a:ahLst/>
            <a:cxnLst/>
            <a:rect l="l" t="t" r="r" b="b"/>
            <a:pathLst>
              <a:path w="138429" h="55244">
                <a:moveTo>
                  <a:pt x="70104" y="0"/>
                </a:moveTo>
                <a:lnTo>
                  <a:pt x="48006" y="14350"/>
                </a:lnTo>
                <a:lnTo>
                  <a:pt x="27686" y="29972"/>
                </a:lnTo>
                <a:lnTo>
                  <a:pt x="1905" y="43179"/>
                </a:lnTo>
                <a:lnTo>
                  <a:pt x="0" y="50418"/>
                </a:lnTo>
                <a:lnTo>
                  <a:pt x="24003" y="55244"/>
                </a:lnTo>
                <a:lnTo>
                  <a:pt x="49784" y="52831"/>
                </a:lnTo>
                <a:lnTo>
                  <a:pt x="83058" y="43179"/>
                </a:lnTo>
                <a:lnTo>
                  <a:pt x="105156" y="34798"/>
                </a:lnTo>
                <a:lnTo>
                  <a:pt x="130937" y="32385"/>
                </a:lnTo>
                <a:lnTo>
                  <a:pt x="138303" y="28828"/>
                </a:lnTo>
                <a:lnTo>
                  <a:pt x="136525" y="2412"/>
                </a:lnTo>
                <a:lnTo>
                  <a:pt x="701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470903" y="2965704"/>
            <a:ext cx="88265" cy="61594"/>
          </a:xfrm>
          <a:custGeom>
            <a:avLst/>
            <a:gdLst/>
            <a:ahLst/>
            <a:cxnLst/>
            <a:rect l="l" t="t" r="r" b="b"/>
            <a:pathLst>
              <a:path w="88265" h="61594">
                <a:moveTo>
                  <a:pt x="48641" y="0"/>
                </a:moveTo>
                <a:lnTo>
                  <a:pt x="0" y="1143"/>
                </a:lnTo>
                <a:lnTo>
                  <a:pt x="0" y="16763"/>
                </a:lnTo>
                <a:lnTo>
                  <a:pt x="11175" y="25273"/>
                </a:lnTo>
                <a:lnTo>
                  <a:pt x="14986" y="38481"/>
                </a:lnTo>
                <a:lnTo>
                  <a:pt x="33654" y="51688"/>
                </a:lnTo>
                <a:lnTo>
                  <a:pt x="50546" y="58928"/>
                </a:lnTo>
                <a:lnTo>
                  <a:pt x="65531" y="61341"/>
                </a:lnTo>
                <a:lnTo>
                  <a:pt x="80518" y="60071"/>
                </a:lnTo>
                <a:lnTo>
                  <a:pt x="88011" y="50419"/>
                </a:lnTo>
                <a:lnTo>
                  <a:pt x="86105" y="37211"/>
                </a:lnTo>
                <a:lnTo>
                  <a:pt x="71120" y="21590"/>
                </a:lnTo>
                <a:lnTo>
                  <a:pt x="48641" y="4825"/>
                </a:lnTo>
                <a:lnTo>
                  <a:pt x="486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254496" y="2226564"/>
            <a:ext cx="308990" cy="739521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286500" y="2228088"/>
            <a:ext cx="211836" cy="252984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320028" y="2118360"/>
            <a:ext cx="121538" cy="128397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316979" y="2110739"/>
            <a:ext cx="130683" cy="93345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741919" y="2164079"/>
            <a:ext cx="155066" cy="119253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752588" y="2185416"/>
            <a:ext cx="127634" cy="190881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810500" y="2683764"/>
            <a:ext cx="15240" cy="145415"/>
          </a:xfrm>
          <a:custGeom>
            <a:avLst/>
            <a:gdLst/>
            <a:ahLst/>
            <a:cxnLst/>
            <a:rect l="l" t="t" r="r" b="b"/>
            <a:pathLst>
              <a:path w="15240" h="145414">
                <a:moveTo>
                  <a:pt x="0" y="0"/>
                </a:moveTo>
                <a:lnTo>
                  <a:pt x="0" y="47625"/>
                </a:lnTo>
                <a:lnTo>
                  <a:pt x="1904" y="76073"/>
                </a:lnTo>
                <a:lnTo>
                  <a:pt x="5588" y="107061"/>
                </a:lnTo>
                <a:lnTo>
                  <a:pt x="14858" y="137922"/>
                </a:lnTo>
                <a:lnTo>
                  <a:pt x="13080" y="145161"/>
                </a:lnTo>
                <a:lnTo>
                  <a:pt x="0" y="0"/>
                </a:lnTo>
              </a:path>
            </a:pathLst>
          </a:custGeom>
          <a:ln w="12191">
            <a:solidFill>
              <a:srgbClr val="FF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665719" y="2310383"/>
            <a:ext cx="295275" cy="640461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787640" y="2487167"/>
            <a:ext cx="111125" cy="134620"/>
          </a:xfrm>
          <a:custGeom>
            <a:avLst/>
            <a:gdLst/>
            <a:ahLst/>
            <a:cxnLst/>
            <a:rect l="l" t="t" r="r" b="b"/>
            <a:pathLst>
              <a:path w="111125" h="134619">
                <a:moveTo>
                  <a:pt x="110870" y="134493"/>
                </a:moveTo>
                <a:lnTo>
                  <a:pt x="1904" y="127254"/>
                </a:lnTo>
                <a:lnTo>
                  <a:pt x="0" y="0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7789164" y="2502407"/>
            <a:ext cx="126364" cy="35560"/>
          </a:xfrm>
          <a:custGeom>
            <a:avLst/>
            <a:gdLst/>
            <a:ahLst/>
            <a:cxnLst/>
            <a:rect l="l" t="t" r="r" b="b"/>
            <a:pathLst>
              <a:path w="126365" h="35560">
                <a:moveTo>
                  <a:pt x="126110" y="35305"/>
                </a:moveTo>
                <a:lnTo>
                  <a:pt x="81660" y="25653"/>
                </a:lnTo>
                <a:lnTo>
                  <a:pt x="0" y="0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810500" y="2642616"/>
            <a:ext cx="16510" cy="232410"/>
          </a:xfrm>
          <a:custGeom>
            <a:avLst/>
            <a:gdLst/>
            <a:ahLst/>
            <a:cxnLst/>
            <a:rect l="l" t="t" r="r" b="b"/>
            <a:pathLst>
              <a:path w="16509" h="232410">
                <a:moveTo>
                  <a:pt x="0" y="0"/>
                </a:moveTo>
                <a:lnTo>
                  <a:pt x="5460" y="124333"/>
                </a:lnTo>
                <a:lnTo>
                  <a:pt x="16509" y="232029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765454" y="914400"/>
            <a:ext cx="4797146" cy="456471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EC7C30"/>
                </a:solidFill>
                <a:latin typeface="Times New Roman"/>
                <a:cs typeface="Times New Roman"/>
              </a:rPr>
              <a:t>Population</a:t>
            </a:r>
            <a:endParaRPr sz="2800">
              <a:latin typeface="Times New Roman"/>
              <a:cs typeface="Times New Roman"/>
            </a:endParaRPr>
          </a:p>
          <a:p>
            <a:pPr marL="133985" marR="5080">
              <a:lnSpc>
                <a:spcPct val="100000"/>
              </a:lnSpc>
            </a:pPr>
            <a:r>
              <a:rPr lang="en-US" altLang="en-US" sz="2800" dirty="0" smtClean="0"/>
              <a:t>The entire group of individuals is called the </a:t>
            </a:r>
            <a:r>
              <a:rPr lang="en-US" altLang="en-US" sz="2800" b="1" dirty="0" smtClean="0"/>
              <a:t>population. Or </a:t>
            </a:r>
            <a:r>
              <a:rPr sz="2800" spc="-5" smtClean="0">
                <a:latin typeface="Times New Roman"/>
                <a:cs typeface="Times New Roman"/>
              </a:rPr>
              <a:t>The</a:t>
            </a:r>
            <a:r>
              <a:rPr lang="en-US" sz="2800" spc="-5" dirty="0" smtClean="0">
                <a:latin typeface="Times New Roman"/>
                <a:cs typeface="Times New Roman"/>
              </a:rPr>
              <a:t> group of all item that is under study</a:t>
            </a:r>
            <a:r>
              <a:rPr sz="2800" spc="-5" smtClean="0">
                <a:latin typeface="Times New Roman"/>
                <a:cs typeface="Times New Roman"/>
              </a:rPr>
              <a:t>.</a:t>
            </a:r>
            <a:endParaRPr lang="en-US" sz="2800" spc="-5" dirty="0" smtClean="0">
              <a:latin typeface="Times New Roman"/>
              <a:cs typeface="Times New Roman"/>
            </a:endParaRPr>
          </a:p>
          <a:p>
            <a:pPr marL="133985" marR="5080">
              <a:lnSpc>
                <a:spcPct val="100000"/>
              </a:lnSpc>
            </a:pPr>
            <a:r>
              <a:rPr lang="en-US" sz="2800" spc="-5" dirty="0" smtClean="0">
                <a:latin typeface="Times New Roman"/>
                <a:cs typeface="Times New Roman"/>
              </a:rPr>
              <a:t>Examples: All students studying at </a:t>
            </a:r>
            <a:r>
              <a:rPr lang="en-US" sz="2800" spc="-5" dirty="0" err="1" smtClean="0">
                <a:latin typeface="Times New Roman"/>
                <a:cs typeface="Times New Roman"/>
              </a:rPr>
              <a:t>Abasyn</a:t>
            </a:r>
            <a:r>
              <a:rPr lang="en-US" sz="2800" spc="-5" dirty="0" smtClean="0">
                <a:latin typeface="Times New Roman"/>
                <a:cs typeface="Times New Roman"/>
              </a:rPr>
              <a:t> University.</a:t>
            </a:r>
          </a:p>
          <a:p>
            <a:pPr marL="133985" marR="5080">
              <a:lnSpc>
                <a:spcPct val="100000"/>
              </a:lnSpc>
            </a:pPr>
            <a:r>
              <a:rPr lang="en-US" sz="2800" spc="-5" dirty="0" smtClean="0">
                <a:latin typeface="Times New Roman"/>
                <a:cs typeface="Times New Roman"/>
              </a:rPr>
              <a:t>All the registered voters in Pak.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sz="2800" b="1" spc="-5" smtClean="0">
                <a:solidFill>
                  <a:srgbClr val="EC7C30"/>
                </a:solidFill>
                <a:latin typeface="Times New Roman"/>
                <a:cs typeface="Times New Roman"/>
              </a:rPr>
              <a:t>Sample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Times New Roman"/>
                <a:cs typeface="Times New Roman"/>
              </a:rPr>
              <a:t>A subset of the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population.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6475477" y="5138927"/>
            <a:ext cx="411099" cy="350900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617208" y="5381244"/>
            <a:ext cx="220979" cy="47625"/>
          </a:xfrm>
          <a:custGeom>
            <a:avLst/>
            <a:gdLst/>
            <a:ahLst/>
            <a:cxnLst/>
            <a:rect l="l" t="t" r="r" b="b"/>
            <a:pathLst>
              <a:path w="220979" h="47625">
                <a:moveTo>
                  <a:pt x="169164" y="0"/>
                </a:moveTo>
                <a:lnTo>
                  <a:pt x="18415" y="29210"/>
                </a:lnTo>
                <a:lnTo>
                  <a:pt x="0" y="34162"/>
                </a:lnTo>
                <a:lnTo>
                  <a:pt x="36829" y="47498"/>
                </a:lnTo>
                <a:lnTo>
                  <a:pt x="220725" y="3682"/>
                </a:lnTo>
                <a:lnTo>
                  <a:pt x="1691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716269" y="5384291"/>
            <a:ext cx="124586" cy="52196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556248" y="5367527"/>
            <a:ext cx="100202" cy="72008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605017" y="5129784"/>
            <a:ext cx="139953" cy="79629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484620" y="5907023"/>
            <a:ext cx="168909" cy="64262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694933" y="5911596"/>
            <a:ext cx="174878" cy="53721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553200" y="5486400"/>
            <a:ext cx="262255" cy="443865"/>
          </a:xfrm>
          <a:custGeom>
            <a:avLst/>
            <a:gdLst/>
            <a:ahLst/>
            <a:cxnLst/>
            <a:rect l="l" t="t" r="r" b="b"/>
            <a:pathLst>
              <a:path w="262254" h="443864">
                <a:moveTo>
                  <a:pt x="251008" y="121665"/>
                </a:moveTo>
                <a:lnTo>
                  <a:pt x="127253" y="121665"/>
                </a:lnTo>
                <a:lnTo>
                  <a:pt x="134620" y="245744"/>
                </a:lnTo>
                <a:lnTo>
                  <a:pt x="143764" y="429513"/>
                </a:lnTo>
                <a:lnTo>
                  <a:pt x="210184" y="443864"/>
                </a:lnTo>
                <a:lnTo>
                  <a:pt x="223139" y="433069"/>
                </a:lnTo>
                <a:lnTo>
                  <a:pt x="239649" y="270763"/>
                </a:lnTo>
                <a:lnTo>
                  <a:pt x="243331" y="193293"/>
                </a:lnTo>
                <a:lnTo>
                  <a:pt x="251008" y="121665"/>
                </a:lnTo>
                <a:close/>
              </a:path>
              <a:path w="262254" h="443864">
                <a:moveTo>
                  <a:pt x="7366" y="0"/>
                </a:moveTo>
                <a:lnTo>
                  <a:pt x="0" y="39369"/>
                </a:lnTo>
                <a:lnTo>
                  <a:pt x="0" y="171830"/>
                </a:lnTo>
                <a:lnTo>
                  <a:pt x="7366" y="213613"/>
                </a:lnTo>
                <a:lnTo>
                  <a:pt x="7366" y="231393"/>
                </a:lnTo>
                <a:lnTo>
                  <a:pt x="1904" y="299465"/>
                </a:lnTo>
                <a:lnTo>
                  <a:pt x="5587" y="348360"/>
                </a:lnTo>
                <a:lnTo>
                  <a:pt x="11049" y="415162"/>
                </a:lnTo>
                <a:lnTo>
                  <a:pt x="11049" y="433069"/>
                </a:lnTo>
                <a:lnTo>
                  <a:pt x="27685" y="441451"/>
                </a:lnTo>
                <a:lnTo>
                  <a:pt x="93979" y="430656"/>
                </a:lnTo>
                <a:lnTo>
                  <a:pt x="114300" y="288670"/>
                </a:lnTo>
                <a:lnTo>
                  <a:pt x="119887" y="199262"/>
                </a:lnTo>
                <a:lnTo>
                  <a:pt x="127253" y="121665"/>
                </a:lnTo>
                <a:lnTo>
                  <a:pt x="251008" y="121665"/>
                </a:lnTo>
                <a:lnTo>
                  <a:pt x="261747" y="21462"/>
                </a:lnTo>
                <a:lnTo>
                  <a:pt x="256285" y="2412"/>
                </a:lnTo>
                <a:lnTo>
                  <a:pt x="73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975348" y="5693664"/>
            <a:ext cx="149098" cy="239649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922008" y="5399532"/>
            <a:ext cx="72898" cy="233553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127748" y="5393435"/>
            <a:ext cx="65150" cy="216788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917436" y="5146547"/>
            <a:ext cx="280035" cy="553593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979920" y="5129784"/>
            <a:ext cx="170306" cy="91821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025641" y="5256276"/>
            <a:ext cx="64135" cy="22225"/>
          </a:xfrm>
          <a:custGeom>
            <a:avLst/>
            <a:gdLst/>
            <a:ahLst/>
            <a:cxnLst/>
            <a:rect l="l" t="t" r="r" b="b"/>
            <a:pathLst>
              <a:path w="64134" h="22225">
                <a:moveTo>
                  <a:pt x="0" y="1142"/>
                </a:moveTo>
                <a:lnTo>
                  <a:pt x="13080" y="21716"/>
                </a:lnTo>
                <a:lnTo>
                  <a:pt x="31876" y="0"/>
                </a:lnTo>
                <a:lnTo>
                  <a:pt x="50545" y="21716"/>
                </a:lnTo>
                <a:lnTo>
                  <a:pt x="63626" y="2412"/>
                </a:lnTo>
                <a:lnTo>
                  <a:pt x="0" y="1142"/>
                </a:lnTo>
              </a:path>
            </a:pathLst>
          </a:custGeom>
          <a:ln w="12192">
            <a:solidFill>
              <a:srgbClr val="0000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060693" y="5260847"/>
            <a:ext cx="14858" cy="174116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060693" y="5260847"/>
            <a:ext cx="15240" cy="174625"/>
          </a:xfrm>
          <a:custGeom>
            <a:avLst/>
            <a:gdLst/>
            <a:ahLst/>
            <a:cxnLst/>
            <a:rect l="l" t="t" r="r" b="b"/>
            <a:pathLst>
              <a:path w="15240" h="174625">
                <a:moveTo>
                  <a:pt x="0" y="0"/>
                </a:moveTo>
                <a:lnTo>
                  <a:pt x="14858" y="72008"/>
                </a:lnTo>
                <a:lnTo>
                  <a:pt x="14858" y="174116"/>
                </a:lnTo>
                <a:lnTo>
                  <a:pt x="0" y="0"/>
                </a:lnTo>
              </a:path>
            </a:pathLst>
          </a:custGeom>
          <a:ln w="12192">
            <a:solidFill>
              <a:srgbClr val="0000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001257" y="5434584"/>
            <a:ext cx="118618" cy="9525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001257" y="5434584"/>
            <a:ext cx="118745" cy="9525"/>
          </a:xfrm>
          <a:custGeom>
            <a:avLst/>
            <a:gdLst/>
            <a:ahLst/>
            <a:cxnLst/>
            <a:rect l="l" t="t" r="r" b="b"/>
            <a:pathLst>
              <a:path w="118745" h="9525">
                <a:moveTo>
                  <a:pt x="0" y="9525"/>
                </a:moveTo>
                <a:lnTo>
                  <a:pt x="63880" y="0"/>
                </a:lnTo>
                <a:lnTo>
                  <a:pt x="118618" y="3556"/>
                </a:lnTo>
                <a:lnTo>
                  <a:pt x="0" y="9525"/>
                </a:lnTo>
              </a:path>
            </a:pathLst>
          </a:custGeom>
          <a:ln w="12192">
            <a:solidFill>
              <a:srgbClr val="0000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967729" y="5891784"/>
            <a:ext cx="63753" cy="65913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057645" y="5885688"/>
            <a:ext cx="74295" cy="72009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345681" y="5038344"/>
            <a:ext cx="117094" cy="126873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7324345" y="5032247"/>
            <a:ext cx="153542" cy="85725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310629" y="5590032"/>
            <a:ext cx="162814" cy="265556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263384" y="5295900"/>
            <a:ext cx="74295" cy="233553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7260336" y="5152644"/>
            <a:ext cx="280035" cy="459105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260336" y="5152644"/>
            <a:ext cx="280035" cy="459105"/>
          </a:xfrm>
          <a:custGeom>
            <a:avLst/>
            <a:gdLst/>
            <a:ahLst/>
            <a:cxnLst/>
            <a:rect l="l" t="t" r="r" b="b"/>
            <a:pathLst>
              <a:path w="280034" h="459104">
                <a:moveTo>
                  <a:pt x="110617" y="0"/>
                </a:moveTo>
                <a:lnTo>
                  <a:pt x="44196" y="23749"/>
                </a:lnTo>
                <a:lnTo>
                  <a:pt x="35051" y="30861"/>
                </a:lnTo>
                <a:lnTo>
                  <a:pt x="0" y="145034"/>
                </a:lnTo>
                <a:lnTo>
                  <a:pt x="53467" y="149860"/>
                </a:lnTo>
                <a:lnTo>
                  <a:pt x="60833" y="121285"/>
                </a:lnTo>
                <a:lnTo>
                  <a:pt x="81025" y="180720"/>
                </a:lnTo>
                <a:lnTo>
                  <a:pt x="46100" y="258063"/>
                </a:lnTo>
                <a:lnTo>
                  <a:pt x="46100" y="313944"/>
                </a:lnTo>
                <a:lnTo>
                  <a:pt x="53467" y="353187"/>
                </a:lnTo>
                <a:lnTo>
                  <a:pt x="69976" y="409067"/>
                </a:lnTo>
                <a:lnTo>
                  <a:pt x="86614" y="451866"/>
                </a:lnTo>
                <a:lnTo>
                  <a:pt x="138175" y="459105"/>
                </a:lnTo>
                <a:lnTo>
                  <a:pt x="143764" y="451866"/>
                </a:lnTo>
                <a:lnTo>
                  <a:pt x="193548" y="450723"/>
                </a:lnTo>
                <a:lnTo>
                  <a:pt x="210058" y="397256"/>
                </a:lnTo>
                <a:lnTo>
                  <a:pt x="224790" y="327025"/>
                </a:lnTo>
                <a:lnTo>
                  <a:pt x="237744" y="255650"/>
                </a:lnTo>
                <a:lnTo>
                  <a:pt x="206375" y="174879"/>
                </a:lnTo>
                <a:lnTo>
                  <a:pt x="217424" y="129667"/>
                </a:lnTo>
                <a:lnTo>
                  <a:pt x="224790" y="146304"/>
                </a:lnTo>
                <a:lnTo>
                  <a:pt x="280035" y="136779"/>
                </a:lnTo>
                <a:lnTo>
                  <a:pt x="237744" y="29718"/>
                </a:lnTo>
                <a:lnTo>
                  <a:pt x="165862" y="0"/>
                </a:lnTo>
                <a:lnTo>
                  <a:pt x="163957" y="3556"/>
                </a:lnTo>
                <a:lnTo>
                  <a:pt x="154813" y="7112"/>
                </a:lnTo>
                <a:lnTo>
                  <a:pt x="147447" y="8381"/>
                </a:lnTo>
                <a:lnTo>
                  <a:pt x="140081" y="8381"/>
                </a:lnTo>
                <a:lnTo>
                  <a:pt x="130810" y="8381"/>
                </a:lnTo>
                <a:lnTo>
                  <a:pt x="123444" y="7112"/>
                </a:lnTo>
                <a:lnTo>
                  <a:pt x="114300" y="3556"/>
                </a:lnTo>
                <a:lnTo>
                  <a:pt x="110617" y="0"/>
                </a:lnTo>
              </a:path>
            </a:pathLst>
          </a:custGeom>
          <a:ln w="12192">
            <a:solidFill>
              <a:srgbClr val="FF1F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8313039" y="6400431"/>
            <a:ext cx="1358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30"/>
              </a:lnSpc>
            </a:pPr>
            <a:r>
              <a:rPr sz="1200" dirty="0">
                <a:solidFill>
                  <a:srgbClr val="FDFDFD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304800"/>
            <a:ext cx="5715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Parameter </a:t>
            </a:r>
            <a:r>
              <a:rPr spc="-140" dirty="0"/>
              <a:t>and</a:t>
            </a:r>
            <a:r>
              <a:rPr spc="-340" dirty="0"/>
              <a:t> </a:t>
            </a:r>
            <a:r>
              <a:rPr spc="-204" dirty="0"/>
              <a:t>Statistic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990600"/>
            <a:ext cx="5099050" cy="3152786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3600" b="1" u="heavy" spc="-140" dirty="0">
                <a:solidFill>
                  <a:srgbClr val="EC7C30"/>
                </a:solidFill>
                <a:uFill>
                  <a:solidFill>
                    <a:srgbClr val="EC7C30"/>
                  </a:solidFill>
                </a:uFill>
                <a:latin typeface="Trebuchet MS"/>
                <a:cs typeface="Trebuchet MS"/>
              </a:rPr>
              <a:t>P</a:t>
            </a:r>
            <a:r>
              <a:rPr sz="2100" b="1" spc="-140" dirty="0">
                <a:solidFill>
                  <a:srgbClr val="EC7C30"/>
                </a:solidFill>
                <a:latin typeface="Trebuchet MS"/>
                <a:cs typeface="Trebuchet MS"/>
              </a:rPr>
              <a:t>arameter</a:t>
            </a:r>
            <a:endParaRPr sz="2100">
              <a:latin typeface="Trebuchet MS"/>
              <a:cs typeface="Trebuchet MS"/>
            </a:endParaRPr>
          </a:p>
          <a:p>
            <a:pPr marL="12700">
              <a:lnSpc>
                <a:spcPts val="2395"/>
              </a:lnSpc>
              <a:spcBef>
                <a:spcPts val="635"/>
              </a:spcBef>
            </a:pPr>
            <a:r>
              <a:rPr sz="2100" spc="-185" dirty="0">
                <a:latin typeface="Arial"/>
                <a:cs typeface="Arial"/>
              </a:rPr>
              <a:t>A </a:t>
            </a:r>
            <a:r>
              <a:rPr sz="2100" spc="-65" dirty="0">
                <a:latin typeface="Arial"/>
                <a:cs typeface="Arial"/>
              </a:rPr>
              <a:t>number </a:t>
            </a:r>
            <a:r>
              <a:rPr sz="2100" spc="-5" dirty="0">
                <a:latin typeface="Arial"/>
                <a:cs typeface="Arial"/>
              </a:rPr>
              <a:t>that </a:t>
            </a:r>
            <a:r>
              <a:rPr sz="2100" spc="-110" dirty="0">
                <a:latin typeface="Arial"/>
                <a:cs typeface="Arial"/>
              </a:rPr>
              <a:t>describes </a:t>
            </a:r>
            <a:r>
              <a:rPr sz="2100" spc="-165" dirty="0">
                <a:latin typeface="Arial"/>
                <a:cs typeface="Arial"/>
              </a:rPr>
              <a:t>a</a:t>
            </a:r>
            <a:r>
              <a:rPr sz="2100" spc="-200" dirty="0">
                <a:latin typeface="Arial"/>
                <a:cs typeface="Arial"/>
              </a:rPr>
              <a:t> </a:t>
            </a:r>
            <a:r>
              <a:rPr sz="2100" u="heavy" spc="-45" dirty="0">
                <a:solidFill>
                  <a:srgbClr val="EC7C30"/>
                </a:solidFill>
                <a:uFill>
                  <a:solidFill>
                    <a:srgbClr val="EC7C30"/>
                  </a:solidFill>
                </a:uFill>
                <a:latin typeface="Arial"/>
                <a:cs typeface="Arial"/>
              </a:rPr>
              <a:t>p</a:t>
            </a:r>
            <a:r>
              <a:rPr sz="2100" spc="-45" dirty="0">
                <a:solidFill>
                  <a:srgbClr val="EC7C30"/>
                </a:solidFill>
                <a:latin typeface="Arial"/>
                <a:cs typeface="Arial"/>
              </a:rPr>
              <a:t>opulation</a:t>
            </a:r>
            <a:endParaRPr sz="2100">
              <a:latin typeface="Arial"/>
              <a:cs typeface="Arial"/>
            </a:endParaRPr>
          </a:p>
          <a:p>
            <a:pPr marL="68580">
              <a:lnSpc>
                <a:spcPts val="2395"/>
              </a:lnSpc>
            </a:pPr>
            <a:r>
              <a:rPr sz="2100" spc="-70">
                <a:latin typeface="Arial"/>
                <a:cs typeface="Arial"/>
              </a:rPr>
              <a:t>characteristic</a:t>
            </a:r>
            <a:r>
              <a:rPr sz="2100" spc="-70" smtClean="0">
                <a:latin typeface="Arial"/>
                <a:cs typeface="Arial"/>
              </a:rPr>
              <a:t>.</a:t>
            </a:r>
            <a:r>
              <a:rPr lang="en-US" sz="2100" spc="-70" dirty="0" smtClean="0">
                <a:latin typeface="Arial"/>
                <a:cs typeface="Arial"/>
              </a:rPr>
              <a:t> (Numerical value which summarize all the entire population)</a:t>
            </a:r>
            <a:endParaRPr sz="2100">
              <a:latin typeface="Arial"/>
              <a:cs typeface="Arial"/>
            </a:endParaRPr>
          </a:p>
          <a:p>
            <a:pPr marL="184785">
              <a:lnSpc>
                <a:spcPct val="100000"/>
              </a:lnSpc>
              <a:spcBef>
                <a:spcPts val="550"/>
              </a:spcBef>
            </a:pPr>
            <a:r>
              <a:rPr sz="2100" i="1" spc="-95" dirty="0">
                <a:latin typeface="Trebuchet MS"/>
                <a:cs typeface="Trebuchet MS"/>
              </a:rPr>
              <a:t>Average</a:t>
            </a:r>
            <a:r>
              <a:rPr sz="2100" i="1" spc="-180" dirty="0">
                <a:latin typeface="Trebuchet MS"/>
                <a:cs typeface="Trebuchet MS"/>
              </a:rPr>
              <a:t> </a:t>
            </a:r>
            <a:r>
              <a:rPr sz="2100" i="1" spc="-45" dirty="0">
                <a:latin typeface="Trebuchet MS"/>
                <a:cs typeface="Trebuchet MS"/>
              </a:rPr>
              <a:t>age</a:t>
            </a:r>
            <a:r>
              <a:rPr sz="2100" i="1" spc="-175" dirty="0">
                <a:latin typeface="Trebuchet MS"/>
                <a:cs typeface="Trebuchet MS"/>
              </a:rPr>
              <a:t> </a:t>
            </a:r>
            <a:r>
              <a:rPr sz="2100" i="1" spc="-130" dirty="0">
                <a:latin typeface="Trebuchet MS"/>
                <a:cs typeface="Trebuchet MS"/>
              </a:rPr>
              <a:t>of</a:t>
            </a:r>
            <a:r>
              <a:rPr sz="2100" i="1" spc="-170" dirty="0">
                <a:latin typeface="Trebuchet MS"/>
                <a:cs typeface="Trebuchet MS"/>
              </a:rPr>
              <a:t> </a:t>
            </a:r>
            <a:r>
              <a:rPr sz="2100" i="1" spc="-140" dirty="0">
                <a:latin typeface="Trebuchet MS"/>
                <a:cs typeface="Trebuchet MS"/>
              </a:rPr>
              <a:t>all</a:t>
            </a:r>
            <a:r>
              <a:rPr sz="2100" i="1" spc="-155" dirty="0">
                <a:latin typeface="Trebuchet MS"/>
                <a:cs typeface="Trebuchet MS"/>
              </a:rPr>
              <a:t> </a:t>
            </a:r>
            <a:r>
              <a:rPr sz="2100" i="1" spc="-114" dirty="0">
                <a:latin typeface="Trebuchet MS"/>
                <a:cs typeface="Trebuchet MS"/>
              </a:rPr>
              <a:t>people</a:t>
            </a:r>
            <a:r>
              <a:rPr sz="2100" i="1" spc="-190" dirty="0">
                <a:latin typeface="Trebuchet MS"/>
                <a:cs typeface="Trebuchet MS"/>
              </a:rPr>
              <a:t> </a:t>
            </a:r>
            <a:r>
              <a:rPr sz="2100" i="1" spc="-114" dirty="0">
                <a:latin typeface="Trebuchet MS"/>
                <a:cs typeface="Trebuchet MS"/>
              </a:rPr>
              <a:t>in</a:t>
            </a:r>
            <a:r>
              <a:rPr sz="2100" i="1" spc="-160" dirty="0">
                <a:latin typeface="Trebuchet MS"/>
                <a:cs typeface="Trebuchet MS"/>
              </a:rPr>
              <a:t> </a:t>
            </a:r>
            <a:r>
              <a:rPr sz="2100" i="1" spc="-135" dirty="0">
                <a:latin typeface="Trebuchet MS"/>
                <a:cs typeface="Trebuchet MS"/>
              </a:rPr>
              <a:t>the</a:t>
            </a:r>
            <a:r>
              <a:rPr sz="2100" i="1" spc="-180" dirty="0">
                <a:latin typeface="Trebuchet MS"/>
                <a:cs typeface="Trebuchet MS"/>
              </a:rPr>
              <a:t> </a:t>
            </a:r>
            <a:r>
              <a:rPr sz="2100" i="1" spc="-114">
                <a:latin typeface="Trebuchet MS"/>
                <a:cs typeface="Trebuchet MS"/>
              </a:rPr>
              <a:t>United</a:t>
            </a:r>
            <a:r>
              <a:rPr sz="2100" i="1" spc="-160">
                <a:latin typeface="Trebuchet MS"/>
                <a:cs typeface="Trebuchet MS"/>
              </a:rPr>
              <a:t> </a:t>
            </a:r>
            <a:r>
              <a:rPr sz="2100" i="1" spc="-110" smtClean="0">
                <a:latin typeface="Trebuchet MS"/>
                <a:cs typeface="Trebuchet MS"/>
              </a:rPr>
              <a:t>States</a:t>
            </a:r>
            <a:r>
              <a:rPr lang="en-US" sz="2100" i="1" spc="-110" dirty="0" smtClean="0">
                <a:latin typeface="Trebuchet MS"/>
                <a:cs typeface="Trebuchet MS"/>
              </a:rPr>
              <a:t> or  Average score of the </a:t>
            </a:r>
            <a:r>
              <a:rPr lang="en-US" sz="2100" i="1" spc="-110" dirty="0" err="1" smtClean="0">
                <a:latin typeface="Trebuchet MS"/>
                <a:cs typeface="Trebuchet MS"/>
              </a:rPr>
              <a:t>Abasyn</a:t>
            </a:r>
            <a:r>
              <a:rPr lang="en-US" sz="2100" i="1" spc="-110" dirty="0" smtClean="0">
                <a:latin typeface="Trebuchet MS"/>
                <a:cs typeface="Trebuchet MS"/>
              </a:rPr>
              <a:t> University students</a:t>
            </a:r>
            <a:r>
              <a:rPr lang="en-US" sz="2100" i="1" spc="-110" smtClean="0">
                <a:latin typeface="Trebuchet MS"/>
                <a:cs typeface="Trebuchet MS"/>
              </a:rPr>
              <a:t>. </a:t>
            </a:r>
            <a:endParaRPr lang="en-US" sz="2100" i="1" spc="-110" dirty="0" smtClean="0">
              <a:latin typeface="Trebuchet MS"/>
              <a:cs typeface="Trebuchet MS"/>
            </a:endParaRPr>
          </a:p>
          <a:p>
            <a:pPr marL="184785">
              <a:lnSpc>
                <a:spcPct val="100000"/>
              </a:lnSpc>
              <a:spcBef>
                <a:spcPts val="550"/>
              </a:spcBef>
            </a:pPr>
            <a:endParaRPr sz="21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90766" y="3842765"/>
            <a:ext cx="73660" cy="35560"/>
          </a:xfrm>
          <a:custGeom>
            <a:avLst/>
            <a:gdLst/>
            <a:ahLst/>
            <a:cxnLst/>
            <a:rect l="l" t="t" r="r" b="b"/>
            <a:pathLst>
              <a:path w="73659" h="35560">
                <a:moveTo>
                  <a:pt x="14731" y="0"/>
                </a:moveTo>
                <a:lnTo>
                  <a:pt x="0" y="10413"/>
                </a:lnTo>
                <a:lnTo>
                  <a:pt x="6350" y="18541"/>
                </a:lnTo>
                <a:lnTo>
                  <a:pt x="19684" y="21335"/>
                </a:lnTo>
                <a:lnTo>
                  <a:pt x="33781" y="35051"/>
                </a:lnTo>
                <a:lnTo>
                  <a:pt x="71754" y="29463"/>
                </a:lnTo>
                <a:lnTo>
                  <a:pt x="73151" y="14858"/>
                </a:lnTo>
                <a:lnTo>
                  <a:pt x="44957" y="2793"/>
                </a:lnTo>
                <a:lnTo>
                  <a:pt x="14731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90766" y="3842765"/>
            <a:ext cx="73660" cy="35560"/>
          </a:xfrm>
          <a:custGeom>
            <a:avLst/>
            <a:gdLst/>
            <a:ahLst/>
            <a:cxnLst/>
            <a:rect l="l" t="t" r="r" b="b"/>
            <a:pathLst>
              <a:path w="73659" h="35560">
                <a:moveTo>
                  <a:pt x="14731" y="0"/>
                </a:moveTo>
                <a:lnTo>
                  <a:pt x="0" y="10413"/>
                </a:lnTo>
                <a:lnTo>
                  <a:pt x="6350" y="18541"/>
                </a:lnTo>
                <a:lnTo>
                  <a:pt x="19684" y="21335"/>
                </a:lnTo>
                <a:lnTo>
                  <a:pt x="33781" y="35051"/>
                </a:lnTo>
                <a:lnTo>
                  <a:pt x="71754" y="29463"/>
                </a:lnTo>
                <a:lnTo>
                  <a:pt x="73151" y="14858"/>
                </a:lnTo>
                <a:lnTo>
                  <a:pt x="44957" y="2793"/>
                </a:lnTo>
                <a:lnTo>
                  <a:pt x="14731" y="0"/>
                </a:lnTo>
                <a:close/>
              </a:path>
            </a:pathLst>
          </a:custGeom>
          <a:ln w="45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13476" y="2962655"/>
            <a:ext cx="3003804" cy="798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16445" y="3798570"/>
            <a:ext cx="36830" cy="29209"/>
          </a:xfrm>
          <a:custGeom>
            <a:avLst/>
            <a:gdLst/>
            <a:ahLst/>
            <a:cxnLst/>
            <a:rect l="l" t="t" r="r" b="b"/>
            <a:pathLst>
              <a:path w="36829" h="29210">
                <a:moveTo>
                  <a:pt x="20447" y="0"/>
                </a:moveTo>
                <a:lnTo>
                  <a:pt x="0" y="20192"/>
                </a:lnTo>
                <a:lnTo>
                  <a:pt x="0" y="28955"/>
                </a:lnTo>
                <a:lnTo>
                  <a:pt x="19050" y="28955"/>
                </a:lnTo>
                <a:lnTo>
                  <a:pt x="36575" y="5968"/>
                </a:lnTo>
                <a:lnTo>
                  <a:pt x="20447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16445" y="3798570"/>
            <a:ext cx="36830" cy="29209"/>
          </a:xfrm>
          <a:custGeom>
            <a:avLst/>
            <a:gdLst/>
            <a:ahLst/>
            <a:cxnLst/>
            <a:rect l="l" t="t" r="r" b="b"/>
            <a:pathLst>
              <a:path w="36829" h="29210">
                <a:moveTo>
                  <a:pt x="0" y="28955"/>
                </a:moveTo>
                <a:lnTo>
                  <a:pt x="0" y="20192"/>
                </a:lnTo>
                <a:lnTo>
                  <a:pt x="20447" y="0"/>
                </a:lnTo>
                <a:lnTo>
                  <a:pt x="36575" y="5968"/>
                </a:lnTo>
                <a:lnTo>
                  <a:pt x="19050" y="28955"/>
                </a:lnTo>
                <a:lnTo>
                  <a:pt x="0" y="28955"/>
                </a:lnTo>
                <a:close/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66738" y="3774185"/>
            <a:ext cx="64135" cy="36830"/>
          </a:xfrm>
          <a:custGeom>
            <a:avLst/>
            <a:gdLst/>
            <a:ahLst/>
            <a:cxnLst/>
            <a:rect l="l" t="t" r="r" b="b"/>
            <a:pathLst>
              <a:path w="64134" h="36829">
                <a:moveTo>
                  <a:pt x="57150" y="0"/>
                </a:moveTo>
                <a:lnTo>
                  <a:pt x="14350" y="3937"/>
                </a:lnTo>
                <a:lnTo>
                  <a:pt x="0" y="21462"/>
                </a:lnTo>
                <a:lnTo>
                  <a:pt x="24510" y="33400"/>
                </a:lnTo>
                <a:lnTo>
                  <a:pt x="53085" y="36575"/>
                </a:lnTo>
                <a:lnTo>
                  <a:pt x="64007" y="22225"/>
                </a:lnTo>
                <a:lnTo>
                  <a:pt x="57150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66738" y="3774185"/>
            <a:ext cx="64135" cy="36830"/>
          </a:xfrm>
          <a:custGeom>
            <a:avLst/>
            <a:gdLst/>
            <a:ahLst/>
            <a:cxnLst/>
            <a:rect l="l" t="t" r="r" b="b"/>
            <a:pathLst>
              <a:path w="64134" h="36829">
                <a:moveTo>
                  <a:pt x="14350" y="3937"/>
                </a:moveTo>
                <a:lnTo>
                  <a:pt x="0" y="21462"/>
                </a:lnTo>
                <a:lnTo>
                  <a:pt x="24510" y="33400"/>
                </a:lnTo>
                <a:lnTo>
                  <a:pt x="53085" y="36575"/>
                </a:lnTo>
                <a:lnTo>
                  <a:pt x="64007" y="22225"/>
                </a:lnTo>
                <a:lnTo>
                  <a:pt x="57150" y="0"/>
                </a:lnTo>
                <a:lnTo>
                  <a:pt x="14350" y="3937"/>
                </a:lnTo>
                <a:close/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27697" y="3798570"/>
            <a:ext cx="97790" cy="41275"/>
          </a:xfrm>
          <a:custGeom>
            <a:avLst/>
            <a:gdLst/>
            <a:ahLst/>
            <a:cxnLst/>
            <a:rect l="l" t="t" r="r" b="b"/>
            <a:pathLst>
              <a:path w="97790" h="41275">
                <a:moveTo>
                  <a:pt x="66675" y="0"/>
                </a:moveTo>
                <a:lnTo>
                  <a:pt x="0" y="14350"/>
                </a:lnTo>
                <a:lnTo>
                  <a:pt x="40640" y="41147"/>
                </a:lnTo>
                <a:lnTo>
                  <a:pt x="63880" y="38353"/>
                </a:lnTo>
                <a:lnTo>
                  <a:pt x="97535" y="36321"/>
                </a:lnTo>
                <a:lnTo>
                  <a:pt x="91948" y="21589"/>
                </a:lnTo>
                <a:lnTo>
                  <a:pt x="79248" y="17525"/>
                </a:lnTo>
                <a:lnTo>
                  <a:pt x="66675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727697" y="3798570"/>
            <a:ext cx="97790" cy="41275"/>
          </a:xfrm>
          <a:custGeom>
            <a:avLst/>
            <a:gdLst/>
            <a:ahLst/>
            <a:cxnLst/>
            <a:rect l="l" t="t" r="r" b="b"/>
            <a:pathLst>
              <a:path w="97790" h="41275">
                <a:moveTo>
                  <a:pt x="0" y="14350"/>
                </a:moveTo>
                <a:lnTo>
                  <a:pt x="66675" y="0"/>
                </a:lnTo>
                <a:lnTo>
                  <a:pt x="79248" y="17525"/>
                </a:lnTo>
                <a:lnTo>
                  <a:pt x="91948" y="21589"/>
                </a:lnTo>
                <a:lnTo>
                  <a:pt x="97535" y="36321"/>
                </a:lnTo>
                <a:lnTo>
                  <a:pt x="63880" y="38353"/>
                </a:lnTo>
                <a:lnTo>
                  <a:pt x="40640" y="41147"/>
                </a:lnTo>
                <a:lnTo>
                  <a:pt x="0" y="14350"/>
                </a:lnTo>
                <a:close/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826757" y="3830573"/>
            <a:ext cx="76200" cy="21590"/>
          </a:xfrm>
          <a:custGeom>
            <a:avLst/>
            <a:gdLst/>
            <a:ahLst/>
            <a:cxnLst/>
            <a:rect l="l" t="t" r="r" b="b"/>
            <a:pathLst>
              <a:path w="76200" h="21589">
                <a:moveTo>
                  <a:pt x="52832" y="0"/>
                </a:moveTo>
                <a:lnTo>
                  <a:pt x="11684" y="762"/>
                </a:lnTo>
                <a:lnTo>
                  <a:pt x="0" y="20193"/>
                </a:lnTo>
                <a:lnTo>
                  <a:pt x="20574" y="21336"/>
                </a:lnTo>
                <a:lnTo>
                  <a:pt x="32893" y="17018"/>
                </a:lnTo>
                <a:lnTo>
                  <a:pt x="57181" y="17018"/>
                </a:lnTo>
                <a:lnTo>
                  <a:pt x="76200" y="9143"/>
                </a:lnTo>
                <a:lnTo>
                  <a:pt x="63119" y="5968"/>
                </a:lnTo>
                <a:lnTo>
                  <a:pt x="52832" y="0"/>
                </a:lnTo>
                <a:close/>
              </a:path>
              <a:path w="76200" h="21589">
                <a:moveTo>
                  <a:pt x="57181" y="17018"/>
                </a:moveTo>
                <a:lnTo>
                  <a:pt x="32893" y="17018"/>
                </a:lnTo>
                <a:lnTo>
                  <a:pt x="56261" y="17399"/>
                </a:lnTo>
                <a:lnTo>
                  <a:pt x="57181" y="17018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26757" y="3830573"/>
            <a:ext cx="76200" cy="21590"/>
          </a:xfrm>
          <a:custGeom>
            <a:avLst/>
            <a:gdLst/>
            <a:ahLst/>
            <a:cxnLst/>
            <a:rect l="l" t="t" r="r" b="b"/>
            <a:pathLst>
              <a:path w="76200" h="21589">
                <a:moveTo>
                  <a:pt x="11684" y="762"/>
                </a:moveTo>
                <a:lnTo>
                  <a:pt x="0" y="20193"/>
                </a:lnTo>
                <a:lnTo>
                  <a:pt x="20574" y="21336"/>
                </a:lnTo>
                <a:lnTo>
                  <a:pt x="32893" y="17018"/>
                </a:lnTo>
                <a:lnTo>
                  <a:pt x="56261" y="17399"/>
                </a:lnTo>
                <a:lnTo>
                  <a:pt x="76200" y="9143"/>
                </a:lnTo>
                <a:lnTo>
                  <a:pt x="63119" y="5968"/>
                </a:lnTo>
                <a:lnTo>
                  <a:pt x="52832" y="0"/>
                </a:lnTo>
                <a:lnTo>
                  <a:pt x="11684" y="762"/>
                </a:lnTo>
                <a:close/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49618" y="3861053"/>
            <a:ext cx="30480" cy="15240"/>
          </a:xfrm>
          <a:custGeom>
            <a:avLst/>
            <a:gdLst/>
            <a:ahLst/>
            <a:cxnLst/>
            <a:rect l="l" t="t" r="r" b="b"/>
            <a:pathLst>
              <a:path w="30479" h="15239">
                <a:moveTo>
                  <a:pt x="26415" y="0"/>
                </a:moveTo>
                <a:lnTo>
                  <a:pt x="0" y="1143"/>
                </a:lnTo>
                <a:lnTo>
                  <a:pt x="4699" y="15240"/>
                </a:lnTo>
                <a:lnTo>
                  <a:pt x="30479" y="11684"/>
                </a:lnTo>
                <a:lnTo>
                  <a:pt x="26415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849618" y="3861053"/>
            <a:ext cx="30480" cy="15240"/>
          </a:xfrm>
          <a:custGeom>
            <a:avLst/>
            <a:gdLst/>
            <a:ahLst/>
            <a:cxnLst/>
            <a:rect l="l" t="t" r="r" b="b"/>
            <a:pathLst>
              <a:path w="30479" h="15239">
                <a:moveTo>
                  <a:pt x="26415" y="0"/>
                </a:moveTo>
                <a:lnTo>
                  <a:pt x="0" y="1143"/>
                </a:lnTo>
                <a:lnTo>
                  <a:pt x="4699" y="15240"/>
                </a:lnTo>
                <a:lnTo>
                  <a:pt x="30479" y="11684"/>
                </a:lnTo>
                <a:lnTo>
                  <a:pt x="26415" y="0"/>
                </a:lnTo>
                <a:close/>
              </a:path>
            </a:pathLst>
          </a:custGeom>
          <a:ln w="45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84669" y="3877817"/>
            <a:ext cx="21590" cy="15240"/>
          </a:xfrm>
          <a:custGeom>
            <a:avLst/>
            <a:gdLst/>
            <a:ahLst/>
            <a:cxnLst/>
            <a:rect l="l" t="t" r="r" b="b"/>
            <a:pathLst>
              <a:path w="21590" h="15239">
                <a:moveTo>
                  <a:pt x="21335" y="0"/>
                </a:moveTo>
                <a:lnTo>
                  <a:pt x="0" y="5587"/>
                </a:lnTo>
                <a:lnTo>
                  <a:pt x="7111" y="15239"/>
                </a:lnTo>
                <a:lnTo>
                  <a:pt x="21335" y="13207"/>
                </a:lnTo>
                <a:lnTo>
                  <a:pt x="21335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84669" y="3877817"/>
            <a:ext cx="21590" cy="15240"/>
          </a:xfrm>
          <a:custGeom>
            <a:avLst/>
            <a:gdLst/>
            <a:ahLst/>
            <a:cxnLst/>
            <a:rect l="l" t="t" r="r" b="b"/>
            <a:pathLst>
              <a:path w="21590" h="15239">
                <a:moveTo>
                  <a:pt x="0" y="5587"/>
                </a:moveTo>
                <a:lnTo>
                  <a:pt x="21335" y="0"/>
                </a:lnTo>
                <a:lnTo>
                  <a:pt x="21335" y="13207"/>
                </a:lnTo>
                <a:lnTo>
                  <a:pt x="7111" y="15239"/>
                </a:lnTo>
                <a:lnTo>
                  <a:pt x="0" y="5587"/>
                </a:lnTo>
                <a:close/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36485" y="3883914"/>
            <a:ext cx="131445" cy="88900"/>
          </a:xfrm>
          <a:custGeom>
            <a:avLst/>
            <a:gdLst/>
            <a:ahLst/>
            <a:cxnLst/>
            <a:rect l="l" t="t" r="r" b="b"/>
            <a:pathLst>
              <a:path w="131445" h="88900">
                <a:moveTo>
                  <a:pt x="22225" y="0"/>
                </a:moveTo>
                <a:lnTo>
                  <a:pt x="0" y="33400"/>
                </a:lnTo>
                <a:lnTo>
                  <a:pt x="16002" y="50165"/>
                </a:lnTo>
                <a:lnTo>
                  <a:pt x="16002" y="80010"/>
                </a:lnTo>
                <a:lnTo>
                  <a:pt x="47117" y="88392"/>
                </a:lnTo>
                <a:lnTo>
                  <a:pt x="60960" y="70866"/>
                </a:lnTo>
                <a:lnTo>
                  <a:pt x="101219" y="66929"/>
                </a:lnTo>
                <a:lnTo>
                  <a:pt x="131064" y="47371"/>
                </a:lnTo>
                <a:lnTo>
                  <a:pt x="99822" y="17525"/>
                </a:lnTo>
                <a:lnTo>
                  <a:pt x="22225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36485" y="3883914"/>
            <a:ext cx="131445" cy="88900"/>
          </a:xfrm>
          <a:custGeom>
            <a:avLst/>
            <a:gdLst/>
            <a:ahLst/>
            <a:cxnLst/>
            <a:rect l="l" t="t" r="r" b="b"/>
            <a:pathLst>
              <a:path w="131445" h="88900">
                <a:moveTo>
                  <a:pt x="22225" y="0"/>
                </a:moveTo>
                <a:lnTo>
                  <a:pt x="0" y="33400"/>
                </a:lnTo>
                <a:lnTo>
                  <a:pt x="16002" y="50165"/>
                </a:lnTo>
                <a:lnTo>
                  <a:pt x="16002" y="80010"/>
                </a:lnTo>
                <a:lnTo>
                  <a:pt x="47117" y="88392"/>
                </a:lnTo>
                <a:lnTo>
                  <a:pt x="60960" y="70866"/>
                </a:lnTo>
                <a:lnTo>
                  <a:pt x="101219" y="66929"/>
                </a:lnTo>
                <a:lnTo>
                  <a:pt x="131064" y="47371"/>
                </a:lnTo>
                <a:lnTo>
                  <a:pt x="99822" y="17525"/>
                </a:lnTo>
                <a:lnTo>
                  <a:pt x="22225" y="0"/>
                </a:lnTo>
                <a:close/>
              </a:path>
            </a:pathLst>
          </a:custGeom>
          <a:ln w="45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051292" y="5521452"/>
            <a:ext cx="182879" cy="1234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361681" y="5695950"/>
            <a:ext cx="294640" cy="169545"/>
          </a:xfrm>
          <a:custGeom>
            <a:avLst/>
            <a:gdLst/>
            <a:ahLst/>
            <a:cxnLst/>
            <a:rect l="l" t="t" r="r" b="b"/>
            <a:pathLst>
              <a:path w="294640" h="169545">
                <a:moveTo>
                  <a:pt x="35560" y="0"/>
                </a:moveTo>
                <a:lnTo>
                  <a:pt x="28067" y="38912"/>
                </a:lnTo>
                <a:lnTo>
                  <a:pt x="0" y="165595"/>
                </a:lnTo>
                <a:lnTo>
                  <a:pt x="49275" y="169163"/>
                </a:lnTo>
                <a:lnTo>
                  <a:pt x="53340" y="158038"/>
                </a:lnTo>
                <a:lnTo>
                  <a:pt x="118999" y="158038"/>
                </a:lnTo>
                <a:lnTo>
                  <a:pt x="118999" y="152082"/>
                </a:lnTo>
                <a:lnTo>
                  <a:pt x="282140" y="152082"/>
                </a:lnTo>
                <a:lnTo>
                  <a:pt x="294132" y="6756"/>
                </a:lnTo>
                <a:lnTo>
                  <a:pt x="35560" y="0"/>
                </a:lnTo>
                <a:close/>
              </a:path>
              <a:path w="294640" h="169545">
                <a:moveTo>
                  <a:pt x="282140" y="152082"/>
                </a:moveTo>
                <a:lnTo>
                  <a:pt x="118999" y="152082"/>
                </a:lnTo>
                <a:lnTo>
                  <a:pt x="281813" y="156057"/>
                </a:lnTo>
                <a:lnTo>
                  <a:pt x="282140" y="152082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361681" y="5695950"/>
            <a:ext cx="294640" cy="169545"/>
          </a:xfrm>
          <a:custGeom>
            <a:avLst/>
            <a:gdLst/>
            <a:ahLst/>
            <a:cxnLst/>
            <a:rect l="l" t="t" r="r" b="b"/>
            <a:pathLst>
              <a:path w="294640" h="169545">
                <a:moveTo>
                  <a:pt x="35560" y="0"/>
                </a:moveTo>
                <a:lnTo>
                  <a:pt x="294132" y="6756"/>
                </a:lnTo>
                <a:lnTo>
                  <a:pt x="281813" y="156057"/>
                </a:lnTo>
                <a:lnTo>
                  <a:pt x="197739" y="153682"/>
                </a:lnTo>
                <a:lnTo>
                  <a:pt x="118999" y="152082"/>
                </a:lnTo>
                <a:lnTo>
                  <a:pt x="118999" y="158038"/>
                </a:lnTo>
                <a:lnTo>
                  <a:pt x="53340" y="158038"/>
                </a:lnTo>
                <a:lnTo>
                  <a:pt x="49275" y="169163"/>
                </a:lnTo>
                <a:lnTo>
                  <a:pt x="0" y="165595"/>
                </a:lnTo>
                <a:lnTo>
                  <a:pt x="28067" y="38912"/>
                </a:lnTo>
                <a:lnTo>
                  <a:pt x="35560" y="0"/>
                </a:lnTo>
                <a:close/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163561" y="5465826"/>
            <a:ext cx="344805" cy="154305"/>
          </a:xfrm>
          <a:custGeom>
            <a:avLst/>
            <a:gdLst/>
            <a:ahLst/>
            <a:cxnLst/>
            <a:rect l="l" t="t" r="r" b="b"/>
            <a:pathLst>
              <a:path w="344804" h="154304">
                <a:moveTo>
                  <a:pt x="75565" y="0"/>
                </a:moveTo>
                <a:lnTo>
                  <a:pt x="65278" y="3175"/>
                </a:lnTo>
                <a:lnTo>
                  <a:pt x="59182" y="16510"/>
                </a:lnTo>
                <a:lnTo>
                  <a:pt x="52959" y="28193"/>
                </a:lnTo>
                <a:lnTo>
                  <a:pt x="26162" y="68072"/>
                </a:lnTo>
                <a:lnTo>
                  <a:pt x="0" y="93090"/>
                </a:lnTo>
                <a:lnTo>
                  <a:pt x="0" y="119634"/>
                </a:lnTo>
                <a:lnTo>
                  <a:pt x="282575" y="153924"/>
                </a:lnTo>
                <a:lnTo>
                  <a:pt x="301117" y="100330"/>
                </a:lnTo>
                <a:lnTo>
                  <a:pt x="312801" y="95885"/>
                </a:lnTo>
                <a:lnTo>
                  <a:pt x="301752" y="83820"/>
                </a:lnTo>
                <a:lnTo>
                  <a:pt x="307340" y="71755"/>
                </a:lnTo>
                <a:lnTo>
                  <a:pt x="344424" y="51181"/>
                </a:lnTo>
                <a:lnTo>
                  <a:pt x="319024" y="32639"/>
                </a:lnTo>
                <a:lnTo>
                  <a:pt x="260767" y="25400"/>
                </a:lnTo>
                <a:lnTo>
                  <a:pt x="160909" y="25400"/>
                </a:lnTo>
                <a:lnTo>
                  <a:pt x="145050" y="16129"/>
                </a:lnTo>
                <a:lnTo>
                  <a:pt x="101727" y="16129"/>
                </a:lnTo>
                <a:lnTo>
                  <a:pt x="107188" y="1270"/>
                </a:lnTo>
                <a:lnTo>
                  <a:pt x="75565" y="0"/>
                </a:lnTo>
                <a:close/>
              </a:path>
              <a:path w="344804" h="154304">
                <a:moveTo>
                  <a:pt x="178054" y="15748"/>
                </a:moveTo>
                <a:lnTo>
                  <a:pt x="160909" y="25400"/>
                </a:lnTo>
                <a:lnTo>
                  <a:pt x="260767" y="25400"/>
                </a:lnTo>
                <a:lnTo>
                  <a:pt x="257701" y="25018"/>
                </a:lnTo>
                <a:lnTo>
                  <a:pt x="197358" y="25018"/>
                </a:lnTo>
                <a:lnTo>
                  <a:pt x="178054" y="15748"/>
                </a:lnTo>
                <a:close/>
              </a:path>
              <a:path w="344804" h="154304">
                <a:moveTo>
                  <a:pt x="211709" y="19304"/>
                </a:moveTo>
                <a:lnTo>
                  <a:pt x="197358" y="25018"/>
                </a:lnTo>
                <a:lnTo>
                  <a:pt x="257701" y="25018"/>
                </a:lnTo>
                <a:lnTo>
                  <a:pt x="211709" y="19304"/>
                </a:lnTo>
                <a:close/>
              </a:path>
              <a:path w="344804" h="154304">
                <a:moveTo>
                  <a:pt x="144399" y="15748"/>
                </a:moveTo>
                <a:lnTo>
                  <a:pt x="101727" y="16129"/>
                </a:lnTo>
                <a:lnTo>
                  <a:pt x="145050" y="16129"/>
                </a:lnTo>
                <a:lnTo>
                  <a:pt x="144399" y="15748"/>
                </a:lnTo>
                <a:close/>
              </a:path>
            </a:pathLst>
          </a:custGeom>
          <a:solidFill>
            <a:srgbClr val="3E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63561" y="5465826"/>
            <a:ext cx="344805" cy="154305"/>
          </a:xfrm>
          <a:custGeom>
            <a:avLst/>
            <a:gdLst/>
            <a:ahLst/>
            <a:cxnLst/>
            <a:rect l="l" t="t" r="r" b="b"/>
            <a:pathLst>
              <a:path w="344804" h="154304">
                <a:moveTo>
                  <a:pt x="75565" y="0"/>
                </a:moveTo>
                <a:lnTo>
                  <a:pt x="65278" y="3175"/>
                </a:lnTo>
                <a:lnTo>
                  <a:pt x="59182" y="16510"/>
                </a:lnTo>
                <a:lnTo>
                  <a:pt x="52959" y="28193"/>
                </a:lnTo>
                <a:lnTo>
                  <a:pt x="26162" y="68072"/>
                </a:lnTo>
                <a:lnTo>
                  <a:pt x="0" y="93090"/>
                </a:lnTo>
                <a:lnTo>
                  <a:pt x="0" y="119634"/>
                </a:lnTo>
                <a:lnTo>
                  <a:pt x="193167" y="143040"/>
                </a:lnTo>
                <a:lnTo>
                  <a:pt x="282575" y="153924"/>
                </a:lnTo>
                <a:lnTo>
                  <a:pt x="301117" y="100330"/>
                </a:lnTo>
                <a:lnTo>
                  <a:pt x="312801" y="95885"/>
                </a:lnTo>
                <a:lnTo>
                  <a:pt x="301752" y="83820"/>
                </a:lnTo>
                <a:lnTo>
                  <a:pt x="307340" y="71755"/>
                </a:lnTo>
                <a:lnTo>
                  <a:pt x="344424" y="51181"/>
                </a:lnTo>
                <a:lnTo>
                  <a:pt x="319024" y="32639"/>
                </a:lnTo>
                <a:lnTo>
                  <a:pt x="211709" y="19304"/>
                </a:lnTo>
                <a:lnTo>
                  <a:pt x="197358" y="25018"/>
                </a:lnTo>
                <a:lnTo>
                  <a:pt x="178054" y="15748"/>
                </a:lnTo>
                <a:lnTo>
                  <a:pt x="160909" y="25400"/>
                </a:lnTo>
                <a:lnTo>
                  <a:pt x="144399" y="15748"/>
                </a:lnTo>
                <a:lnTo>
                  <a:pt x="101727" y="16129"/>
                </a:lnTo>
                <a:lnTo>
                  <a:pt x="107188" y="1270"/>
                </a:lnTo>
                <a:lnTo>
                  <a:pt x="75565" y="0"/>
                </a:lnTo>
                <a:close/>
              </a:path>
            </a:pathLst>
          </a:custGeom>
          <a:ln w="45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33400" y="3705855"/>
            <a:ext cx="5741035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u="heavy" spc="-160" dirty="0">
                <a:solidFill>
                  <a:srgbClr val="EC7C30"/>
                </a:solidFill>
                <a:uFill>
                  <a:solidFill>
                    <a:srgbClr val="EC7C30"/>
                  </a:solidFill>
                </a:uFill>
                <a:latin typeface="Trebuchet MS"/>
                <a:cs typeface="Trebuchet MS"/>
              </a:rPr>
              <a:t>S</a:t>
            </a:r>
            <a:r>
              <a:rPr sz="2800" b="1" spc="-160" dirty="0">
                <a:solidFill>
                  <a:srgbClr val="EC7C30"/>
                </a:solidFill>
                <a:latin typeface="Trebuchet MS"/>
                <a:cs typeface="Trebuchet MS"/>
              </a:rPr>
              <a:t>tatistic</a:t>
            </a:r>
            <a:endParaRPr sz="2800">
              <a:latin typeface="Trebuchet MS"/>
              <a:cs typeface="Trebuchet MS"/>
            </a:endParaRPr>
          </a:p>
          <a:p>
            <a:pPr marL="12700" marR="800735">
              <a:lnSpc>
                <a:spcPct val="100000"/>
              </a:lnSpc>
              <a:spcBef>
                <a:spcPts val="40"/>
              </a:spcBef>
            </a:pPr>
            <a:r>
              <a:rPr sz="2400" spc="-250" dirty="0">
                <a:latin typeface="Arial"/>
                <a:cs typeface="Arial"/>
              </a:rPr>
              <a:t>A </a:t>
            </a:r>
            <a:r>
              <a:rPr sz="2400" spc="-90" dirty="0">
                <a:latin typeface="Arial"/>
                <a:cs typeface="Arial"/>
              </a:rPr>
              <a:t>number </a:t>
            </a:r>
            <a:r>
              <a:rPr sz="2400" spc="-5" dirty="0">
                <a:latin typeface="Arial"/>
                <a:cs typeface="Arial"/>
              </a:rPr>
              <a:t>that </a:t>
            </a:r>
            <a:r>
              <a:rPr sz="2400" spc="-150" dirty="0">
                <a:latin typeface="Arial"/>
                <a:cs typeface="Arial"/>
              </a:rPr>
              <a:t>describes </a:t>
            </a:r>
            <a:r>
              <a:rPr sz="2400" spc="-220" dirty="0">
                <a:latin typeface="Arial"/>
                <a:cs typeface="Arial"/>
              </a:rPr>
              <a:t>a </a:t>
            </a:r>
            <a:r>
              <a:rPr sz="2400" u="heavy" spc="-145" dirty="0">
                <a:solidFill>
                  <a:srgbClr val="EC7C30"/>
                </a:solidFill>
                <a:uFill>
                  <a:solidFill>
                    <a:srgbClr val="EC7C30"/>
                  </a:solidFill>
                </a:uFill>
                <a:latin typeface="Arial"/>
                <a:cs typeface="Arial"/>
              </a:rPr>
              <a:t>s</a:t>
            </a:r>
            <a:r>
              <a:rPr sz="2400" spc="-145" dirty="0">
                <a:solidFill>
                  <a:srgbClr val="EC7C30"/>
                </a:solidFill>
                <a:latin typeface="Arial"/>
                <a:cs typeface="Arial"/>
              </a:rPr>
              <a:t>ample  </a:t>
            </a:r>
            <a:r>
              <a:rPr sz="2400" spc="-95">
                <a:latin typeface="Arial"/>
                <a:cs typeface="Arial"/>
              </a:rPr>
              <a:t>characteristic</a:t>
            </a:r>
            <a:r>
              <a:rPr sz="2400" spc="-95" smtClean="0">
                <a:latin typeface="Arial"/>
                <a:cs typeface="Arial"/>
              </a:rPr>
              <a:t>.</a:t>
            </a:r>
            <a:r>
              <a:rPr lang="en-US" sz="2400" spc="-95" dirty="0" smtClean="0">
                <a:latin typeface="Arial"/>
                <a:cs typeface="Arial"/>
              </a:rPr>
              <a:t> Or any numerical value which we calculate from sample is called statistic.</a:t>
            </a:r>
            <a:endParaRPr sz="2400">
              <a:latin typeface="Arial"/>
              <a:cs typeface="Arial"/>
            </a:endParaRPr>
          </a:p>
          <a:p>
            <a:pPr marL="360045" marR="5080">
              <a:lnSpc>
                <a:spcPct val="100000"/>
              </a:lnSpc>
              <a:spcBef>
                <a:spcPts val="5"/>
              </a:spcBef>
            </a:pPr>
            <a:r>
              <a:rPr sz="2400" i="1" spc="-125" dirty="0">
                <a:latin typeface="Trebuchet MS"/>
                <a:cs typeface="Trebuchet MS"/>
              </a:rPr>
              <a:t>Average </a:t>
            </a:r>
            <a:r>
              <a:rPr sz="2400" i="1" spc="-60" dirty="0">
                <a:latin typeface="Trebuchet MS"/>
                <a:cs typeface="Trebuchet MS"/>
              </a:rPr>
              <a:t>age </a:t>
            </a:r>
            <a:r>
              <a:rPr sz="2400" i="1" spc="-175" dirty="0">
                <a:latin typeface="Trebuchet MS"/>
                <a:cs typeface="Trebuchet MS"/>
              </a:rPr>
              <a:t>of </a:t>
            </a:r>
            <a:r>
              <a:rPr sz="2400" i="1" spc="-155" dirty="0">
                <a:latin typeface="Trebuchet MS"/>
                <a:cs typeface="Trebuchet MS"/>
              </a:rPr>
              <a:t>people </a:t>
            </a:r>
            <a:r>
              <a:rPr sz="2400" i="1" spc="-170" dirty="0">
                <a:latin typeface="Trebuchet MS"/>
                <a:cs typeface="Trebuchet MS"/>
              </a:rPr>
              <a:t>from </a:t>
            </a:r>
            <a:r>
              <a:rPr sz="2400" i="1" spc="-35" dirty="0">
                <a:latin typeface="Trebuchet MS"/>
                <a:cs typeface="Trebuchet MS"/>
              </a:rPr>
              <a:t>a</a:t>
            </a:r>
            <a:r>
              <a:rPr sz="2400" i="1" spc="-615" dirty="0">
                <a:latin typeface="Trebuchet MS"/>
                <a:cs typeface="Trebuchet MS"/>
              </a:rPr>
              <a:t> </a:t>
            </a:r>
            <a:r>
              <a:rPr sz="2400" i="1" spc="-130" dirty="0">
                <a:latin typeface="Trebuchet MS"/>
                <a:cs typeface="Trebuchet MS"/>
              </a:rPr>
              <a:t>sample  </a:t>
            </a:r>
            <a:r>
              <a:rPr sz="2400" i="1" spc="-175" dirty="0">
                <a:latin typeface="Trebuchet MS"/>
                <a:cs typeface="Trebuchet MS"/>
              </a:rPr>
              <a:t>of </a:t>
            </a:r>
            <a:r>
              <a:rPr sz="2400" i="1" spc="-185" dirty="0">
                <a:latin typeface="Trebuchet MS"/>
                <a:cs typeface="Trebuchet MS"/>
              </a:rPr>
              <a:t>three</a:t>
            </a:r>
            <a:r>
              <a:rPr sz="2400" i="1" spc="-245" dirty="0">
                <a:latin typeface="Trebuchet MS"/>
                <a:cs typeface="Trebuchet MS"/>
              </a:rPr>
              <a:t> </a:t>
            </a:r>
            <a:r>
              <a:rPr sz="2400" i="1" spc="-150" dirty="0">
                <a:latin typeface="Trebuchet MS"/>
                <a:cs typeface="Trebuchet MS"/>
              </a:rPr>
              <a:t>states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51063" y="6400431"/>
            <a:ext cx="17526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200" spc="-85" dirty="0">
                <a:solidFill>
                  <a:srgbClr val="FDFDFD"/>
                </a:solidFill>
                <a:latin typeface="Arial"/>
                <a:cs typeface="Arial"/>
              </a:rPr>
              <a:t>11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4215" y="773429"/>
            <a:ext cx="356870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Branches of</a:t>
            </a:r>
            <a:r>
              <a:rPr spc="-415" dirty="0"/>
              <a:t> </a:t>
            </a:r>
            <a:r>
              <a:rPr spc="-190" dirty="0"/>
              <a:t>Statistics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5454" y="1540840"/>
            <a:ext cx="3194050" cy="3154966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770"/>
              </a:spcBef>
            </a:pPr>
            <a:r>
              <a:rPr sz="2400" b="1" spc="-5" dirty="0">
                <a:solidFill>
                  <a:srgbClr val="EC7C30"/>
                </a:solidFill>
                <a:latin typeface="Times New Roman"/>
                <a:cs typeface="Times New Roman"/>
              </a:rPr>
              <a:t>Descriptive</a:t>
            </a:r>
            <a:r>
              <a:rPr sz="2400" b="1" spc="-70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EC7C30"/>
                </a:solidFill>
                <a:latin typeface="Times New Roman"/>
                <a:cs typeface="Times New Roman"/>
              </a:rPr>
              <a:t>Statistics  </a:t>
            </a:r>
            <a:r>
              <a:rPr sz="2400" dirty="0">
                <a:latin typeface="Times New Roman"/>
                <a:cs typeface="Times New Roman"/>
              </a:rPr>
              <a:t>Involves </a:t>
            </a:r>
            <a:r>
              <a:rPr sz="2400" spc="-5" dirty="0">
                <a:latin typeface="Times New Roman"/>
                <a:cs typeface="Times New Roman"/>
              </a:rPr>
              <a:t>organizing,  summarizing, and  displaying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>
                <a:latin typeface="Times New Roman"/>
                <a:cs typeface="Times New Roman"/>
              </a:rPr>
              <a:t>data</a:t>
            </a:r>
            <a:r>
              <a:rPr sz="2400" spc="-5" smtClean="0">
                <a:latin typeface="Times New Roman"/>
                <a:cs typeface="Times New Roman"/>
              </a:rPr>
              <a:t>.</a:t>
            </a:r>
            <a:r>
              <a:rPr lang="en-US" sz="2400" spc="-5" dirty="0" smtClean="0">
                <a:latin typeface="Times New Roman"/>
                <a:cs typeface="Times New Roman"/>
              </a:rPr>
              <a:t> Descriptive statistics describe the data set but does not allow us to draw any conclusion</a:t>
            </a:r>
            <a:endParaRPr sz="2400">
              <a:latin typeface="Times New Roman"/>
              <a:cs typeface="Times New Roman"/>
            </a:endParaRPr>
          </a:p>
          <a:p>
            <a:pPr marL="12700" marR="452755">
              <a:lnSpc>
                <a:spcPts val="2690"/>
              </a:lnSpc>
              <a:tabLst>
                <a:tab pos="695960" algn="l"/>
              </a:tabLst>
            </a:pPr>
            <a:r>
              <a:rPr sz="2400" spc="-5" smtClean="0">
                <a:latin typeface="Times New Roman"/>
                <a:cs typeface="Times New Roman"/>
              </a:rPr>
              <a:t>e.g</a:t>
            </a:r>
            <a:r>
              <a:rPr sz="2400" spc="-5" dirty="0">
                <a:latin typeface="Times New Roman"/>
                <a:cs typeface="Times New Roman"/>
              </a:rPr>
              <a:t>.	</a:t>
            </a:r>
            <a:r>
              <a:rPr sz="2400" spc="-35" dirty="0">
                <a:latin typeface="Times New Roman"/>
                <a:cs typeface="Times New Roman"/>
              </a:rPr>
              <a:t>Tables, </a:t>
            </a:r>
            <a:r>
              <a:rPr sz="2400" spc="-5" dirty="0">
                <a:latin typeface="Times New Roman"/>
                <a:cs typeface="Times New Roman"/>
              </a:rPr>
              <a:t>charts,  averages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06365" y="1665223"/>
            <a:ext cx="3224530" cy="181737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765"/>
              </a:spcBef>
            </a:pPr>
            <a:r>
              <a:rPr sz="2800" b="1" spc="-10" dirty="0">
                <a:solidFill>
                  <a:srgbClr val="EC7C30"/>
                </a:solidFill>
                <a:latin typeface="Times New Roman"/>
                <a:cs typeface="Times New Roman"/>
              </a:rPr>
              <a:t>Inferential </a:t>
            </a:r>
            <a:r>
              <a:rPr sz="2800" b="1" spc="-5" dirty="0">
                <a:solidFill>
                  <a:srgbClr val="EC7C30"/>
                </a:solidFill>
                <a:latin typeface="Times New Roman"/>
                <a:cs typeface="Times New Roman"/>
              </a:rPr>
              <a:t>Statistics  </a:t>
            </a:r>
            <a:r>
              <a:rPr sz="2800" dirty="0">
                <a:latin typeface="Times New Roman"/>
                <a:cs typeface="Times New Roman"/>
              </a:rPr>
              <a:t>Involves using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sample  data </a:t>
            </a:r>
            <a:r>
              <a:rPr sz="2800" spc="-5" dirty="0">
                <a:latin typeface="Times New Roman"/>
                <a:cs typeface="Times New Roman"/>
              </a:rPr>
              <a:t>to draw  </a:t>
            </a:r>
            <a:r>
              <a:rPr sz="2800" dirty="0">
                <a:latin typeface="Times New Roman"/>
                <a:cs typeface="Times New Roman"/>
              </a:rPr>
              <a:t>conclusions </a:t>
            </a:r>
            <a:r>
              <a:rPr sz="2800" spc="-5" dirty="0">
                <a:latin typeface="Times New Roman"/>
                <a:cs typeface="Times New Roman"/>
              </a:rPr>
              <a:t>about a  </a:t>
            </a:r>
            <a:r>
              <a:rPr sz="2800" b="1" i="1" dirty="0">
                <a:latin typeface="Times New Roman"/>
                <a:cs typeface="Times New Roman"/>
              </a:rPr>
              <a:t>population.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70120" y="4654296"/>
            <a:ext cx="411099" cy="3493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11852" y="4896611"/>
            <a:ext cx="222250" cy="47625"/>
          </a:xfrm>
          <a:custGeom>
            <a:avLst/>
            <a:gdLst/>
            <a:ahLst/>
            <a:cxnLst/>
            <a:rect l="l" t="t" r="r" b="b"/>
            <a:pathLst>
              <a:path w="222250" h="47625">
                <a:moveTo>
                  <a:pt x="170307" y="0"/>
                </a:moveTo>
                <a:lnTo>
                  <a:pt x="18542" y="29210"/>
                </a:lnTo>
                <a:lnTo>
                  <a:pt x="0" y="34162"/>
                </a:lnTo>
                <a:lnTo>
                  <a:pt x="37084" y="47498"/>
                </a:lnTo>
                <a:lnTo>
                  <a:pt x="222123" y="3682"/>
                </a:lnTo>
                <a:lnTo>
                  <a:pt x="1703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12435" y="4899659"/>
            <a:ext cx="123189" cy="521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50891" y="4882896"/>
            <a:ext cx="100203" cy="720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99659" y="4645152"/>
            <a:ext cx="139953" cy="796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79264" y="5422391"/>
            <a:ext cx="170307" cy="6286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89576" y="5426964"/>
            <a:ext cx="174878" cy="5372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47844" y="5001767"/>
            <a:ext cx="262255" cy="442595"/>
          </a:xfrm>
          <a:custGeom>
            <a:avLst/>
            <a:gdLst/>
            <a:ahLst/>
            <a:cxnLst/>
            <a:rect l="l" t="t" r="r" b="b"/>
            <a:pathLst>
              <a:path w="262254" h="442595">
                <a:moveTo>
                  <a:pt x="251009" y="121284"/>
                </a:moveTo>
                <a:lnTo>
                  <a:pt x="127253" y="121284"/>
                </a:lnTo>
                <a:lnTo>
                  <a:pt x="134619" y="244982"/>
                </a:lnTo>
                <a:lnTo>
                  <a:pt x="143763" y="427989"/>
                </a:lnTo>
                <a:lnTo>
                  <a:pt x="210184" y="442340"/>
                </a:lnTo>
                <a:lnTo>
                  <a:pt x="223138" y="431545"/>
                </a:lnTo>
                <a:lnTo>
                  <a:pt x="239648" y="269874"/>
                </a:lnTo>
                <a:lnTo>
                  <a:pt x="243331" y="192658"/>
                </a:lnTo>
                <a:lnTo>
                  <a:pt x="251009" y="121284"/>
                </a:lnTo>
                <a:close/>
              </a:path>
              <a:path w="262254" h="442595">
                <a:moveTo>
                  <a:pt x="7365" y="0"/>
                </a:moveTo>
                <a:lnTo>
                  <a:pt x="0" y="39242"/>
                </a:lnTo>
                <a:lnTo>
                  <a:pt x="0" y="171195"/>
                </a:lnTo>
                <a:lnTo>
                  <a:pt x="7365" y="212851"/>
                </a:lnTo>
                <a:lnTo>
                  <a:pt x="7365" y="230631"/>
                </a:lnTo>
                <a:lnTo>
                  <a:pt x="1904" y="298449"/>
                </a:lnTo>
                <a:lnTo>
                  <a:pt x="5587" y="347217"/>
                </a:lnTo>
                <a:lnTo>
                  <a:pt x="11048" y="413765"/>
                </a:lnTo>
                <a:lnTo>
                  <a:pt x="11048" y="431545"/>
                </a:lnTo>
                <a:lnTo>
                  <a:pt x="27685" y="439927"/>
                </a:lnTo>
                <a:lnTo>
                  <a:pt x="93979" y="429259"/>
                </a:lnTo>
                <a:lnTo>
                  <a:pt x="114300" y="287781"/>
                </a:lnTo>
                <a:lnTo>
                  <a:pt x="119887" y="198500"/>
                </a:lnTo>
                <a:lnTo>
                  <a:pt x="127253" y="121284"/>
                </a:lnTo>
                <a:lnTo>
                  <a:pt x="251009" y="121284"/>
                </a:lnTo>
                <a:lnTo>
                  <a:pt x="261746" y="21462"/>
                </a:lnTo>
                <a:lnTo>
                  <a:pt x="256285" y="2412"/>
                </a:lnTo>
                <a:lnTo>
                  <a:pt x="73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69991" y="5207508"/>
            <a:ext cx="149098" cy="2411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16652" y="4914900"/>
            <a:ext cx="72898" cy="23355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22391" y="4907279"/>
            <a:ext cx="65150" cy="21831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212079" y="4661915"/>
            <a:ext cx="280035" cy="55359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274564" y="4645152"/>
            <a:ext cx="170307" cy="9182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321808" y="4771644"/>
            <a:ext cx="62230" cy="22225"/>
          </a:xfrm>
          <a:custGeom>
            <a:avLst/>
            <a:gdLst/>
            <a:ahLst/>
            <a:cxnLst/>
            <a:rect l="l" t="t" r="r" b="b"/>
            <a:pathLst>
              <a:path w="62229" h="22225">
                <a:moveTo>
                  <a:pt x="0" y="1142"/>
                </a:moveTo>
                <a:lnTo>
                  <a:pt x="12826" y="21716"/>
                </a:lnTo>
                <a:lnTo>
                  <a:pt x="31114" y="0"/>
                </a:lnTo>
                <a:lnTo>
                  <a:pt x="49402" y="21716"/>
                </a:lnTo>
                <a:lnTo>
                  <a:pt x="62229" y="2412"/>
                </a:lnTo>
                <a:lnTo>
                  <a:pt x="0" y="1142"/>
                </a:lnTo>
              </a:path>
            </a:pathLst>
          </a:custGeom>
          <a:ln w="12192">
            <a:solidFill>
              <a:srgbClr val="0000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56859" y="4776215"/>
            <a:ext cx="14859" cy="17259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56859" y="4776215"/>
            <a:ext cx="15240" cy="172720"/>
          </a:xfrm>
          <a:custGeom>
            <a:avLst/>
            <a:gdLst/>
            <a:ahLst/>
            <a:cxnLst/>
            <a:rect l="l" t="t" r="r" b="b"/>
            <a:pathLst>
              <a:path w="15239" h="172720">
                <a:moveTo>
                  <a:pt x="0" y="0"/>
                </a:moveTo>
                <a:lnTo>
                  <a:pt x="14859" y="71373"/>
                </a:lnTo>
                <a:lnTo>
                  <a:pt x="14859" y="172592"/>
                </a:lnTo>
                <a:lnTo>
                  <a:pt x="0" y="0"/>
                </a:lnTo>
              </a:path>
            </a:pathLst>
          </a:custGeom>
          <a:ln w="12192">
            <a:solidFill>
              <a:srgbClr val="0000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295900" y="4949952"/>
            <a:ext cx="120014" cy="952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295900" y="4949952"/>
            <a:ext cx="120014" cy="9525"/>
          </a:xfrm>
          <a:custGeom>
            <a:avLst/>
            <a:gdLst/>
            <a:ahLst/>
            <a:cxnLst/>
            <a:rect l="l" t="t" r="r" b="b"/>
            <a:pathLst>
              <a:path w="120014" h="9525">
                <a:moveTo>
                  <a:pt x="0" y="9525"/>
                </a:moveTo>
                <a:lnTo>
                  <a:pt x="64642" y="0"/>
                </a:lnTo>
                <a:lnTo>
                  <a:pt x="120014" y="3556"/>
                </a:lnTo>
                <a:lnTo>
                  <a:pt x="0" y="9525"/>
                </a:lnTo>
              </a:path>
            </a:pathLst>
          </a:custGeom>
          <a:ln w="12192">
            <a:solidFill>
              <a:srgbClr val="0000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62371" y="5407152"/>
            <a:ext cx="65150" cy="6438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352288" y="5401055"/>
            <a:ext cx="74295" cy="7048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640323" y="4553711"/>
            <a:ext cx="117093" cy="12687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620511" y="4547615"/>
            <a:ext cx="152146" cy="8572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605271" y="5103876"/>
            <a:ext cx="164211" cy="26555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559552" y="4811267"/>
            <a:ext cx="72898" cy="23355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554979" y="4668011"/>
            <a:ext cx="280035" cy="45910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554979" y="4668011"/>
            <a:ext cx="280035" cy="459105"/>
          </a:xfrm>
          <a:custGeom>
            <a:avLst/>
            <a:gdLst/>
            <a:ahLst/>
            <a:cxnLst/>
            <a:rect l="l" t="t" r="r" b="b"/>
            <a:pathLst>
              <a:path w="280035" h="459104">
                <a:moveTo>
                  <a:pt x="110617" y="0"/>
                </a:moveTo>
                <a:lnTo>
                  <a:pt x="44196" y="23749"/>
                </a:lnTo>
                <a:lnTo>
                  <a:pt x="35052" y="30861"/>
                </a:lnTo>
                <a:lnTo>
                  <a:pt x="0" y="145033"/>
                </a:lnTo>
                <a:lnTo>
                  <a:pt x="53467" y="149860"/>
                </a:lnTo>
                <a:lnTo>
                  <a:pt x="60833" y="121285"/>
                </a:lnTo>
                <a:lnTo>
                  <a:pt x="81025" y="180720"/>
                </a:lnTo>
                <a:lnTo>
                  <a:pt x="46100" y="258063"/>
                </a:lnTo>
                <a:lnTo>
                  <a:pt x="46100" y="313944"/>
                </a:lnTo>
                <a:lnTo>
                  <a:pt x="53467" y="353187"/>
                </a:lnTo>
                <a:lnTo>
                  <a:pt x="69977" y="409067"/>
                </a:lnTo>
                <a:lnTo>
                  <a:pt x="86614" y="451865"/>
                </a:lnTo>
                <a:lnTo>
                  <a:pt x="138175" y="459105"/>
                </a:lnTo>
                <a:lnTo>
                  <a:pt x="143764" y="451865"/>
                </a:lnTo>
                <a:lnTo>
                  <a:pt x="193548" y="450723"/>
                </a:lnTo>
                <a:lnTo>
                  <a:pt x="210058" y="397256"/>
                </a:lnTo>
                <a:lnTo>
                  <a:pt x="224790" y="327025"/>
                </a:lnTo>
                <a:lnTo>
                  <a:pt x="237744" y="255650"/>
                </a:lnTo>
                <a:lnTo>
                  <a:pt x="206375" y="174879"/>
                </a:lnTo>
                <a:lnTo>
                  <a:pt x="217424" y="129667"/>
                </a:lnTo>
                <a:lnTo>
                  <a:pt x="224790" y="146304"/>
                </a:lnTo>
                <a:lnTo>
                  <a:pt x="280035" y="136779"/>
                </a:lnTo>
                <a:lnTo>
                  <a:pt x="237744" y="29718"/>
                </a:lnTo>
                <a:lnTo>
                  <a:pt x="165862" y="0"/>
                </a:lnTo>
                <a:lnTo>
                  <a:pt x="163957" y="3556"/>
                </a:lnTo>
                <a:lnTo>
                  <a:pt x="154812" y="7112"/>
                </a:lnTo>
                <a:lnTo>
                  <a:pt x="147447" y="8381"/>
                </a:lnTo>
                <a:lnTo>
                  <a:pt x="140081" y="8381"/>
                </a:lnTo>
                <a:lnTo>
                  <a:pt x="130810" y="8381"/>
                </a:lnTo>
                <a:lnTo>
                  <a:pt x="123444" y="7112"/>
                </a:lnTo>
                <a:lnTo>
                  <a:pt x="114300" y="3556"/>
                </a:lnTo>
                <a:lnTo>
                  <a:pt x="110617" y="0"/>
                </a:lnTo>
              </a:path>
            </a:pathLst>
          </a:custGeom>
          <a:ln w="12192">
            <a:solidFill>
              <a:srgbClr val="FF1F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506968" y="5137403"/>
            <a:ext cx="149098" cy="24117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452104" y="4844796"/>
            <a:ext cx="74295" cy="23355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660892" y="4837176"/>
            <a:ext cx="65150" cy="21831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449056" y="4591811"/>
            <a:ext cx="281559" cy="55359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511540" y="4575047"/>
            <a:ext cx="171830" cy="9182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558783" y="4701540"/>
            <a:ext cx="62230" cy="22225"/>
          </a:xfrm>
          <a:custGeom>
            <a:avLst/>
            <a:gdLst/>
            <a:ahLst/>
            <a:cxnLst/>
            <a:rect l="l" t="t" r="r" b="b"/>
            <a:pathLst>
              <a:path w="62229" h="22225">
                <a:moveTo>
                  <a:pt x="0" y="1143"/>
                </a:moveTo>
                <a:lnTo>
                  <a:pt x="12826" y="21717"/>
                </a:lnTo>
                <a:lnTo>
                  <a:pt x="31115" y="0"/>
                </a:lnTo>
                <a:lnTo>
                  <a:pt x="49402" y="21717"/>
                </a:lnTo>
                <a:lnTo>
                  <a:pt x="62230" y="2412"/>
                </a:lnTo>
                <a:lnTo>
                  <a:pt x="0" y="1143"/>
                </a:lnTo>
              </a:path>
            </a:pathLst>
          </a:custGeom>
          <a:ln w="12192">
            <a:solidFill>
              <a:srgbClr val="0000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593835" y="4706111"/>
            <a:ext cx="14859" cy="174117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593835" y="4706111"/>
            <a:ext cx="15240" cy="174625"/>
          </a:xfrm>
          <a:custGeom>
            <a:avLst/>
            <a:gdLst/>
            <a:ahLst/>
            <a:cxnLst/>
            <a:rect l="l" t="t" r="r" b="b"/>
            <a:pathLst>
              <a:path w="15240" h="174625">
                <a:moveTo>
                  <a:pt x="0" y="0"/>
                </a:moveTo>
                <a:lnTo>
                  <a:pt x="14859" y="72008"/>
                </a:lnTo>
                <a:lnTo>
                  <a:pt x="14859" y="174117"/>
                </a:lnTo>
                <a:lnTo>
                  <a:pt x="0" y="0"/>
                </a:lnTo>
              </a:path>
            </a:pathLst>
          </a:custGeom>
          <a:ln w="12192">
            <a:solidFill>
              <a:srgbClr val="0000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532876" y="4879847"/>
            <a:ext cx="120015" cy="952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532876" y="4879847"/>
            <a:ext cx="120014" cy="9525"/>
          </a:xfrm>
          <a:custGeom>
            <a:avLst/>
            <a:gdLst/>
            <a:ahLst/>
            <a:cxnLst/>
            <a:rect l="l" t="t" r="r" b="b"/>
            <a:pathLst>
              <a:path w="120015" h="9525">
                <a:moveTo>
                  <a:pt x="0" y="9525"/>
                </a:moveTo>
                <a:lnTo>
                  <a:pt x="64643" y="0"/>
                </a:lnTo>
                <a:lnTo>
                  <a:pt x="120015" y="3556"/>
                </a:lnTo>
                <a:lnTo>
                  <a:pt x="0" y="9525"/>
                </a:lnTo>
              </a:path>
            </a:pathLst>
          </a:custGeom>
          <a:ln w="12192">
            <a:solidFill>
              <a:srgbClr val="0000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499347" y="5337047"/>
            <a:ext cx="65150" cy="65913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589264" y="5330952"/>
            <a:ext cx="74294" cy="72009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273795" y="4989576"/>
            <a:ext cx="49910" cy="7810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066531" y="4981955"/>
            <a:ext cx="45466" cy="64388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226552" y="5315711"/>
            <a:ext cx="138430" cy="55244"/>
          </a:xfrm>
          <a:custGeom>
            <a:avLst/>
            <a:gdLst/>
            <a:ahLst/>
            <a:cxnLst/>
            <a:rect l="l" t="t" r="r" b="b"/>
            <a:pathLst>
              <a:path w="138429" h="55245">
                <a:moveTo>
                  <a:pt x="68199" y="0"/>
                </a:moveTo>
                <a:lnTo>
                  <a:pt x="1904" y="2412"/>
                </a:lnTo>
                <a:lnTo>
                  <a:pt x="0" y="27559"/>
                </a:lnTo>
                <a:lnTo>
                  <a:pt x="7366" y="32384"/>
                </a:lnTo>
                <a:lnTo>
                  <a:pt x="33147" y="34797"/>
                </a:lnTo>
                <a:lnTo>
                  <a:pt x="55372" y="43179"/>
                </a:lnTo>
                <a:lnTo>
                  <a:pt x="88519" y="52831"/>
                </a:lnTo>
                <a:lnTo>
                  <a:pt x="114426" y="55244"/>
                </a:lnTo>
                <a:lnTo>
                  <a:pt x="138302" y="50418"/>
                </a:lnTo>
                <a:lnTo>
                  <a:pt x="136525" y="43179"/>
                </a:lnTo>
                <a:lnTo>
                  <a:pt x="110744" y="29971"/>
                </a:lnTo>
                <a:lnTo>
                  <a:pt x="90424" y="14350"/>
                </a:lnTo>
                <a:lnTo>
                  <a:pt x="681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026907" y="5343144"/>
            <a:ext cx="88265" cy="61594"/>
          </a:xfrm>
          <a:custGeom>
            <a:avLst/>
            <a:gdLst/>
            <a:ahLst/>
            <a:cxnLst/>
            <a:rect l="l" t="t" r="r" b="b"/>
            <a:pathLst>
              <a:path w="88265" h="61595">
                <a:moveTo>
                  <a:pt x="39370" y="0"/>
                </a:moveTo>
                <a:lnTo>
                  <a:pt x="37465" y="5841"/>
                </a:lnTo>
                <a:lnTo>
                  <a:pt x="16891" y="22351"/>
                </a:lnTo>
                <a:lnTo>
                  <a:pt x="1905" y="37718"/>
                </a:lnTo>
                <a:lnTo>
                  <a:pt x="0" y="50672"/>
                </a:lnTo>
                <a:lnTo>
                  <a:pt x="7493" y="60070"/>
                </a:lnTo>
                <a:lnTo>
                  <a:pt x="20574" y="61340"/>
                </a:lnTo>
                <a:lnTo>
                  <a:pt x="35560" y="58927"/>
                </a:lnTo>
                <a:lnTo>
                  <a:pt x="52450" y="51815"/>
                </a:lnTo>
                <a:lnTo>
                  <a:pt x="73025" y="38861"/>
                </a:lnTo>
                <a:lnTo>
                  <a:pt x="74930" y="25907"/>
                </a:lnTo>
                <a:lnTo>
                  <a:pt x="88011" y="17652"/>
                </a:lnTo>
                <a:lnTo>
                  <a:pt x="86106" y="1142"/>
                </a:lnTo>
                <a:lnTo>
                  <a:pt x="393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973568" y="4608576"/>
            <a:ext cx="531495" cy="812673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090916" y="4608576"/>
            <a:ext cx="211836" cy="252983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752588" y="4480559"/>
            <a:ext cx="516254" cy="350900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665976" y="4509515"/>
            <a:ext cx="156591" cy="152781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640068" y="5024628"/>
            <a:ext cx="185547" cy="364617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851904" y="4934711"/>
            <a:ext cx="40767" cy="4152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740652" y="5027676"/>
            <a:ext cx="15240" cy="145415"/>
          </a:xfrm>
          <a:custGeom>
            <a:avLst/>
            <a:gdLst/>
            <a:ahLst/>
            <a:cxnLst/>
            <a:rect l="l" t="t" r="r" b="b"/>
            <a:pathLst>
              <a:path w="15240" h="145414">
                <a:moveTo>
                  <a:pt x="14858" y="0"/>
                </a:moveTo>
                <a:lnTo>
                  <a:pt x="14858" y="48768"/>
                </a:lnTo>
                <a:lnTo>
                  <a:pt x="11175" y="77343"/>
                </a:lnTo>
                <a:lnTo>
                  <a:pt x="7493" y="108204"/>
                </a:lnTo>
                <a:lnTo>
                  <a:pt x="0" y="137922"/>
                </a:lnTo>
                <a:lnTo>
                  <a:pt x="1904" y="145161"/>
                </a:lnTo>
                <a:lnTo>
                  <a:pt x="14858" y="0"/>
                </a:lnTo>
              </a:path>
            </a:pathLst>
          </a:custGeom>
          <a:ln w="12191">
            <a:solidFill>
              <a:srgbClr val="FF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603492" y="4643628"/>
            <a:ext cx="293750" cy="410210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664452" y="4832603"/>
            <a:ext cx="111125" cy="134620"/>
          </a:xfrm>
          <a:custGeom>
            <a:avLst/>
            <a:gdLst/>
            <a:ahLst/>
            <a:cxnLst/>
            <a:rect l="l" t="t" r="r" b="b"/>
            <a:pathLst>
              <a:path w="111125" h="134620">
                <a:moveTo>
                  <a:pt x="0" y="134493"/>
                </a:moveTo>
                <a:lnTo>
                  <a:pt x="109093" y="127254"/>
                </a:lnTo>
                <a:lnTo>
                  <a:pt x="110871" y="0"/>
                </a:lnTo>
              </a:path>
            </a:pathLst>
          </a:custGeom>
          <a:ln w="12192">
            <a:solidFill>
              <a:srgbClr val="9F3E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647688" y="4847844"/>
            <a:ext cx="126364" cy="34290"/>
          </a:xfrm>
          <a:custGeom>
            <a:avLst/>
            <a:gdLst/>
            <a:ahLst/>
            <a:cxnLst/>
            <a:rect l="l" t="t" r="r" b="b"/>
            <a:pathLst>
              <a:path w="126365" h="34289">
                <a:moveTo>
                  <a:pt x="0" y="33781"/>
                </a:moveTo>
                <a:lnTo>
                  <a:pt x="44576" y="24129"/>
                </a:lnTo>
                <a:lnTo>
                  <a:pt x="126110" y="0"/>
                </a:lnTo>
              </a:path>
            </a:pathLst>
          </a:custGeom>
          <a:ln w="12192">
            <a:solidFill>
              <a:srgbClr val="9F3E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582156" y="4722876"/>
            <a:ext cx="241935" cy="308229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158228" y="4523232"/>
            <a:ext cx="118491" cy="126873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136892" y="4517135"/>
            <a:ext cx="155066" cy="85725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123176" y="5073396"/>
            <a:ext cx="164338" cy="265557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075931" y="4780788"/>
            <a:ext cx="74295" cy="233553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072883" y="4636008"/>
            <a:ext cx="281559" cy="460629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072883" y="4636008"/>
            <a:ext cx="281940" cy="461009"/>
          </a:xfrm>
          <a:custGeom>
            <a:avLst/>
            <a:gdLst/>
            <a:ahLst/>
            <a:cxnLst/>
            <a:rect l="l" t="t" r="r" b="b"/>
            <a:pathLst>
              <a:path w="281940" h="461010">
                <a:moveTo>
                  <a:pt x="111125" y="0"/>
                </a:moveTo>
                <a:lnTo>
                  <a:pt x="44450" y="23876"/>
                </a:lnTo>
                <a:lnTo>
                  <a:pt x="35179" y="30988"/>
                </a:lnTo>
                <a:lnTo>
                  <a:pt x="0" y="145542"/>
                </a:lnTo>
                <a:lnTo>
                  <a:pt x="53721" y="150368"/>
                </a:lnTo>
                <a:lnTo>
                  <a:pt x="61087" y="121666"/>
                </a:lnTo>
                <a:lnTo>
                  <a:pt x="81534" y="181356"/>
                </a:lnTo>
                <a:lnTo>
                  <a:pt x="46355" y="258953"/>
                </a:lnTo>
                <a:lnTo>
                  <a:pt x="46355" y="314960"/>
                </a:lnTo>
                <a:lnTo>
                  <a:pt x="53721" y="354330"/>
                </a:lnTo>
                <a:lnTo>
                  <a:pt x="70358" y="410464"/>
                </a:lnTo>
                <a:lnTo>
                  <a:pt x="87122" y="453390"/>
                </a:lnTo>
                <a:lnTo>
                  <a:pt x="138938" y="460629"/>
                </a:lnTo>
                <a:lnTo>
                  <a:pt x="144525" y="453390"/>
                </a:lnTo>
                <a:lnTo>
                  <a:pt x="194564" y="452247"/>
                </a:lnTo>
                <a:lnTo>
                  <a:pt x="211200" y="398526"/>
                </a:lnTo>
                <a:lnTo>
                  <a:pt x="226060" y="328168"/>
                </a:lnTo>
                <a:lnTo>
                  <a:pt x="239014" y="256540"/>
                </a:lnTo>
                <a:lnTo>
                  <a:pt x="207518" y="175387"/>
                </a:lnTo>
                <a:lnTo>
                  <a:pt x="218567" y="130048"/>
                </a:lnTo>
                <a:lnTo>
                  <a:pt x="226060" y="146812"/>
                </a:lnTo>
                <a:lnTo>
                  <a:pt x="281559" y="137160"/>
                </a:lnTo>
                <a:lnTo>
                  <a:pt x="239014" y="29845"/>
                </a:lnTo>
                <a:lnTo>
                  <a:pt x="166750" y="0"/>
                </a:lnTo>
                <a:lnTo>
                  <a:pt x="164846" y="3556"/>
                </a:lnTo>
                <a:lnTo>
                  <a:pt x="155575" y="7112"/>
                </a:lnTo>
                <a:lnTo>
                  <a:pt x="148209" y="8382"/>
                </a:lnTo>
                <a:lnTo>
                  <a:pt x="140843" y="8382"/>
                </a:lnTo>
                <a:lnTo>
                  <a:pt x="131572" y="8382"/>
                </a:lnTo>
                <a:lnTo>
                  <a:pt x="124079" y="7112"/>
                </a:lnTo>
                <a:lnTo>
                  <a:pt x="114808" y="3556"/>
                </a:lnTo>
                <a:lnTo>
                  <a:pt x="111125" y="0"/>
                </a:lnTo>
              </a:path>
            </a:pathLst>
          </a:custGeom>
          <a:ln w="12192">
            <a:solidFill>
              <a:srgbClr val="FF1F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322819" y="4498847"/>
            <a:ext cx="156590" cy="212216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298435" y="5013959"/>
            <a:ext cx="184023" cy="364616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508747" y="4924044"/>
            <a:ext cx="40767" cy="4152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397495" y="5017008"/>
            <a:ext cx="15240" cy="145415"/>
          </a:xfrm>
          <a:custGeom>
            <a:avLst/>
            <a:gdLst/>
            <a:ahLst/>
            <a:cxnLst/>
            <a:rect l="l" t="t" r="r" b="b"/>
            <a:pathLst>
              <a:path w="15240" h="145414">
                <a:moveTo>
                  <a:pt x="14858" y="0"/>
                </a:moveTo>
                <a:lnTo>
                  <a:pt x="14858" y="48006"/>
                </a:lnTo>
                <a:lnTo>
                  <a:pt x="11175" y="76708"/>
                </a:lnTo>
                <a:lnTo>
                  <a:pt x="7493" y="107950"/>
                </a:lnTo>
                <a:lnTo>
                  <a:pt x="0" y="137922"/>
                </a:lnTo>
                <a:lnTo>
                  <a:pt x="1904" y="145161"/>
                </a:lnTo>
                <a:lnTo>
                  <a:pt x="14858" y="0"/>
                </a:lnTo>
              </a:path>
            </a:pathLst>
          </a:custGeom>
          <a:ln w="12191">
            <a:solidFill>
              <a:srgbClr val="FF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260335" y="4645152"/>
            <a:ext cx="295275" cy="638937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321295" y="4820411"/>
            <a:ext cx="111125" cy="136525"/>
          </a:xfrm>
          <a:custGeom>
            <a:avLst/>
            <a:gdLst/>
            <a:ahLst/>
            <a:cxnLst/>
            <a:rect l="l" t="t" r="r" b="b"/>
            <a:pathLst>
              <a:path w="111125" h="136525">
                <a:moveTo>
                  <a:pt x="0" y="136017"/>
                </a:moveTo>
                <a:lnTo>
                  <a:pt x="107187" y="128777"/>
                </a:lnTo>
                <a:lnTo>
                  <a:pt x="110871" y="0"/>
                </a:lnTo>
              </a:path>
            </a:pathLst>
          </a:custGeom>
          <a:ln w="12192">
            <a:solidFill>
              <a:srgbClr val="5F3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304531" y="4837176"/>
            <a:ext cx="126364" cy="34290"/>
          </a:xfrm>
          <a:custGeom>
            <a:avLst/>
            <a:gdLst/>
            <a:ahLst/>
            <a:cxnLst/>
            <a:rect l="l" t="t" r="r" b="b"/>
            <a:pathLst>
              <a:path w="126365" h="34289">
                <a:moveTo>
                  <a:pt x="0" y="33781"/>
                </a:moveTo>
                <a:lnTo>
                  <a:pt x="44576" y="24130"/>
                </a:lnTo>
                <a:lnTo>
                  <a:pt x="126111" y="0"/>
                </a:lnTo>
              </a:path>
            </a:pathLst>
          </a:custGeom>
          <a:ln w="12192">
            <a:solidFill>
              <a:srgbClr val="5F3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298435" y="4712208"/>
            <a:ext cx="182499" cy="157353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394447" y="4975859"/>
            <a:ext cx="16510" cy="232410"/>
          </a:xfrm>
          <a:custGeom>
            <a:avLst/>
            <a:gdLst/>
            <a:ahLst/>
            <a:cxnLst/>
            <a:rect l="l" t="t" r="r" b="b"/>
            <a:pathLst>
              <a:path w="16509" h="232410">
                <a:moveTo>
                  <a:pt x="16509" y="0"/>
                </a:moveTo>
                <a:lnTo>
                  <a:pt x="10922" y="124332"/>
                </a:lnTo>
                <a:lnTo>
                  <a:pt x="0" y="232028"/>
                </a:lnTo>
              </a:path>
            </a:pathLst>
          </a:custGeom>
          <a:ln w="12192">
            <a:solidFill>
              <a:srgbClr val="5F3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895843" y="4722876"/>
            <a:ext cx="222250" cy="47625"/>
          </a:xfrm>
          <a:custGeom>
            <a:avLst/>
            <a:gdLst/>
            <a:ahLst/>
            <a:cxnLst/>
            <a:rect l="l" t="t" r="r" b="b"/>
            <a:pathLst>
              <a:path w="222250" h="47625">
                <a:moveTo>
                  <a:pt x="170306" y="0"/>
                </a:moveTo>
                <a:lnTo>
                  <a:pt x="18541" y="29210"/>
                </a:lnTo>
                <a:lnTo>
                  <a:pt x="0" y="34162"/>
                </a:lnTo>
                <a:lnTo>
                  <a:pt x="37083" y="47498"/>
                </a:lnTo>
                <a:lnTo>
                  <a:pt x="222123" y="3682"/>
                </a:lnTo>
                <a:lnTo>
                  <a:pt x="1703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994904" y="4725923"/>
            <a:ext cx="124587" cy="52196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7833359" y="4709159"/>
            <a:ext cx="100203" cy="72008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882128" y="4471415"/>
            <a:ext cx="141350" cy="79628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761731" y="5248655"/>
            <a:ext cx="170307" cy="62865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830311" y="4828032"/>
            <a:ext cx="263525" cy="443865"/>
          </a:xfrm>
          <a:custGeom>
            <a:avLst/>
            <a:gdLst/>
            <a:ahLst/>
            <a:cxnLst/>
            <a:rect l="l" t="t" r="r" b="b"/>
            <a:pathLst>
              <a:path w="263525" h="443864">
                <a:moveTo>
                  <a:pt x="252458" y="121666"/>
                </a:moveTo>
                <a:lnTo>
                  <a:pt x="127889" y="121666"/>
                </a:lnTo>
                <a:lnTo>
                  <a:pt x="135382" y="245745"/>
                </a:lnTo>
                <a:lnTo>
                  <a:pt x="144653" y="429514"/>
                </a:lnTo>
                <a:lnTo>
                  <a:pt x="211455" y="443865"/>
                </a:lnTo>
                <a:lnTo>
                  <a:pt x="224409" y="433070"/>
                </a:lnTo>
                <a:lnTo>
                  <a:pt x="241046" y="270764"/>
                </a:lnTo>
                <a:lnTo>
                  <a:pt x="244729" y="193294"/>
                </a:lnTo>
                <a:lnTo>
                  <a:pt x="252458" y="121666"/>
                </a:lnTo>
                <a:close/>
              </a:path>
              <a:path w="263525" h="443864">
                <a:moveTo>
                  <a:pt x="7366" y="0"/>
                </a:moveTo>
                <a:lnTo>
                  <a:pt x="0" y="39370"/>
                </a:lnTo>
                <a:lnTo>
                  <a:pt x="0" y="171831"/>
                </a:lnTo>
                <a:lnTo>
                  <a:pt x="7366" y="213614"/>
                </a:lnTo>
                <a:lnTo>
                  <a:pt x="7366" y="231394"/>
                </a:lnTo>
                <a:lnTo>
                  <a:pt x="1905" y="299466"/>
                </a:lnTo>
                <a:lnTo>
                  <a:pt x="5588" y="348361"/>
                </a:lnTo>
                <a:lnTo>
                  <a:pt x="11176" y="415163"/>
                </a:lnTo>
                <a:lnTo>
                  <a:pt x="11176" y="433070"/>
                </a:lnTo>
                <a:lnTo>
                  <a:pt x="27813" y="441452"/>
                </a:lnTo>
                <a:lnTo>
                  <a:pt x="94615" y="430657"/>
                </a:lnTo>
                <a:lnTo>
                  <a:pt x="114935" y="288671"/>
                </a:lnTo>
                <a:lnTo>
                  <a:pt x="120523" y="199263"/>
                </a:lnTo>
                <a:lnTo>
                  <a:pt x="127889" y="121666"/>
                </a:lnTo>
                <a:lnTo>
                  <a:pt x="252458" y="121666"/>
                </a:lnTo>
                <a:lnTo>
                  <a:pt x="263271" y="21463"/>
                </a:lnTo>
                <a:lnTo>
                  <a:pt x="257810" y="2413"/>
                </a:lnTo>
                <a:lnTo>
                  <a:pt x="73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374891" y="4820411"/>
            <a:ext cx="74295" cy="233552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370320" y="4675632"/>
            <a:ext cx="283082" cy="353949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370320" y="4675632"/>
            <a:ext cx="283210" cy="354330"/>
          </a:xfrm>
          <a:custGeom>
            <a:avLst/>
            <a:gdLst/>
            <a:ahLst/>
            <a:cxnLst/>
            <a:rect l="l" t="t" r="r" b="b"/>
            <a:pathLst>
              <a:path w="283209" h="354329">
                <a:moveTo>
                  <a:pt x="115442" y="0"/>
                </a:moveTo>
                <a:lnTo>
                  <a:pt x="44703" y="23876"/>
                </a:lnTo>
                <a:lnTo>
                  <a:pt x="37210" y="32131"/>
                </a:lnTo>
                <a:lnTo>
                  <a:pt x="0" y="145415"/>
                </a:lnTo>
                <a:lnTo>
                  <a:pt x="5587" y="265684"/>
                </a:lnTo>
                <a:lnTo>
                  <a:pt x="50291" y="256159"/>
                </a:lnTo>
                <a:lnTo>
                  <a:pt x="53975" y="150114"/>
                </a:lnTo>
                <a:lnTo>
                  <a:pt x="61467" y="121539"/>
                </a:lnTo>
                <a:lnTo>
                  <a:pt x="63372" y="183515"/>
                </a:lnTo>
                <a:lnTo>
                  <a:pt x="50291" y="291973"/>
                </a:lnTo>
                <a:lnTo>
                  <a:pt x="70738" y="291973"/>
                </a:lnTo>
                <a:lnTo>
                  <a:pt x="68960" y="328930"/>
                </a:lnTo>
                <a:lnTo>
                  <a:pt x="70738" y="350266"/>
                </a:lnTo>
                <a:lnTo>
                  <a:pt x="145287" y="353949"/>
                </a:lnTo>
                <a:lnTo>
                  <a:pt x="203073" y="345567"/>
                </a:lnTo>
                <a:lnTo>
                  <a:pt x="238378" y="344424"/>
                </a:lnTo>
                <a:lnTo>
                  <a:pt x="234696" y="284734"/>
                </a:lnTo>
                <a:lnTo>
                  <a:pt x="238378" y="256159"/>
                </a:lnTo>
                <a:lnTo>
                  <a:pt x="221614" y="173990"/>
                </a:lnTo>
                <a:lnTo>
                  <a:pt x="219836" y="129921"/>
                </a:lnTo>
                <a:lnTo>
                  <a:pt x="227202" y="146558"/>
                </a:lnTo>
                <a:lnTo>
                  <a:pt x="234696" y="241935"/>
                </a:lnTo>
                <a:lnTo>
                  <a:pt x="270128" y="247904"/>
                </a:lnTo>
                <a:lnTo>
                  <a:pt x="283082" y="137033"/>
                </a:lnTo>
                <a:lnTo>
                  <a:pt x="240283" y="30988"/>
                </a:lnTo>
                <a:lnTo>
                  <a:pt x="169545" y="0"/>
                </a:lnTo>
                <a:lnTo>
                  <a:pt x="115442" y="0"/>
                </a:lnTo>
              </a:path>
            </a:pathLst>
          </a:custGeom>
          <a:ln w="12192">
            <a:solidFill>
              <a:srgbClr val="9FBE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428232" y="5018532"/>
            <a:ext cx="162687" cy="335661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448044" y="4671059"/>
            <a:ext cx="132207" cy="200024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420611" y="5312664"/>
            <a:ext cx="65150" cy="64389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513576" y="5306567"/>
            <a:ext cx="72771" cy="70484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441947" y="4558284"/>
            <a:ext cx="153543" cy="119253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491983" y="5306567"/>
            <a:ext cx="123189" cy="60325"/>
          </a:xfrm>
          <a:custGeom>
            <a:avLst/>
            <a:gdLst/>
            <a:ahLst/>
            <a:cxnLst/>
            <a:rect l="l" t="t" r="r" b="b"/>
            <a:pathLst>
              <a:path w="123190" h="60325">
                <a:moveTo>
                  <a:pt x="117475" y="0"/>
                </a:moveTo>
                <a:lnTo>
                  <a:pt x="83947" y="10794"/>
                </a:lnTo>
                <a:lnTo>
                  <a:pt x="46609" y="11937"/>
                </a:lnTo>
                <a:lnTo>
                  <a:pt x="18669" y="28701"/>
                </a:lnTo>
                <a:lnTo>
                  <a:pt x="0" y="44195"/>
                </a:lnTo>
                <a:lnTo>
                  <a:pt x="1905" y="54990"/>
                </a:lnTo>
                <a:lnTo>
                  <a:pt x="14859" y="59816"/>
                </a:lnTo>
                <a:lnTo>
                  <a:pt x="54101" y="58546"/>
                </a:lnTo>
                <a:lnTo>
                  <a:pt x="76454" y="51434"/>
                </a:lnTo>
                <a:lnTo>
                  <a:pt x="87630" y="39496"/>
                </a:lnTo>
                <a:lnTo>
                  <a:pt x="121285" y="29844"/>
                </a:lnTo>
                <a:lnTo>
                  <a:pt x="123063" y="14350"/>
                </a:lnTo>
                <a:lnTo>
                  <a:pt x="117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744968" y="5291328"/>
            <a:ext cx="137160" cy="61594"/>
          </a:xfrm>
          <a:custGeom>
            <a:avLst/>
            <a:gdLst/>
            <a:ahLst/>
            <a:cxnLst/>
            <a:rect l="l" t="t" r="r" b="b"/>
            <a:pathLst>
              <a:path w="137159" h="61595">
                <a:moveTo>
                  <a:pt x="57276" y="0"/>
                </a:moveTo>
                <a:lnTo>
                  <a:pt x="1904" y="3556"/>
                </a:lnTo>
                <a:lnTo>
                  <a:pt x="0" y="28321"/>
                </a:lnTo>
                <a:lnTo>
                  <a:pt x="18541" y="37719"/>
                </a:lnTo>
                <a:lnTo>
                  <a:pt x="36956" y="41275"/>
                </a:lnTo>
                <a:lnTo>
                  <a:pt x="72135" y="54229"/>
                </a:lnTo>
                <a:lnTo>
                  <a:pt x="110998" y="61341"/>
                </a:lnTo>
                <a:lnTo>
                  <a:pt x="125729" y="58928"/>
                </a:lnTo>
                <a:lnTo>
                  <a:pt x="136778" y="55372"/>
                </a:lnTo>
                <a:lnTo>
                  <a:pt x="136778" y="49530"/>
                </a:lnTo>
                <a:lnTo>
                  <a:pt x="122047" y="35306"/>
                </a:lnTo>
                <a:lnTo>
                  <a:pt x="90550" y="21209"/>
                </a:lnTo>
                <a:lnTo>
                  <a:pt x="66548" y="8255"/>
                </a:lnTo>
                <a:lnTo>
                  <a:pt x="572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533131" y="4629911"/>
            <a:ext cx="278511" cy="222885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650480" y="4655820"/>
            <a:ext cx="69850" cy="23495"/>
          </a:xfrm>
          <a:custGeom>
            <a:avLst/>
            <a:gdLst/>
            <a:ahLst/>
            <a:cxnLst/>
            <a:rect l="l" t="t" r="r" b="b"/>
            <a:pathLst>
              <a:path w="69850" h="23495">
                <a:moveTo>
                  <a:pt x="0" y="23240"/>
                </a:moveTo>
                <a:lnTo>
                  <a:pt x="38608" y="0"/>
                </a:lnTo>
                <a:lnTo>
                  <a:pt x="69850" y="18541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476743" y="4521708"/>
            <a:ext cx="440054" cy="805053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801611" y="5312664"/>
            <a:ext cx="140335" cy="53975"/>
          </a:xfrm>
          <a:custGeom>
            <a:avLst/>
            <a:gdLst/>
            <a:ahLst/>
            <a:cxnLst/>
            <a:rect l="l" t="t" r="r" b="b"/>
            <a:pathLst>
              <a:path w="140334" h="53975">
                <a:moveTo>
                  <a:pt x="70866" y="0"/>
                </a:moveTo>
                <a:lnTo>
                  <a:pt x="48514" y="13970"/>
                </a:lnTo>
                <a:lnTo>
                  <a:pt x="27940" y="29210"/>
                </a:lnTo>
                <a:lnTo>
                  <a:pt x="1905" y="42037"/>
                </a:lnTo>
                <a:lnTo>
                  <a:pt x="0" y="49022"/>
                </a:lnTo>
                <a:lnTo>
                  <a:pt x="24257" y="53721"/>
                </a:lnTo>
                <a:lnTo>
                  <a:pt x="50292" y="51308"/>
                </a:lnTo>
                <a:lnTo>
                  <a:pt x="83947" y="42037"/>
                </a:lnTo>
                <a:lnTo>
                  <a:pt x="106299" y="33909"/>
                </a:lnTo>
                <a:lnTo>
                  <a:pt x="132461" y="31496"/>
                </a:lnTo>
                <a:lnTo>
                  <a:pt x="139827" y="28067"/>
                </a:lnTo>
                <a:lnTo>
                  <a:pt x="138049" y="2286"/>
                </a:lnTo>
                <a:lnTo>
                  <a:pt x="708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051547" y="5340096"/>
            <a:ext cx="88265" cy="61594"/>
          </a:xfrm>
          <a:custGeom>
            <a:avLst/>
            <a:gdLst/>
            <a:ahLst/>
            <a:cxnLst/>
            <a:rect l="l" t="t" r="r" b="b"/>
            <a:pathLst>
              <a:path w="88265" h="61595">
                <a:moveTo>
                  <a:pt x="48641" y="0"/>
                </a:moveTo>
                <a:lnTo>
                  <a:pt x="0" y="1142"/>
                </a:lnTo>
                <a:lnTo>
                  <a:pt x="0" y="16763"/>
                </a:lnTo>
                <a:lnTo>
                  <a:pt x="11175" y="25272"/>
                </a:lnTo>
                <a:lnTo>
                  <a:pt x="14985" y="38480"/>
                </a:lnTo>
                <a:lnTo>
                  <a:pt x="33654" y="51688"/>
                </a:lnTo>
                <a:lnTo>
                  <a:pt x="50546" y="58927"/>
                </a:lnTo>
                <a:lnTo>
                  <a:pt x="65531" y="61340"/>
                </a:lnTo>
                <a:lnTo>
                  <a:pt x="80518" y="60070"/>
                </a:lnTo>
                <a:lnTo>
                  <a:pt x="88010" y="50418"/>
                </a:lnTo>
                <a:lnTo>
                  <a:pt x="86105" y="37210"/>
                </a:lnTo>
                <a:lnTo>
                  <a:pt x="71120" y="21589"/>
                </a:lnTo>
                <a:lnTo>
                  <a:pt x="48641" y="4825"/>
                </a:lnTo>
                <a:lnTo>
                  <a:pt x="486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835140" y="4604003"/>
            <a:ext cx="310514" cy="737996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867143" y="4605528"/>
            <a:ext cx="211835" cy="252983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902195" y="4495800"/>
            <a:ext cx="120014" cy="128397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897623" y="4488179"/>
            <a:ext cx="130682" cy="93344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8322564" y="4543044"/>
            <a:ext cx="155066" cy="117729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8333231" y="4564379"/>
            <a:ext cx="129159" cy="189356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391143" y="5059679"/>
            <a:ext cx="15240" cy="145415"/>
          </a:xfrm>
          <a:custGeom>
            <a:avLst/>
            <a:gdLst/>
            <a:ahLst/>
            <a:cxnLst/>
            <a:rect l="l" t="t" r="r" b="b"/>
            <a:pathLst>
              <a:path w="15240" h="145414">
                <a:moveTo>
                  <a:pt x="0" y="0"/>
                </a:moveTo>
                <a:lnTo>
                  <a:pt x="0" y="47625"/>
                </a:lnTo>
                <a:lnTo>
                  <a:pt x="1904" y="76073"/>
                </a:lnTo>
                <a:lnTo>
                  <a:pt x="5587" y="107061"/>
                </a:lnTo>
                <a:lnTo>
                  <a:pt x="14858" y="137922"/>
                </a:lnTo>
                <a:lnTo>
                  <a:pt x="13080" y="145161"/>
                </a:lnTo>
                <a:lnTo>
                  <a:pt x="0" y="0"/>
                </a:lnTo>
              </a:path>
            </a:pathLst>
          </a:custGeom>
          <a:ln w="12191">
            <a:solidFill>
              <a:srgbClr val="FF5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8246364" y="4687823"/>
            <a:ext cx="295275" cy="638937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8368283" y="4864608"/>
            <a:ext cx="112395" cy="134620"/>
          </a:xfrm>
          <a:custGeom>
            <a:avLst/>
            <a:gdLst/>
            <a:ahLst/>
            <a:cxnLst/>
            <a:rect l="l" t="t" r="r" b="b"/>
            <a:pathLst>
              <a:path w="112395" h="134620">
                <a:moveTo>
                  <a:pt x="112395" y="134493"/>
                </a:moveTo>
                <a:lnTo>
                  <a:pt x="1905" y="127254"/>
                </a:lnTo>
                <a:lnTo>
                  <a:pt x="0" y="0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8371331" y="4879847"/>
            <a:ext cx="126364" cy="34290"/>
          </a:xfrm>
          <a:custGeom>
            <a:avLst/>
            <a:gdLst/>
            <a:ahLst/>
            <a:cxnLst/>
            <a:rect l="l" t="t" r="r" b="b"/>
            <a:pathLst>
              <a:path w="126365" h="34289">
                <a:moveTo>
                  <a:pt x="126111" y="33908"/>
                </a:moveTo>
                <a:lnTo>
                  <a:pt x="81661" y="24510"/>
                </a:lnTo>
                <a:lnTo>
                  <a:pt x="0" y="0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8391143" y="5018532"/>
            <a:ext cx="16510" cy="232410"/>
          </a:xfrm>
          <a:custGeom>
            <a:avLst/>
            <a:gdLst/>
            <a:ahLst/>
            <a:cxnLst/>
            <a:rect l="l" t="t" r="r" b="b"/>
            <a:pathLst>
              <a:path w="16509" h="232410">
                <a:moveTo>
                  <a:pt x="0" y="0"/>
                </a:moveTo>
                <a:lnTo>
                  <a:pt x="5460" y="124333"/>
                </a:lnTo>
                <a:lnTo>
                  <a:pt x="16509" y="232029"/>
                </a:lnTo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6354698" y="3785615"/>
            <a:ext cx="1771650" cy="370840"/>
          </a:xfrm>
          <a:custGeom>
            <a:avLst/>
            <a:gdLst/>
            <a:ahLst/>
            <a:cxnLst/>
            <a:rect l="l" t="t" r="r" b="b"/>
            <a:pathLst>
              <a:path w="1771650" h="370839">
                <a:moveTo>
                  <a:pt x="1771269" y="246887"/>
                </a:moveTo>
                <a:lnTo>
                  <a:pt x="1012062" y="246887"/>
                </a:lnTo>
                <a:lnTo>
                  <a:pt x="1464818" y="370331"/>
                </a:lnTo>
                <a:lnTo>
                  <a:pt x="1771269" y="246887"/>
                </a:lnTo>
                <a:close/>
              </a:path>
              <a:path w="1771650" h="370839">
                <a:moveTo>
                  <a:pt x="370331" y="0"/>
                </a:moveTo>
                <a:lnTo>
                  <a:pt x="0" y="0"/>
                </a:lnTo>
                <a:lnTo>
                  <a:pt x="64776" y="471"/>
                </a:lnTo>
                <a:lnTo>
                  <a:pt x="128893" y="1873"/>
                </a:lnTo>
                <a:lnTo>
                  <a:pt x="192257" y="4187"/>
                </a:lnTo>
                <a:lnTo>
                  <a:pt x="254775" y="7393"/>
                </a:lnTo>
                <a:lnTo>
                  <a:pt x="316353" y="11472"/>
                </a:lnTo>
                <a:lnTo>
                  <a:pt x="376898" y="16405"/>
                </a:lnTo>
                <a:lnTo>
                  <a:pt x="436316" y="22173"/>
                </a:lnTo>
                <a:lnTo>
                  <a:pt x="494513" y="28756"/>
                </a:lnTo>
                <a:lnTo>
                  <a:pt x="551397" y="36136"/>
                </a:lnTo>
                <a:lnTo>
                  <a:pt x="606873" y="44293"/>
                </a:lnTo>
                <a:lnTo>
                  <a:pt x="660847" y="53208"/>
                </a:lnTo>
                <a:lnTo>
                  <a:pt x="713227" y="62862"/>
                </a:lnTo>
                <a:lnTo>
                  <a:pt x="763919" y="73236"/>
                </a:lnTo>
                <a:lnTo>
                  <a:pt x="812830" y="84310"/>
                </a:lnTo>
                <a:lnTo>
                  <a:pt x="859865" y="96066"/>
                </a:lnTo>
                <a:lnTo>
                  <a:pt x="904931" y="108485"/>
                </a:lnTo>
                <a:lnTo>
                  <a:pt x="947935" y="121546"/>
                </a:lnTo>
                <a:lnTo>
                  <a:pt x="988783" y="135231"/>
                </a:lnTo>
                <a:lnTo>
                  <a:pt x="1027382" y="149521"/>
                </a:lnTo>
                <a:lnTo>
                  <a:pt x="1063638" y="164396"/>
                </a:lnTo>
                <a:lnTo>
                  <a:pt x="1128747" y="195828"/>
                </a:lnTo>
                <a:lnTo>
                  <a:pt x="1183361" y="229371"/>
                </a:lnTo>
                <a:lnTo>
                  <a:pt x="1206500" y="246887"/>
                </a:lnTo>
                <a:lnTo>
                  <a:pt x="1576831" y="246887"/>
                </a:lnTo>
                <a:lnTo>
                  <a:pt x="1527744" y="212345"/>
                </a:lnTo>
                <a:lnTo>
                  <a:pt x="1467789" y="179838"/>
                </a:lnTo>
                <a:lnTo>
                  <a:pt x="1397714" y="149521"/>
                </a:lnTo>
                <a:lnTo>
                  <a:pt x="1359115" y="135231"/>
                </a:lnTo>
                <a:lnTo>
                  <a:pt x="1318267" y="121546"/>
                </a:lnTo>
                <a:lnTo>
                  <a:pt x="1275263" y="108485"/>
                </a:lnTo>
                <a:lnTo>
                  <a:pt x="1230197" y="96066"/>
                </a:lnTo>
                <a:lnTo>
                  <a:pt x="1183162" y="84310"/>
                </a:lnTo>
                <a:lnTo>
                  <a:pt x="1134251" y="73236"/>
                </a:lnTo>
                <a:lnTo>
                  <a:pt x="1083559" y="62862"/>
                </a:lnTo>
                <a:lnTo>
                  <a:pt x="1031179" y="53208"/>
                </a:lnTo>
                <a:lnTo>
                  <a:pt x="977205" y="44293"/>
                </a:lnTo>
                <a:lnTo>
                  <a:pt x="921729" y="36136"/>
                </a:lnTo>
                <a:lnTo>
                  <a:pt x="864845" y="28756"/>
                </a:lnTo>
                <a:lnTo>
                  <a:pt x="806648" y="22173"/>
                </a:lnTo>
                <a:lnTo>
                  <a:pt x="747230" y="16405"/>
                </a:lnTo>
                <a:lnTo>
                  <a:pt x="686685" y="11472"/>
                </a:lnTo>
                <a:lnTo>
                  <a:pt x="625107" y="7393"/>
                </a:lnTo>
                <a:lnTo>
                  <a:pt x="562589" y="4187"/>
                </a:lnTo>
                <a:lnTo>
                  <a:pt x="499225" y="1873"/>
                </a:lnTo>
                <a:lnTo>
                  <a:pt x="435108" y="471"/>
                </a:lnTo>
                <a:lnTo>
                  <a:pt x="370331" y="0"/>
                </a:lnTo>
                <a:close/>
              </a:path>
            </a:pathLst>
          </a:custGeom>
          <a:solidFill>
            <a:srgbClr val="F8C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074920" y="3785615"/>
            <a:ext cx="1464945" cy="370840"/>
          </a:xfrm>
          <a:custGeom>
            <a:avLst/>
            <a:gdLst/>
            <a:ahLst/>
            <a:cxnLst/>
            <a:rect l="l" t="t" r="r" b="b"/>
            <a:pathLst>
              <a:path w="1464945" h="370839">
                <a:moveTo>
                  <a:pt x="1279778" y="0"/>
                </a:moveTo>
                <a:lnTo>
                  <a:pt x="1209553" y="548"/>
                </a:lnTo>
                <a:lnTo>
                  <a:pt x="1140319" y="2173"/>
                </a:lnTo>
                <a:lnTo>
                  <a:pt x="1072172" y="4848"/>
                </a:lnTo>
                <a:lnTo>
                  <a:pt x="1005212" y="8544"/>
                </a:lnTo>
                <a:lnTo>
                  <a:pt x="939535" y="13232"/>
                </a:lnTo>
                <a:lnTo>
                  <a:pt x="875239" y="18885"/>
                </a:lnTo>
                <a:lnTo>
                  <a:pt x="812421" y="25474"/>
                </a:lnTo>
                <a:lnTo>
                  <a:pt x="751179" y="32970"/>
                </a:lnTo>
                <a:lnTo>
                  <a:pt x="691611" y="41346"/>
                </a:lnTo>
                <a:lnTo>
                  <a:pt x="633814" y="50574"/>
                </a:lnTo>
                <a:lnTo>
                  <a:pt x="577886" y="60624"/>
                </a:lnTo>
                <a:lnTo>
                  <a:pt x="523923" y="71469"/>
                </a:lnTo>
                <a:lnTo>
                  <a:pt x="472025" y="83080"/>
                </a:lnTo>
                <a:lnTo>
                  <a:pt x="422287" y="95430"/>
                </a:lnTo>
                <a:lnTo>
                  <a:pt x="374808" y="108489"/>
                </a:lnTo>
                <a:lnTo>
                  <a:pt x="329686" y="122230"/>
                </a:lnTo>
                <a:lnTo>
                  <a:pt x="287017" y="136624"/>
                </a:lnTo>
                <a:lnTo>
                  <a:pt x="246900" y="151644"/>
                </a:lnTo>
                <a:lnTo>
                  <a:pt x="209431" y="167260"/>
                </a:lnTo>
                <a:lnTo>
                  <a:pt x="174709" y="183444"/>
                </a:lnTo>
                <a:lnTo>
                  <a:pt x="113894" y="217405"/>
                </a:lnTo>
                <a:lnTo>
                  <a:pt x="65236" y="253300"/>
                </a:lnTo>
                <a:lnTo>
                  <a:pt x="29514" y="290904"/>
                </a:lnTo>
                <a:lnTo>
                  <a:pt x="7508" y="329990"/>
                </a:lnTo>
                <a:lnTo>
                  <a:pt x="0" y="370331"/>
                </a:lnTo>
                <a:lnTo>
                  <a:pt x="370331" y="370331"/>
                </a:lnTo>
                <a:lnTo>
                  <a:pt x="372382" y="349256"/>
                </a:lnTo>
                <a:lnTo>
                  <a:pt x="378465" y="328461"/>
                </a:lnTo>
                <a:lnTo>
                  <a:pt x="402313" y="287852"/>
                </a:lnTo>
                <a:lnTo>
                  <a:pt x="441048" y="248782"/>
                </a:lnTo>
                <a:lnTo>
                  <a:pt x="493841" y="211529"/>
                </a:lnTo>
                <a:lnTo>
                  <a:pt x="559865" y="176372"/>
                </a:lnTo>
                <a:lnTo>
                  <a:pt x="597579" y="159666"/>
                </a:lnTo>
                <a:lnTo>
                  <a:pt x="638290" y="143589"/>
                </a:lnTo>
                <a:lnTo>
                  <a:pt x="681894" y="128174"/>
                </a:lnTo>
                <a:lnTo>
                  <a:pt x="728289" y="113457"/>
                </a:lnTo>
                <a:lnTo>
                  <a:pt x="777369" y="99473"/>
                </a:lnTo>
                <a:lnTo>
                  <a:pt x="829033" y="86256"/>
                </a:lnTo>
                <a:lnTo>
                  <a:pt x="883175" y="73841"/>
                </a:lnTo>
                <a:lnTo>
                  <a:pt x="939694" y="62263"/>
                </a:lnTo>
                <a:lnTo>
                  <a:pt x="998484" y="51557"/>
                </a:lnTo>
                <a:lnTo>
                  <a:pt x="1059444" y="41756"/>
                </a:lnTo>
                <a:lnTo>
                  <a:pt x="1122468" y="32897"/>
                </a:lnTo>
                <a:lnTo>
                  <a:pt x="1187454" y="25014"/>
                </a:lnTo>
                <a:lnTo>
                  <a:pt x="1254299" y="18142"/>
                </a:lnTo>
                <a:lnTo>
                  <a:pt x="1322897" y="12315"/>
                </a:lnTo>
                <a:lnTo>
                  <a:pt x="1393147" y="7568"/>
                </a:lnTo>
                <a:lnTo>
                  <a:pt x="1464945" y="3936"/>
                </a:lnTo>
                <a:lnTo>
                  <a:pt x="1418832" y="2196"/>
                </a:lnTo>
                <a:lnTo>
                  <a:pt x="1372552" y="968"/>
                </a:lnTo>
                <a:lnTo>
                  <a:pt x="1326177" y="240"/>
                </a:lnTo>
                <a:lnTo>
                  <a:pt x="1279778" y="0"/>
                </a:lnTo>
                <a:close/>
              </a:path>
            </a:pathLst>
          </a:custGeom>
          <a:solidFill>
            <a:srgbClr val="C6A2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5074920" y="3785615"/>
            <a:ext cx="3051175" cy="370840"/>
          </a:xfrm>
          <a:custGeom>
            <a:avLst/>
            <a:gdLst/>
            <a:ahLst/>
            <a:cxnLst/>
            <a:rect l="l" t="t" r="r" b="b"/>
            <a:pathLst>
              <a:path w="3051175" h="370839">
                <a:moveTo>
                  <a:pt x="1464945" y="3936"/>
                </a:moveTo>
                <a:lnTo>
                  <a:pt x="1393147" y="7568"/>
                </a:lnTo>
                <a:lnTo>
                  <a:pt x="1322897" y="12315"/>
                </a:lnTo>
                <a:lnTo>
                  <a:pt x="1254299" y="18142"/>
                </a:lnTo>
                <a:lnTo>
                  <a:pt x="1187454" y="25014"/>
                </a:lnTo>
                <a:lnTo>
                  <a:pt x="1122468" y="32897"/>
                </a:lnTo>
                <a:lnTo>
                  <a:pt x="1059444" y="41756"/>
                </a:lnTo>
                <a:lnTo>
                  <a:pt x="998484" y="51557"/>
                </a:lnTo>
                <a:lnTo>
                  <a:pt x="939694" y="62263"/>
                </a:lnTo>
                <a:lnTo>
                  <a:pt x="883175" y="73841"/>
                </a:lnTo>
                <a:lnTo>
                  <a:pt x="829033" y="86256"/>
                </a:lnTo>
                <a:lnTo>
                  <a:pt x="777369" y="99473"/>
                </a:lnTo>
                <a:lnTo>
                  <a:pt x="728289" y="113457"/>
                </a:lnTo>
                <a:lnTo>
                  <a:pt x="681894" y="128174"/>
                </a:lnTo>
                <a:lnTo>
                  <a:pt x="638290" y="143589"/>
                </a:lnTo>
                <a:lnTo>
                  <a:pt x="597579" y="159666"/>
                </a:lnTo>
                <a:lnTo>
                  <a:pt x="559865" y="176372"/>
                </a:lnTo>
                <a:lnTo>
                  <a:pt x="525251" y="193671"/>
                </a:lnTo>
                <a:lnTo>
                  <a:pt x="465739" y="229911"/>
                </a:lnTo>
                <a:lnTo>
                  <a:pt x="419872" y="268107"/>
                </a:lnTo>
                <a:lnTo>
                  <a:pt x="388477" y="307981"/>
                </a:lnTo>
                <a:lnTo>
                  <a:pt x="372382" y="349256"/>
                </a:lnTo>
                <a:lnTo>
                  <a:pt x="370331" y="370331"/>
                </a:lnTo>
                <a:lnTo>
                  <a:pt x="0" y="370331"/>
                </a:lnTo>
                <a:lnTo>
                  <a:pt x="7508" y="329990"/>
                </a:lnTo>
                <a:lnTo>
                  <a:pt x="29514" y="290904"/>
                </a:lnTo>
                <a:lnTo>
                  <a:pt x="65236" y="253300"/>
                </a:lnTo>
                <a:lnTo>
                  <a:pt x="113894" y="217405"/>
                </a:lnTo>
                <a:lnTo>
                  <a:pt x="174709" y="183444"/>
                </a:lnTo>
                <a:lnTo>
                  <a:pt x="209431" y="167260"/>
                </a:lnTo>
                <a:lnTo>
                  <a:pt x="246900" y="151644"/>
                </a:lnTo>
                <a:lnTo>
                  <a:pt x="287017" y="136624"/>
                </a:lnTo>
                <a:lnTo>
                  <a:pt x="329686" y="122230"/>
                </a:lnTo>
                <a:lnTo>
                  <a:pt x="374808" y="108489"/>
                </a:lnTo>
                <a:lnTo>
                  <a:pt x="422287" y="95430"/>
                </a:lnTo>
                <a:lnTo>
                  <a:pt x="472025" y="83080"/>
                </a:lnTo>
                <a:lnTo>
                  <a:pt x="523923" y="71469"/>
                </a:lnTo>
                <a:lnTo>
                  <a:pt x="577886" y="60624"/>
                </a:lnTo>
                <a:lnTo>
                  <a:pt x="633814" y="50574"/>
                </a:lnTo>
                <a:lnTo>
                  <a:pt x="691611" y="41346"/>
                </a:lnTo>
                <a:lnTo>
                  <a:pt x="751179" y="32970"/>
                </a:lnTo>
                <a:lnTo>
                  <a:pt x="812421" y="25474"/>
                </a:lnTo>
                <a:lnTo>
                  <a:pt x="875239" y="18885"/>
                </a:lnTo>
                <a:lnTo>
                  <a:pt x="939535" y="13232"/>
                </a:lnTo>
                <a:lnTo>
                  <a:pt x="1005212" y="8544"/>
                </a:lnTo>
                <a:lnTo>
                  <a:pt x="1072172" y="4848"/>
                </a:lnTo>
                <a:lnTo>
                  <a:pt x="1140319" y="2173"/>
                </a:lnTo>
                <a:lnTo>
                  <a:pt x="1209553" y="548"/>
                </a:lnTo>
                <a:lnTo>
                  <a:pt x="1279778" y="0"/>
                </a:lnTo>
                <a:lnTo>
                  <a:pt x="1650110" y="0"/>
                </a:lnTo>
                <a:lnTo>
                  <a:pt x="1714887" y="471"/>
                </a:lnTo>
                <a:lnTo>
                  <a:pt x="1779004" y="1873"/>
                </a:lnTo>
                <a:lnTo>
                  <a:pt x="1842368" y="4187"/>
                </a:lnTo>
                <a:lnTo>
                  <a:pt x="1904886" y="7393"/>
                </a:lnTo>
                <a:lnTo>
                  <a:pt x="1966464" y="11472"/>
                </a:lnTo>
                <a:lnTo>
                  <a:pt x="2027009" y="16405"/>
                </a:lnTo>
                <a:lnTo>
                  <a:pt x="2086427" y="22173"/>
                </a:lnTo>
                <a:lnTo>
                  <a:pt x="2144624" y="28756"/>
                </a:lnTo>
                <a:lnTo>
                  <a:pt x="2201508" y="36136"/>
                </a:lnTo>
                <a:lnTo>
                  <a:pt x="2256984" y="44293"/>
                </a:lnTo>
                <a:lnTo>
                  <a:pt x="2310958" y="53208"/>
                </a:lnTo>
                <a:lnTo>
                  <a:pt x="2363338" y="62862"/>
                </a:lnTo>
                <a:lnTo>
                  <a:pt x="2414030" y="73236"/>
                </a:lnTo>
                <a:lnTo>
                  <a:pt x="2462941" y="84310"/>
                </a:lnTo>
                <a:lnTo>
                  <a:pt x="2509976" y="96066"/>
                </a:lnTo>
                <a:lnTo>
                  <a:pt x="2555042" y="108485"/>
                </a:lnTo>
                <a:lnTo>
                  <a:pt x="2598046" y="121546"/>
                </a:lnTo>
                <a:lnTo>
                  <a:pt x="2638894" y="135231"/>
                </a:lnTo>
                <a:lnTo>
                  <a:pt x="2677493" y="149521"/>
                </a:lnTo>
                <a:lnTo>
                  <a:pt x="2713749" y="164396"/>
                </a:lnTo>
                <a:lnTo>
                  <a:pt x="2778858" y="195828"/>
                </a:lnTo>
                <a:lnTo>
                  <a:pt x="2833472" y="229371"/>
                </a:lnTo>
                <a:lnTo>
                  <a:pt x="2856610" y="246887"/>
                </a:lnTo>
                <a:lnTo>
                  <a:pt x="3051048" y="246887"/>
                </a:lnTo>
                <a:lnTo>
                  <a:pt x="2744597" y="370331"/>
                </a:lnTo>
                <a:lnTo>
                  <a:pt x="2291841" y="246887"/>
                </a:lnTo>
                <a:lnTo>
                  <a:pt x="2486279" y="246887"/>
                </a:lnTo>
                <a:lnTo>
                  <a:pt x="2463140" y="229371"/>
                </a:lnTo>
                <a:lnTo>
                  <a:pt x="2408526" y="195828"/>
                </a:lnTo>
                <a:lnTo>
                  <a:pt x="2343417" y="164396"/>
                </a:lnTo>
                <a:lnTo>
                  <a:pt x="2307161" y="149521"/>
                </a:lnTo>
                <a:lnTo>
                  <a:pt x="2268562" y="135231"/>
                </a:lnTo>
                <a:lnTo>
                  <a:pt x="2227714" y="121546"/>
                </a:lnTo>
                <a:lnTo>
                  <a:pt x="2184710" y="108485"/>
                </a:lnTo>
                <a:lnTo>
                  <a:pt x="2139644" y="96066"/>
                </a:lnTo>
                <a:lnTo>
                  <a:pt x="2092609" y="84310"/>
                </a:lnTo>
                <a:lnTo>
                  <a:pt x="2043698" y="73236"/>
                </a:lnTo>
                <a:lnTo>
                  <a:pt x="1993006" y="62862"/>
                </a:lnTo>
                <a:lnTo>
                  <a:pt x="1940626" y="53208"/>
                </a:lnTo>
                <a:lnTo>
                  <a:pt x="1886652" y="44293"/>
                </a:lnTo>
                <a:lnTo>
                  <a:pt x="1831176" y="36136"/>
                </a:lnTo>
                <a:lnTo>
                  <a:pt x="1774292" y="28756"/>
                </a:lnTo>
                <a:lnTo>
                  <a:pt x="1716095" y="22173"/>
                </a:lnTo>
                <a:lnTo>
                  <a:pt x="1656677" y="16405"/>
                </a:lnTo>
                <a:lnTo>
                  <a:pt x="1596132" y="11472"/>
                </a:lnTo>
                <a:lnTo>
                  <a:pt x="1534554" y="7393"/>
                </a:lnTo>
                <a:lnTo>
                  <a:pt x="1472036" y="4187"/>
                </a:lnTo>
                <a:lnTo>
                  <a:pt x="1408672" y="1873"/>
                </a:lnTo>
                <a:lnTo>
                  <a:pt x="1344555" y="471"/>
                </a:lnTo>
                <a:lnTo>
                  <a:pt x="1279778" y="0"/>
                </a:lnTo>
              </a:path>
            </a:pathLst>
          </a:custGeom>
          <a:ln w="9144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685800" y="4724400"/>
            <a:ext cx="1447800" cy="1447799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2209800" y="4648200"/>
            <a:ext cx="1256275" cy="1333191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8240394" y="6400431"/>
            <a:ext cx="19621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200" dirty="0">
                <a:solidFill>
                  <a:srgbClr val="FDFDFD"/>
                </a:solidFill>
                <a:latin typeface="Arial"/>
                <a:cs typeface="Arial"/>
              </a:rPr>
              <a:t>14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542" y="711453"/>
            <a:ext cx="7728915" cy="738664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4800" dirty="0" smtClean="0">
                <a:latin typeface="+mn-lt"/>
              </a:rPr>
              <a:t>Variables</a:t>
            </a:r>
            <a:endParaRPr lang="en-US" sz="4800" dirty="0"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612140" y="1828800"/>
            <a:ext cx="7919719" cy="2954655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sz="3200" dirty="0" smtClean="0"/>
              <a:t>A </a:t>
            </a:r>
            <a:r>
              <a:rPr lang="en-US" altLang="en-US" sz="3200" b="1" dirty="0" smtClean="0"/>
              <a:t>variable</a:t>
            </a:r>
            <a:r>
              <a:rPr lang="en-US" altLang="en-US" sz="3200" dirty="0" smtClean="0"/>
              <a:t> is a characteristic or condition that can change or take on different values.  </a:t>
            </a:r>
          </a:p>
          <a:p>
            <a:pPr eaLnBrk="1" hangingPunct="1"/>
            <a:r>
              <a:rPr lang="en-US" altLang="en-US" sz="3200" dirty="0" smtClean="0"/>
              <a:t>Most research begins with a general question about the relationship between two variables for a specific group of individuals.  </a:t>
            </a:r>
          </a:p>
          <a:p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753617"/>
            <a:ext cx="303149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Types </a:t>
            </a:r>
            <a:r>
              <a:rPr spc="-150" dirty="0"/>
              <a:t>of</a:t>
            </a:r>
            <a:r>
              <a:rPr spc="-345" dirty="0"/>
              <a:t> </a:t>
            </a:r>
            <a:r>
              <a:rPr spc="-180" dirty="0"/>
              <a:t>Variables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30"/>
              </a:lnSpc>
            </a:pPr>
            <a:r>
              <a:rPr dirty="0"/>
              <a:t>21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7814" y="1638680"/>
            <a:ext cx="5883910" cy="802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100" b="1" spc="-110" dirty="0">
                <a:solidFill>
                  <a:srgbClr val="EC7C30"/>
                </a:solidFill>
                <a:latin typeface="Trebuchet MS"/>
                <a:cs typeface="Trebuchet MS"/>
              </a:rPr>
              <a:t>Qualitative</a:t>
            </a:r>
            <a:r>
              <a:rPr sz="2100" b="1" spc="-165" dirty="0">
                <a:solidFill>
                  <a:srgbClr val="EC7C30"/>
                </a:solidFill>
                <a:latin typeface="Trebuchet MS"/>
                <a:cs typeface="Trebuchet MS"/>
              </a:rPr>
              <a:t> </a:t>
            </a:r>
            <a:r>
              <a:rPr sz="2100" b="1" spc="-125" dirty="0">
                <a:solidFill>
                  <a:srgbClr val="EC7C30"/>
                </a:solidFill>
                <a:latin typeface="Trebuchet MS"/>
                <a:cs typeface="Trebuchet MS"/>
              </a:rPr>
              <a:t>Variable</a:t>
            </a:r>
            <a:endParaRPr sz="2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100" spc="-145" dirty="0">
                <a:latin typeface="Arial"/>
                <a:cs typeface="Arial"/>
              </a:rPr>
              <a:t>Consists </a:t>
            </a:r>
            <a:r>
              <a:rPr sz="2100" spc="-5" dirty="0">
                <a:latin typeface="Arial"/>
                <a:cs typeface="Arial"/>
              </a:rPr>
              <a:t>of </a:t>
            </a:r>
            <a:r>
              <a:rPr sz="2100" spc="-35" dirty="0">
                <a:latin typeface="Arial"/>
                <a:cs typeface="Arial"/>
              </a:rPr>
              <a:t>attributes, </a:t>
            </a:r>
            <a:r>
              <a:rPr sz="2100" spc="-90" dirty="0">
                <a:latin typeface="Arial"/>
                <a:cs typeface="Arial"/>
              </a:rPr>
              <a:t>labels, </a:t>
            </a:r>
            <a:r>
              <a:rPr sz="2100" spc="-20" dirty="0">
                <a:latin typeface="Arial"/>
                <a:cs typeface="Arial"/>
              </a:rPr>
              <a:t>or </a:t>
            </a:r>
            <a:r>
              <a:rPr sz="2100" spc="-70" dirty="0">
                <a:latin typeface="Arial"/>
                <a:cs typeface="Arial"/>
              </a:rPr>
              <a:t>nonnumerical</a:t>
            </a:r>
            <a:r>
              <a:rPr sz="2100" spc="-204" dirty="0">
                <a:latin typeface="Arial"/>
                <a:cs typeface="Arial"/>
              </a:rPr>
              <a:t> </a:t>
            </a:r>
            <a:r>
              <a:rPr sz="2100" spc="-60" dirty="0">
                <a:latin typeface="Arial"/>
                <a:cs typeface="Arial"/>
              </a:rPr>
              <a:t>entries.</a:t>
            </a:r>
            <a:endParaRPr sz="21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0" y="4144043"/>
            <a:ext cx="933729" cy="12645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28534" y="4324895"/>
            <a:ext cx="424180" cy="270510"/>
          </a:xfrm>
          <a:custGeom>
            <a:avLst/>
            <a:gdLst/>
            <a:ahLst/>
            <a:cxnLst/>
            <a:rect l="l" t="t" r="r" b="b"/>
            <a:pathLst>
              <a:path w="424179" h="270510">
                <a:moveTo>
                  <a:pt x="270708" y="229694"/>
                </a:moveTo>
                <a:lnTo>
                  <a:pt x="270708" y="235840"/>
                </a:lnTo>
                <a:lnTo>
                  <a:pt x="274530" y="254812"/>
                </a:lnTo>
                <a:lnTo>
                  <a:pt x="289946" y="270177"/>
                </a:lnTo>
                <a:lnTo>
                  <a:pt x="299596" y="253306"/>
                </a:lnTo>
                <a:lnTo>
                  <a:pt x="281283" y="253306"/>
                </a:lnTo>
                <a:lnTo>
                  <a:pt x="288096" y="241405"/>
                </a:lnTo>
                <a:lnTo>
                  <a:pt x="286819" y="235055"/>
                </a:lnTo>
                <a:lnTo>
                  <a:pt x="286634" y="235055"/>
                </a:lnTo>
                <a:lnTo>
                  <a:pt x="286634" y="231220"/>
                </a:lnTo>
                <a:lnTo>
                  <a:pt x="271218" y="231220"/>
                </a:lnTo>
                <a:lnTo>
                  <a:pt x="270708" y="229694"/>
                </a:lnTo>
                <a:close/>
              </a:path>
              <a:path w="424179" h="270510">
                <a:moveTo>
                  <a:pt x="321543" y="238991"/>
                </a:moveTo>
                <a:lnTo>
                  <a:pt x="307783" y="238991"/>
                </a:lnTo>
                <a:lnTo>
                  <a:pt x="304557" y="244632"/>
                </a:lnTo>
                <a:lnTo>
                  <a:pt x="337468" y="255558"/>
                </a:lnTo>
                <a:lnTo>
                  <a:pt x="337468" y="244560"/>
                </a:lnTo>
                <a:lnTo>
                  <a:pt x="321543" y="244560"/>
                </a:lnTo>
                <a:lnTo>
                  <a:pt x="321543" y="238991"/>
                </a:lnTo>
                <a:close/>
              </a:path>
              <a:path w="424179" h="270510">
                <a:moveTo>
                  <a:pt x="288096" y="241405"/>
                </a:moveTo>
                <a:lnTo>
                  <a:pt x="281283" y="253306"/>
                </a:lnTo>
                <a:lnTo>
                  <a:pt x="293896" y="251635"/>
                </a:lnTo>
                <a:lnTo>
                  <a:pt x="291594" y="249344"/>
                </a:lnTo>
                <a:lnTo>
                  <a:pt x="289691" y="249344"/>
                </a:lnTo>
                <a:lnTo>
                  <a:pt x="287526" y="245294"/>
                </a:lnTo>
                <a:lnTo>
                  <a:pt x="288877" y="245294"/>
                </a:lnTo>
                <a:lnTo>
                  <a:pt x="288096" y="241405"/>
                </a:lnTo>
                <a:close/>
              </a:path>
              <a:path w="424179" h="270510">
                <a:moveTo>
                  <a:pt x="297208" y="225487"/>
                </a:moveTo>
                <a:lnTo>
                  <a:pt x="288096" y="241405"/>
                </a:lnTo>
                <a:lnTo>
                  <a:pt x="289215" y="246976"/>
                </a:lnTo>
                <a:lnTo>
                  <a:pt x="293896" y="251635"/>
                </a:lnTo>
                <a:lnTo>
                  <a:pt x="281283" y="253306"/>
                </a:lnTo>
                <a:lnTo>
                  <a:pt x="299596" y="253306"/>
                </a:lnTo>
                <a:lnTo>
                  <a:pt x="304557" y="244632"/>
                </a:lnTo>
                <a:lnTo>
                  <a:pt x="298355" y="242573"/>
                </a:lnTo>
                <a:lnTo>
                  <a:pt x="307783" y="238991"/>
                </a:lnTo>
                <a:lnTo>
                  <a:pt x="321543" y="238991"/>
                </a:lnTo>
                <a:lnTo>
                  <a:pt x="321543" y="233571"/>
                </a:lnTo>
                <a:lnTo>
                  <a:pt x="297208" y="225487"/>
                </a:lnTo>
                <a:close/>
              </a:path>
              <a:path w="424179" h="270510">
                <a:moveTo>
                  <a:pt x="287526" y="245294"/>
                </a:moveTo>
                <a:lnTo>
                  <a:pt x="289691" y="249344"/>
                </a:lnTo>
                <a:lnTo>
                  <a:pt x="289215" y="246976"/>
                </a:lnTo>
                <a:lnTo>
                  <a:pt x="287526" y="245294"/>
                </a:lnTo>
                <a:close/>
              </a:path>
              <a:path w="424179" h="270510">
                <a:moveTo>
                  <a:pt x="289215" y="246976"/>
                </a:moveTo>
                <a:lnTo>
                  <a:pt x="289691" y="249344"/>
                </a:lnTo>
                <a:lnTo>
                  <a:pt x="291594" y="249344"/>
                </a:lnTo>
                <a:lnTo>
                  <a:pt x="289215" y="246976"/>
                </a:lnTo>
                <a:close/>
              </a:path>
              <a:path w="424179" h="270510">
                <a:moveTo>
                  <a:pt x="288877" y="245294"/>
                </a:moveTo>
                <a:lnTo>
                  <a:pt x="287526" y="245294"/>
                </a:lnTo>
                <a:lnTo>
                  <a:pt x="289215" y="246976"/>
                </a:lnTo>
                <a:lnTo>
                  <a:pt x="288877" y="245294"/>
                </a:lnTo>
                <a:close/>
              </a:path>
              <a:path w="424179" h="270510">
                <a:moveTo>
                  <a:pt x="307783" y="238991"/>
                </a:moveTo>
                <a:lnTo>
                  <a:pt x="298355" y="242573"/>
                </a:lnTo>
                <a:lnTo>
                  <a:pt x="304557" y="244632"/>
                </a:lnTo>
                <a:lnTo>
                  <a:pt x="307783" y="238991"/>
                </a:lnTo>
                <a:close/>
              </a:path>
              <a:path w="424179" h="270510">
                <a:moveTo>
                  <a:pt x="321543" y="233571"/>
                </a:moveTo>
                <a:lnTo>
                  <a:pt x="321543" y="244560"/>
                </a:lnTo>
                <a:lnTo>
                  <a:pt x="331990" y="237042"/>
                </a:lnTo>
                <a:lnTo>
                  <a:pt x="321543" y="233571"/>
                </a:lnTo>
                <a:close/>
              </a:path>
              <a:path w="424179" h="270510">
                <a:moveTo>
                  <a:pt x="418879" y="138043"/>
                </a:moveTo>
                <a:lnTo>
                  <a:pt x="377218" y="141828"/>
                </a:lnTo>
                <a:lnTo>
                  <a:pt x="339379" y="172709"/>
                </a:lnTo>
                <a:lnTo>
                  <a:pt x="321543" y="201098"/>
                </a:lnTo>
                <a:lnTo>
                  <a:pt x="321543" y="233571"/>
                </a:lnTo>
                <a:lnTo>
                  <a:pt x="331990" y="237042"/>
                </a:lnTo>
                <a:lnTo>
                  <a:pt x="321543" y="244560"/>
                </a:lnTo>
                <a:lnTo>
                  <a:pt x="337468" y="244560"/>
                </a:lnTo>
                <a:lnTo>
                  <a:pt x="337468" y="207565"/>
                </a:lnTo>
                <a:lnTo>
                  <a:pt x="336194" y="207565"/>
                </a:lnTo>
                <a:lnTo>
                  <a:pt x="337468" y="203376"/>
                </a:lnTo>
                <a:lnTo>
                  <a:pt x="338826" y="203376"/>
                </a:lnTo>
                <a:lnTo>
                  <a:pt x="350903" y="184151"/>
                </a:lnTo>
                <a:lnTo>
                  <a:pt x="350463" y="184151"/>
                </a:lnTo>
                <a:lnTo>
                  <a:pt x="352120" y="182214"/>
                </a:lnTo>
                <a:lnTo>
                  <a:pt x="352834" y="182214"/>
                </a:lnTo>
                <a:lnTo>
                  <a:pt x="383218" y="157395"/>
                </a:lnTo>
                <a:lnTo>
                  <a:pt x="381040" y="157395"/>
                </a:lnTo>
                <a:lnTo>
                  <a:pt x="385372" y="155636"/>
                </a:lnTo>
                <a:lnTo>
                  <a:pt x="400382" y="155636"/>
                </a:lnTo>
                <a:lnTo>
                  <a:pt x="420281" y="153826"/>
                </a:lnTo>
                <a:lnTo>
                  <a:pt x="423593" y="149978"/>
                </a:lnTo>
                <a:lnTo>
                  <a:pt x="423084" y="145612"/>
                </a:lnTo>
                <a:lnTo>
                  <a:pt x="422752" y="141828"/>
                </a:lnTo>
                <a:lnTo>
                  <a:pt x="422626" y="141195"/>
                </a:lnTo>
                <a:lnTo>
                  <a:pt x="418879" y="138043"/>
                </a:lnTo>
                <a:close/>
              </a:path>
              <a:path w="424179" h="270510">
                <a:moveTo>
                  <a:pt x="286634" y="234132"/>
                </a:moveTo>
                <a:lnTo>
                  <a:pt x="286634" y="235055"/>
                </a:lnTo>
                <a:lnTo>
                  <a:pt x="286819" y="235055"/>
                </a:lnTo>
                <a:lnTo>
                  <a:pt x="286634" y="234132"/>
                </a:lnTo>
                <a:close/>
              </a:path>
              <a:path w="424179" h="270510">
                <a:moveTo>
                  <a:pt x="286634" y="233498"/>
                </a:moveTo>
                <a:lnTo>
                  <a:pt x="286506" y="233498"/>
                </a:lnTo>
                <a:lnTo>
                  <a:pt x="286634" y="234132"/>
                </a:lnTo>
                <a:lnTo>
                  <a:pt x="286634" y="233498"/>
                </a:lnTo>
                <a:close/>
              </a:path>
              <a:path w="424179" h="270510">
                <a:moveTo>
                  <a:pt x="270708" y="228714"/>
                </a:moveTo>
                <a:lnTo>
                  <a:pt x="270708" y="229694"/>
                </a:lnTo>
                <a:lnTo>
                  <a:pt x="271218" y="231220"/>
                </a:lnTo>
                <a:lnTo>
                  <a:pt x="270708" y="228714"/>
                </a:lnTo>
                <a:close/>
              </a:path>
              <a:path w="424179" h="270510">
                <a:moveTo>
                  <a:pt x="286634" y="228714"/>
                </a:moveTo>
                <a:lnTo>
                  <a:pt x="270708" y="228714"/>
                </a:lnTo>
                <a:lnTo>
                  <a:pt x="271218" y="231220"/>
                </a:lnTo>
                <a:lnTo>
                  <a:pt x="286634" y="231220"/>
                </a:lnTo>
                <a:lnTo>
                  <a:pt x="286634" y="228714"/>
                </a:lnTo>
                <a:close/>
              </a:path>
              <a:path w="424179" h="270510">
                <a:moveTo>
                  <a:pt x="264209" y="184733"/>
                </a:moveTo>
                <a:lnTo>
                  <a:pt x="261025" y="200705"/>
                </a:lnTo>
                <a:lnTo>
                  <a:pt x="270708" y="229694"/>
                </a:lnTo>
                <a:lnTo>
                  <a:pt x="270708" y="228714"/>
                </a:lnTo>
                <a:lnTo>
                  <a:pt x="286634" y="228714"/>
                </a:lnTo>
                <a:lnTo>
                  <a:pt x="286634" y="227436"/>
                </a:lnTo>
                <a:lnTo>
                  <a:pt x="278054" y="201756"/>
                </a:lnTo>
                <a:lnTo>
                  <a:pt x="276951" y="201756"/>
                </a:lnTo>
                <a:lnTo>
                  <a:pt x="276696" y="197693"/>
                </a:lnTo>
                <a:lnTo>
                  <a:pt x="277775" y="197693"/>
                </a:lnTo>
                <a:lnTo>
                  <a:pt x="280090" y="186277"/>
                </a:lnTo>
                <a:lnTo>
                  <a:pt x="264593" y="186277"/>
                </a:lnTo>
                <a:lnTo>
                  <a:pt x="264209" y="184733"/>
                </a:lnTo>
                <a:close/>
              </a:path>
              <a:path w="424179" h="270510">
                <a:moveTo>
                  <a:pt x="337468" y="203376"/>
                </a:moveTo>
                <a:lnTo>
                  <a:pt x="336194" y="207565"/>
                </a:lnTo>
                <a:lnTo>
                  <a:pt x="337468" y="205537"/>
                </a:lnTo>
                <a:lnTo>
                  <a:pt x="337468" y="203376"/>
                </a:lnTo>
                <a:close/>
              </a:path>
              <a:path w="424179" h="270510">
                <a:moveTo>
                  <a:pt x="337468" y="205537"/>
                </a:moveTo>
                <a:lnTo>
                  <a:pt x="336194" y="207565"/>
                </a:lnTo>
                <a:lnTo>
                  <a:pt x="337468" y="207565"/>
                </a:lnTo>
                <a:lnTo>
                  <a:pt x="337468" y="205537"/>
                </a:lnTo>
                <a:close/>
              </a:path>
              <a:path w="424179" h="270510">
                <a:moveTo>
                  <a:pt x="338826" y="203376"/>
                </a:moveTo>
                <a:lnTo>
                  <a:pt x="337468" y="203376"/>
                </a:lnTo>
                <a:lnTo>
                  <a:pt x="337468" y="205537"/>
                </a:lnTo>
                <a:lnTo>
                  <a:pt x="338826" y="203376"/>
                </a:lnTo>
                <a:close/>
              </a:path>
              <a:path w="424179" h="270510">
                <a:moveTo>
                  <a:pt x="276696" y="197693"/>
                </a:moveTo>
                <a:lnTo>
                  <a:pt x="276951" y="201756"/>
                </a:lnTo>
                <a:lnTo>
                  <a:pt x="277367" y="199702"/>
                </a:lnTo>
                <a:lnTo>
                  <a:pt x="276696" y="197693"/>
                </a:lnTo>
                <a:close/>
              </a:path>
              <a:path w="424179" h="270510">
                <a:moveTo>
                  <a:pt x="277367" y="199702"/>
                </a:moveTo>
                <a:lnTo>
                  <a:pt x="276951" y="201756"/>
                </a:lnTo>
                <a:lnTo>
                  <a:pt x="278054" y="201756"/>
                </a:lnTo>
                <a:lnTo>
                  <a:pt x="277367" y="199702"/>
                </a:lnTo>
                <a:close/>
              </a:path>
              <a:path w="424179" h="270510">
                <a:moveTo>
                  <a:pt x="277775" y="197693"/>
                </a:moveTo>
                <a:lnTo>
                  <a:pt x="276696" y="197693"/>
                </a:lnTo>
                <a:lnTo>
                  <a:pt x="277367" y="199702"/>
                </a:lnTo>
                <a:lnTo>
                  <a:pt x="277775" y="197693"/>
                </a:lnTo>
                <a:close/>
              </a:path>
              <a:path w="424179" h="270510">
                <a:moveTo>
                  <a:pt x="264593" y="182809"/>
                </a:moveTo>
                <a:lnTo>
                  <a:pt x="264209" y="184733"/>
                </a:lnTo>
                <a:lnTo>
                  <a:pt x="264593" y="186277"/>
                </a:lnTo>
                <a:lnTo>
                  <a:pt x="264593" y="182809"/>
                </a:lnTo>
                <a:close/>
              </a:path>
              <a:path w="424179" h="270510">
                <a:moveTo>
                  <a:pt x="280174" y="182809"/>
                </a:moveTo>
                <a:lnTo>
                  <a:pt x="264593" y="182809"/>
                </a:lnTo>
                <a:lnTo>
                  <a:pt x="264593" y="186277"/>
                </a:lnTo>
                <a:lnTo>
                  <a:pt x="280090" y="186277"/>
                </a:lnTo>
                <a:lnTo>
                  <a:pt x="280403" y="184733"/>
                </a:lnTo>
                <a:lnTo>
                  <a:pt x="280328" y="183413"/>
                </a:lnTo>
                <a:lnTo>
                  <a:pt x="280174" y="182809"/>
                </a:lnTo>
                <a:close/>
              </a:path>
              <a:path w="424179" h="270510">
                <a:moveTo>
                  <a:pt x="254146" y="144220"/>
                </a:moveTo>
                <a:lnTo>
                  <a:pt x="264209" y="184733"/>
                </a:lnTo>
                <a:lnTo>
                  <a:pt x="264593" y="182809"/>
                </a:lnTo>
                <a:lnTo>
                  <a:pt x="280174" y="182809"/>
                </a:lnTo>
                <a:lnTo>
                  <a:pt x="277887" y="173808"/>
                </a:lnTo>
                <a:lnTo>
                  <a:pt x="262427" y="166090"/>
                </a:lnTo>
                <a:lnTo>
                  <a:pt x="273638" y="157091"/>
                </a:lnTo>
                <a:lnTo>
                  <a:pt x="279920" y="157091"/>
                </a:lnTo>
                <a:lnTo>
                  <a:pt x="254146" y="144220"/>
                </a:lnTo>
                <a:close/>
              </a:path>
              <a:path w="424179" h="270510">
                <a:moveTo>
                  <a:pt x="352120" y="182214"/>
                </a:moveTo>
                <a:lnTo>
                  <a:pt x="350463" y="184151"/>
                </a:lnTo>
                <a:lnTo>
                  <a:pt x="351367" y="183413"/>
                </a:lnTo>
                <a:lnTo>
                  <a:pt x="352120" y="182214"/>
                </a:lnTo>
                <a:close/>
              </a:path>
              <a:path w="424179" h="270510">
                <a:moveTo>
                  <a:pt x="351367" y="183413"/>
                </a:moveTo>
                <a:lnTo>
                  <a:pt x="350463" y="184151"/>
                </a:lnTo>
                <a:lnTo>
                  <a:pt x="350903" y="184151"/>
                </a:lnTo>
                <a:lnTo>
                  <a:pt x="351367" y="183413"/>
                </a:lnTo>
                <a:close/>
              </a:path>
              <a:path w="424179" h="270510">
                <a:moveTo>
                  <a:pt x="279920" y="157091"/>
                </a:moveTo>
                <a:lnTo>
                  <a:pt x="273638" y="157091"/>
                </a:lnTo>
                <a:lnTo>
                  <a:pt x="277887" y="173808"/>
                </a:lnTo>
                <a:lnTo>
                  <a:pt x="297718" y="183708"/>
                </a:lnTo>
                <a:lnTo>
                  <a:pt x="310204" y="177493"/>
                </a:lnTo>
                <a:lnTo>
                  <a:pt x="314226" y="168469"/>
                </a:lnTo>
                <a:lnTo>
                  <a:pt x="296826" y="168469"/>
                </a:lnTo>
                <a:lnTo>
                  <a:pt x="297143" y="167761"/>
                </a:lnTo>
                <a:lnTo>
                  <a:pt x="294151" y="167761"/>
                </a:lnTo>
                <a:lnTo>
                  <a:pt x="297728" y="165984"/>
                </a:lnTo>
                <a:lnTo>
                  <a:pt x="279920" y="157091"/>
                </a:lnTo>
                <a:close/>
              </a:path>
              <a:path w="424179" h="270510">
                <a:moveTo>
                  <a:pt x="352834" y="182214"/>
                </a:moveTo>
                <a:lnTo>
                  <a:pt x="352120" y="182214"/>
                </a:lnTo>
                <a:lnTo>
                  <a:pt x="351367" y="183413"/>
                </a:lnTo>
                <a:lnTo>
                  <a:pt x="352834" y="182214"/>
                </a:lnTo>
                <a:close/>
              </a:path>
              <a:path w="424179" h="270510">
                <a:moveTo>
                  <a:pt x="273638" y="157091"/>
                </a:moveTo>
                <a:lnTo>
                  <a:pt x="262427" y="166090"/>
                </a:lnTo>
                <a:lnTo>
                  <a:pt x="277887" y="173808"/>
                </a:lnTo>
                <a:lnTo>
                  <a:pt x="273638" y="157091"/>
                </a:lnTo>
                <a:close/>
              </a:path>
              <a:path w="424179" h="270510">
                <a:moveTo>
                  <a:pt x="297898" y="166069"/>
                </a:moveTo>
                <a:lnTo>
                  <a:pt x="296826" y="168469"/>
                </a:lnTo>
                <a:lnTo>
                  <a:pt x="298723" y="166481"/>
                </a:lnTo>
                <a:lnTo>
                  <a:pt x="297898" y="166069"/>
                </a:lnTo>
                <a:close/>
              </a:path>
              <a:path w="424179" h="270510">
                <a:moveTo>
                  <a:pt x="298723" y="166481"/>
                </a:moveTo>
                <a:lnTo>
                  <a:pt x="296826" y="168469"/>
                </a:lnTo>
                <a:lnTo>
                  <a:pt x="314226" y="168469"/>
                </a:lnTo>
                <a:lnTo>
                  <a:pt x="314542" y="167761"/>
                </a:lnTo>
                <a:lnTo>
                  <a:pt x="301285" y="167761"/>
                </a:lnTo>
                <a:lnTo>
                  <a:pt x="298723" y="166481"/>
                </a:lnTo>
                <a:close/>
              </a:path>
              <a:path w="424179" h="270510">
                <a:moveTo>
                  <a:pt x="297728" y="165984"/>
                </a:moveTo>
                <a:lnTo>
                  <a:pt x="294151" y="167761"/>
                </a:lnTo>
                <a:lnTo>
                  <a:pt x="297143" y="167761"/>
                </a:lnTo>
                <a:lnTo>
                  <a:pt x="297898" y="166069"/>
                </a:lnTo>
                <a:lnTo>
                  <a:pt x="297728" y="165984"/>
                </a:lnTo>
                <a:close/>
              </a:path>
              <a:path w="424179" h="270510">
                <a:moveTo>
                  <a:pt x="315952" y="164597"/>
                </a:moveTo>
                <a:lnTo>
                  <a:pt x="300521" y="164597"/>
                </a:lnTo>
                <a:lnTo>
                  <a:pt x="298723" y="166481"/>
                </a:lnTo>
                <a:lnTo>
                  <a:pt x="301285" y="167761"/>
                </a:lnTo>
                <a:lnTo>
                  <a:pt x="314542" y="167761"/>
                </a:lnTo>
                <a:lnTo>
                  <a:pt x="315952" y="164597"/>
                </a:lnTo>
                <a:close/>
              </a:path>
              <a:path w="424179" h="270510">
                <a:moveTo>
                  <a:pt x="300521" y="164597"/>
                </a:moveTo>
                <a:lnTo>
                  <a:pt x="297996" y="165851"/>
                </a:lnTo>
                <a:lnTo>
                  <a:pt x="297940" y="166090"/>
                </a:lnTo>
                <a:lnTo>
                  <a:pt x="298723" y="166481"/>
                </a:lnTo>
                <a:lnTo>
                  <a:pt x="300521" y="164597"/>
                </a:lnTo>
                <a:close/>
              </a:path>
              <a:path w="424179" h="270510">
                <a:moveTo>
                  <a:pt x="297996" y="165851"/>
                </a:moveTo>
                <a:lnTo>
                  <a:pt x="297728" y="165984"/>
                </a:lnTo>
                <a:lnTo>
                  <a:pt x="297898" y="166069"/>
                </a:lnTo>
                <a:lnTo>
                  <a:pt x="297996" y="165851"/>
                </a:lnTo>
                <a:close/>
              </a:path>
              <a:path w="424179" h="270510">
                <a:moveTo>
                  <a:pt x="307264" y="145098"/>
                </a:moveTo>
                <a:lnTo>
                  <a:pt x="297996" y="165851"/>
                </a:lnTo>
                <a:lnTo>
                  <a:pt x="300521" y="164597"/>
                </a:lnTo>
                <a:lnTo>
                  <a:pt x="315952" y="164597"/>
                </a:lnTo>
                <a:lnTo>
                  <a:pt x="322914" y="148978"/>
                </a:lnTo>
                <a:lnTo>
                  <a:pt x="311478" y="148978"/>
                </a:lnTo>
                <a:lnTo>
                  <a:pt x="307264" y="145098"/>
                </a:lnTo>
                <a:close/>
              </a:path>
              <a:path w="424179" h="270510">
                <a:moveTo>
                  <a:pt x="385372" y="155636"/>
                </a:moveTo>
                <a:lnTo>
                  <a:pt x="381040" y="157395"/>
                </a:lnTo>
                <a:lnTo>
                  <a:pt x="383491" y="157172"/>
                </a:lnTo>
                <a:lnTo>
                  <a:pt x="385372" y="155636"/>
                </a:lnTo>
                <a:close/>
              </a:path>
              <a:path w="424179" h="270510">
                <a:moveTo>
                  <a:pt x="383491" y="157172"/>
                </a:moveTo>
                <a:lnTo>
                  <a:pt x="381040" y="157395"/>
                </a:lnTo>
                <a:lnTo>
                  <a:pt x="383218" y="157395"/>
                </a:lnTo>
                <a:lnTo>
                  <a:pt x="383491" y="157172"/>
                </a:lnTo>
                <a:close/>
              </a:path>
              <a:path w="424179" h="270510">
                <a:moveTo>
                  <a:pt x="400382" y="155636"/>
                </a:moveTo>
                <a:lnTo>
                  <a:pt x="385372" y="155636"/>
                </a:lnTo>
                <a:lnTo>
                  <a:pt x="383491" y="157172"/>
                </a:lnTo>
                <a:lnTo>
                  <a:pt x="400382" y="155636"/>
                </a:lnTo>
                <a:close/>
              </a:path>
              <a:path w="424179" h="270510">
                <a:moveTo>
                  <a:pt x="309566" y="139942"/>
                </a:moveTo>
                <a:lnTo>
                  <a:pt x="307264" y="145098"/>
                </a:lnTo>
                <a:lnTo>
                  <a:pt x="311478" y="148978"/>
                </a:lnTo>
                <a:lnTo>
                  <a:pt x="309566" y="139942"/>
                </a:lnTo>
                <a:close/>
              </a:path>
              <a:path w="424179" h="270510">
                <a:moveTo>
                  <a:pt x="325022" y="139942"/>
                </a:moveTo>
                <a:lnTo>
                  <a:pt x="309566" y="139942"/>
                </a:lnTo>
                <a:lnTo>
                  <a:pt x="311478" y="148978"/>
                </a:lnTo>
                <a:lnTo>
                  <a:pt x="322914" y="148978"/>
                </a:lnTo>
                <a:lnTo>
                  <a:pt x="326384" y="141195"/>
                </a:lnTo>
                <a:lnTo>
                  <a:pt x="325022" y="139942"/>
                </a:lnTo>
                <a:close/>
              </a:path>
              <a:path w="424179" h="270510">
                <a:moveTo>
                  <a:pt x="293521" y="110959"/>
                </a:moveTo>
                <a:lnTo>
                  <a:pt x="270199" y="110959"/>
                </a:lnTo>
                <a:lnTo>
                  <a:pt x="277461" y="112819"/>
                </a:lnTo>
                <a:lnTo>
                  <a:pt x="273335" y="113848"/>
                </a:lnTo>
                <a:lnTo>
                  <a:pt x="307264" y="145098"/>
                </a:lnTo>
                <a:lnTo>
                  <a:pt x="309566" y="139942"/>
                </a:lnTo>
                <a:lnTo>
                  <a:pt x="325022" y="139942"/>
                </a:lnTo>
                <a:lnTo>
                  <a:pt x="293521" y="110959"/>
                </a:lnTo>
                <a:close/>
              </a:path>
              <a:path w="424179" h="270510">
                <a:moveTo>
                  <a:pt x="147685" y="58859"/>
                </a:moveTo>
                <a:lnTo>
                  <a:pt x="195157" y="115641"/>
                </a:lnTo>
                <a:lnTo>
                  <a:pt x="237710" y="122729"/>
                </a:lnTo>
                <a:lnTo>
                  <a:pt x="273335" y="113848"/>
                </a:lnTo>
                <a:lnTo>
                  <a:pt x="270199" y="110959"/>
                </a:lnTo>
                <a:lnTo>
                  <a:pt x="293521" y="110959"/>
                </a:lnTo>
                <a:lnTo>
                  <a:pt x="289174" y="106959"/>
                </a:lnTo>
                <a:lnTo>
                  <a:pt x="235545" y="106959"/>
                </a:lnTo>
                <a:lnTo>
                  <a:pt x="237122" y="106565"/>
                </a:lnTo>
                <a:lnTo>
                  <a:pt x="217136" y="103238"/>
                </a:lnTo>
                <a:lnTo>
                  <a:pt x="205350" y="103238"/>
                </a:lnTo>
                <a:lnTo>
                  <a:pt x="200636" y="100492"/>
                </a:lnTo>
                <a:lnTo>
                  <a:pt x="203059" y="100492"/>
                </a:lnTo>
                <a:lnTo>
                  <a:pt x="168575" y="59156"/>
                </a:lnTo>
                <a:lnTo>
                  <a:pt x="150961" y="59156"/>
                </a:lnTo>
                <a:lnTo>
                  <a:pt x="147685" y="58859"/>
                </a:lnTo>
                <a:close/>
              </a:path>
              <a:path w="424179" h="270510">
                <a:moveTo>
                  <a:pt x="270199" y="110959"/>
                </a:moveTo>
                <a:lnTo>
                  <a:pt x="273335" y="113848"/>
                </a:lnTo>
                <a:lnTo>
                  <a:pt x="277461" y="112819"/>
                </a:lnTo>
                <a:lnTo>
                  <a:pt x="270199" y="110959"/>
                </a:lnTo>
                <a:close/>
              </a:path>
              <a:path w="424179" h="270510">
                <a:moveTo>
                  <a:pt x="237122" y="106565"/>
                </a:moveTo>
                <a:lnTo>
                  <a:pt x="235545" y="106959"/>
                </a:lnTo>
                <a:lnTo>
                  <a:pt x="238730" y="106833"/>
                </a:lnTo>
                <a:lnTo>
                  <a:pt x="237122" y="106565"/>
                </a:lnTo>
                <a:close/>
              </a:path>
              <a:path w="424179" h="270510">
                <a:moveTo>
                  <a:pt x="277715" y="96416"/>
                </a:moveTo>
                <a:lnTo>
                  <a:pt x="237122" y="106565"/>
                </a:lnTo>
                <a:lnTo>
                  <a:pt x="238730" y="106833"/>
                </a:lnTo>
                <a:lnTo>
                  <a:pt x="235545" y="106959"/>
                </a:lnTo>
                <a:lnTo>
                  <a:pt x="289174" y="106959"/>
                </a:lnTo>
                <a:lnTo>
                  <a:pt x="277715" y="96416"/>
                </a:lnTo>
                <a:close/>
              </a:path>
              <a:path w="424179" h="270510">
                <a:moveTo>
                  <a:pt x="200636" y="100492"/>
                </a:moveTo>
                <a:lnTo>
                  <a:pt x="205350" y="103238"/>
                </a:lnTo>
                <a:lnTo>
                  <a:pt x="203449" y="100960"/>
                </a:lnTo>
                <a:lnTo>
                  <a:pt x="200636" y="100492"/>
                </a:lnTo>
                <a:close/>
              </a:path>
              <a:path w="424179" h="270510">
                <a:moveTo>
                  <a:pt x="203449" y="100960"/>
                </a:moveTo>
                <a:lnTo>
                  <a:pt x="205350" y="103238"/>
                </a:lnTo>
                <a:lnTo>
                  <a:pt x="217136" y="103238"/>
                </a:lnTo>
                <a:lnTo>
                  <a:pt x="203449" y="100960"/>
                </a:lnTo>
                <a:close/>
              </a:path>
              <a:path w="424179" h="270510">
                <a:moveTo>
                  <a:pt x="203059" y="100492"/>
                </a:moveTo>
                <a:lnTo>
                  <a:pt x="200636" y="100492"/>
                </a:lnTo>
                <a:lnTo>
                  <a:pt x="203449" y="100960"/>
                </a:lnTo>
                <a:lnTo>
                  <a:pt x="203059" y="100492"/>
                </a:lnTo>
                <a:close/>
              </a:path>
              <a:path w="424179" h="270510">
                <a:moveTo>
                  <a:pt x="55013" y="0"/>
                </a:moveTo>
                <a:lnTo>
                  <a:pt x="0" y="58548"/>
                </a:lnTo>
                <a:lnTo>
                  <a:pt x="165" y="63560"/>
                </a:lnTo>
                <a:lnTo>
                  <a:pt x="6561" y="69547"/>
                </a:lnTo>
                <a:lnTo>
                  <a:pt x="11581" y="69382"/>
                </a:lnTo>
                <a:lnTo>
                  <a:pt x="57826" y="20159"/>
                </a:lnTo>
                <a:lnTo>
                  <a:pt x="52337" y="16871"/>
                </a:lnTo>
                <a:lnTo>
                  <a:pt x="62211" y="15491"/>
                </a:lnTo>
                <a:lnTo>
                  <a:pt x="94150" y="15491"/>
                </a:lnTo>
                <a:lnTo>
                  <a:pt x="79295" y="12795"/>
                </a:lnTo>
                <a:lnTo>
                  <a:pt x="76378" y="12795"/>
                </a:lnTo>
                <a:lnTo>
                  <a:pt x="73716" y="11783"/>
                </a:lnTo>
                <a:lnTo>
                  <a:pt x="74688" y="11783"/>
                </a:lnTo>
                <a:lnTo>
                  <a:pt x="55013" y="0"/>
                </a:lnTo>
                <a:close/>
              </a:path>
              <a:path w="424179" h="270510">
                <a:moveTo>
                  <a:pt x="145584" y="56346"/>
                </a:moveTo>
                <a:lnTo>
                  <a:pt x="147685" y="58859"/>
                </a:lnTo>
                <a:lnTo>
                  <a:pt x="150961" y="59156"/>
                </a:lnTo>
                <a:lnTo>
                  <a:pt x="145584" y="56346"/>
                </a:lnTo>
                <a:close/>
              </a:path>
              <a:path w="424179" h="270510">
                <a:moveTo>
                  <a:pt x="166231" y="56346"/>
                </a:moveTo>
                <a:lnTo>
                  <a:pt x="145584" y="56346"/>
                </a:lnTo>
                <a:lnTo>
                  <a:pt x="150961" y="59156"/>
                </a:lnTo>
                <a:lnTo>
                  <a:pt x="168575" y="59156"/>
                </a:lnTo>
                <a:lnTo>
                  <a:pt x="166231" y="56346"/>
                </a:lnTo>
                <a:close/>
              </a:path>
              <a:path w="424179" h="270510">
                <a:moveTo>
                  <a:pt x="101601" y="32953"/>
                </a:moveTo>
                <a:lnTo>
                  <a:pt x="111313" y="55561"/>
                </a:lnTo>
                <a:lnTo>
                  <a:pt x="147685" y="58859"/>
                </a:lnTo>
                <a:lnTo>
                  <a:pt x="145584" y="56346"/>
                </a:lnTo>
                <a:lnTo>
                  <a:pt x="166231" y="56346"/>
                </a:lnTo>
                <a:lnTo>
                  <a:pt x="156750" y="44980"/>
                </a:lnTo>
                <a:lnTo>
                  <a:pt x="124053" y="44980"/>
                </a:lnTo>
                <a:lnTo>
                  <a:pt x="117466" y="40209"/>
                </a:lnTo>
                <a:lnTo>
                  <a:pt x="122003" y="40209"/>
                </a:lnTo>
                <a:lnTo>
                  <a:pt x="119214" y="33716"/>
                </a:lnTo>
                <a:lnTo>
                  <a:pt x="105809" y="33716"/>
                </a:lnTo>
                <a:lnTo>
                  <a:pt x="101601" y="32953"/>
                </a:lnTo>
                <a:close/>
              </a:path>
              <a:path w="424179" h="270510">
                <a:moveTo>
                  <a:pt x="117466" y="40209"/>
                </a:moveTo>
                <a:lnTo>
                  <a:pt x="124053" y="44980"/>
                </a:lnTo>
                <a:lnTo>
                  <a:pt x="122187" y="40638"/>
                </a:lnTo>
                <a:lnTo>
                  <a:pt x="117466" y="40209"/>
                </a:lnTo>
                <a:close/>
              </a:path>
              <a:path w="424179" h="270510">
                <a:moveTo>
                  <a:pt x="122187" y="40638"/>
                </a:moveTo>
                <a:lnTo>
                  <a:pt x="124053" y="44980"/>
                </a:lnTo>
                <a:lnTo>
                  <a:pt x="156750" y="44980"/>
                </a:lnTo>
                <a:lnTo>
                  <a:pt x="155662" y="43677"/>
                </a:lnTo>
                <a:lnTo>
                  <a:pt x="122187" y="40638"/>
                </a:lnTo>
                <a:close/>
              </a:path>
              <a:path w="424179" h="270510">
                <a:moveTo>
                  <a:pt x="122003" y="40209"/>
                </a:moveTo>
                <a:lnTo>
                  <a:pt x="117466" y="40209"/>
                </a:lnTo>
                <a:lnTo>
                  <a:pt x="122187" y="40638"/>
                </a:lnTo>
                <a:lnTo>
                  <a:pt x="122003" y="40209"/>
                </a:lnTo>
                <a:close/>
              </a:path>
              <a:path w="424179" h="270510">
                <a:moveTo>
                  <a:pt x="99923" y="29046"/>
                </a:moveTo>
                <a:lnTo>
                  <a:pt x="101601" y="32953"/>
                </a:lnTo>
                <a:lnTo>
                  <a:pt x="105809" y="33716"/>
                </a:lnTo>
                <a:lnTo>
                  <a:pt x="99923" y="29046"/>
                </a:lnTo>
                <a:close/>
              </a:path>
              <a:path w="424179" h="270510">
                <a:moveTo>
                  <a:pt x="117208" y="29046"/>
                </a:moveTo>
                <a:lnTo>
                  <a:pt x="99923" y="29046"/>
                </a:lnTo>
                <a:lnTo>
                  <a:pt x="105809" y="33716"/>
                </a:lnTo>
                <a:lnTo>
                  <a:pt x="119214" y="33716"/>
                </a:lnTo>
                <a:lnTo>
                  <a:pt x="117208" y="29046"/>
                </a:lnTo>
                <a:close/>
              </a:path>
              <a:path w="424179" h="270510">
                <a:moveTo>
                  <a:pt x="94150" y="15491"/>
                </a:moveTo>
                <a:lnTo>
                  <a:pt x="62211" y="15491"/>
                </a:lnTo>
                <a:lnTo>
                  <a:pt x="57826" y="20159"/>
                </a:lnTo>
                <a:lnTo>
                  <a:pt x="69448" y="27122"/>
                </a:lnTo>
                <a:lnTo>
                  <a:pt x="101601" y="32953"/>
                </a:lnTo>
                <a:lnTo>
                  <a:pt x="99923" y="29046"/>
                </a:lnTo>
                <a:lnTo>
                  <a:pt x="117208" y="29046"/>
                </a:lnTo>
                <a:lnTo>
                  <a:pt x="112841" y="18883"/>
                </a:lnTo>
                <a:lnTo>
                  <a:pt x="94150" y="15491"/>
                </a:lnTo>
                <a:close/>
              </a:path>
              <a:path w="424179" h="270510">
                <a:moveTo>
                  <a:pt x="62211" y="15491"/>
                </a:moveTo>
                <a:lnTo>
                  <a:pt x="52337" y="16871"/>
                </a:lnTo>
                <a:lnTo>
                  <a:pt x="57826" y="20159"/>
                </a:lnTo>
                <a:lnTo>
                  <a:pt x="62211" y="15491"/>
                </a:lnTo>
                <a:close/>
              </a:path>
              <a:path w="424179" h="270510">
                <a:moveTo>
                  <a:pt x="73716" y="11783"/>
                </a:moveTo>
                <a:lnTo>
                  <a:pt x="76378" y="12795"/>
                </a:lnTo>
                <a:lnTo>
                  <a:pt x="75110" y="12036"/>
                </a:lnTo>
                <a:lnTo>
                  <a:pt x="73716" y="11783"/>
                </a:lnTo>
                <a:close/>
              </a:path>
              <a:path w="424179" h="270510">
                <a:moveTo>
                  <a:pt x="75110" y="12036"/>
                </a:moveTo>
                <a:lnTo>
                  <a:pt x="76378" y="12795"/>
                </a:lnTo>
                <a:lnTo>
                  <a:pt x="79295" y="12795"/>
                </a:lnTo>
                <a:lnTo>
                  <a:pt x="75110" y="12036"/>
                </a:lnTo>
                <a:close/>
              </a:path>
              <a:path w="424179" h="270510">
                <a:moveTo>
                  <a:pt x="74688" y="11783"/>
                </a:moveTo>
                <a:lnTo>
                  <a:pt x="73716" y="11783"/>
                </a:lnTo>
                <a:lnTo>
                  <a:pt x="75110" y="12036"/>
                </a:lnTo>
                <a:lnTo>
                  <a:pt x="74688" y="11783"/>
                </a:lnTo>
                <a:close/>
              </a:path>
            </a:pathLst>
          </a:custGeom>
          <a:solidFill>
            <a:srgbClr val="7B0D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13242" y="4122670"/>
            <a:ext cx="1943268" cy="12833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39157" y="3960517"/>
            <a:ext cx="1034390" cy="18293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93444" y="3374516"/>
            <a:ext cx="8934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Major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11170" y="3374516"/>
            <a:ext cx="19437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Place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birth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99428" y="3383737"/>
            <a:ext cx="1398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Eye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color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1544" y="844372"/>
            <a:ext cx="299148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Types </a:t>
            </a:r>
            <a:r>
              <a:rPr spc="-145" dirty="0"/>
              <a:t>of</a:t>
            </a:r>
            <a:r>
              <a:rPr spc="-345" dirty="0"/>
              <a:t> </a:t>
            </a:r>
            <a:r>
              <a:rPr spc="-195" dirty="0"/>
              <a:t>Variavles</a:t>
            </a:r>
          </a:p>
        </p:txBody>
      </p:sp>
      <p:sp>
        <p:nvSpPr>
          <p:cNvPr id="81" name="object 8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30"/>
              </a:lnSpc>
            </a:pPr>
            <a:r>
              <a:rPr dirty="0"/>
              <a:t>22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8716" y="1684781"/>
            <a:ext cx="3961765" cy="802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100" b="1" spc="-114" dirty="0">
                <a:solidFill>
                  <a:srgbClr val="EC7C30"/>
                </a:solidFill>
                <a:latin typeface="Trebuchet MS"/>
                <a:cs typeface="Trebuchet MS"/>
              </a:rPr>
              <a:t>Quantitative</a:t>
            </a:r>
            <a:r>
              <a:rPr sz="2100" b="1" spc="-175" dirty="0">
                <a:solidFill>
                  <a:srgbClr val="EC7C30"/>
                </a:solidFill>
                <a:latin typeface="Trebuchet MS"/>
                <a:cs typeface="Trebuchet MS"/>
              </a:rPr>
              <a:t> </a:t>
            </a:r>
            <a:r>
              <a:rPr sz="2100" b="1" spc="-114" dirty="0">
                <a:solidFill>
                  <a:srgbClr val="EC7C30"/>
                </a:solidFill>
                <a:latin typeface="Trebuchet MS"/>
                <a:cs typeface="Trebuchet MS"/>
              </a:rPr>
              <a:t>variables</a:t>
            </a:r>
            <a:endParaRPr sz="2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100" spc="-80" dirty="0">
                <a:latin typeface="Arial"/>
                <a:cs typeface="Arial"/>
              </a:rPr>
              <a:t>Numerical </a:t>
            </a:r>
            <a:r>
              <a:rPr sz="2100" spc="-100" dirty="0">
                <a:latin typeface="Arial"/>
                <a:cs typeface="Arial"/>
              </a:rPr>
              <a:t>measurements </a:t>
            </a:r>
            <a:r>
              <a:rPr sz="2100" spc="-20" dirty="0">
                <a:latin typeface="Arial"/>
                <a:cs typeface="Arial"/>
              </a:rPr>
              <a:t>or</a:t>
            </a:r>
            <a:r>
              <a:rPr sz="2100" spc="-150" dirty="0">
                <a:latin typeface="Arial"/>
                <a:cs typeface="Arial"/>
              </a:rPr>
              <a:t> </a:t>
            </a:r>
            <a:r>
              <a:rPr sz="2100" spc="-85" dirty="0">
                <a:latin typeface="Arial"/>
                <a:cs typeface="Arial"/>
              </a:rPr>
              <a:t>counts.</a:t>
            </a:r>
            <a:endParaRPr sz="21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5223" y="3861301"/>
            <a:ext cx="1781300" cy="14178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98194" y="3198367"/>
            <a:ext cx="6172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Age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78338" y="4225604"/>
            <a:ext cx="1652905" cy="1307465"/>
          </a:xfrm>
          <a:custGeom>
            <a:avLst/>
            <a:gdLst/>
            <a:ahLst/>
            <a:cxnLst/>
            <a:rect l="l" t="t" r="r" b="b"/>
            <a:pathLst>
              <a:path w="1652904" h="1307464">
                <a:moveTo>
                  <a:pt x="707738" y="0"/>
                </a:moveTo>
                <a:lnTo>
                  <a:pt x="277980" y="419835"/>
                </a:lnTo>
                <a:lnTo>
                  <a:pt x="0" y="864255"/>
                </a:lnTo>
                <a:lnTo>
                  <a:pt x="0" y="1038562"/>
                </a:lnTo>
                <a:lnTo>
                  <a:pt x="965599" y="1306853"/>
                </a:lnTo>
                <a:lnTo>
                  <a:pt x="1652352" y="673526"/>
                </a:lnTo>
                <a:lnTo>
                  <a:pt x="1652352" y="153365"/>
                </a:lnTo>
                <a:lnTo>
                  <a:pt x="7077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39528" y="4331522"/>
            <a:ext cx="1172845" cy="546100"/>
          </a:xfrm>
          <a:custGeom>
            <a:avLst/>
            <a:gdLst/>
            <a:ahLst/>
            <a:cxnLst/>
            <a:rect l="l" t="t" r="r" b="b"/>
            <a:pathLst>
              <a:path w="1172845" h="546100">
                <a:moveTo>
                  <a:pt x="379465" y="0"/>
                </a:moveTo>
                <a:lnTo>
                  <a:pt x="0" y="371413"/>
                </a:lnTo>
                <a:lnTo>
                  <a:pt x="801008" y="545706"/>
                </a:lnTo>
                <a:lnTo>
                  <a:pt x="1172308" y="128667"/>
                </a:lnTo>
                <a:lnTo>
                  <a:pt x="379465" y="0"/>
                </a:lnTo>
                <a:close/>
              </a:path>
            </a:pathLst>
          </a:custGeom>
          <a:solidFill>
            <a:srgbClr val="7EB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98124" y="4735782"/>
            <a:ext cx="1021080" cy="562610"/>
          </a:xfrm>
          <a:custGeom>
            <a:avLst/>
            <a:gdLst/>
            <a:ahLst/>
            <a:cxnLst/>
            <a:rect l="l" t="t" r="r" b="b"/>
            <a:pathLst>
              <a:path w="1021079" h="562610">
                <a:moveTo>
                  <a:pt x="218538" y="0"/>
                </a:moveTo>
                <a:lnTo>
                  <a:pt x="0" y="351345"/>
                </a:lnTo>
                <a:lnTo>
                  <a:pt x="799176" y="562142"/>
                </a:lnTo>
                <a:lnTo>
                  <a:pt x="1020463" y="174306"/>
                </a:lnTo>
                <a:lnTo>
                  <a:pt x="218538" y="0"/>
                </a:lnTo>
                <a:close/>
              </a:path>
            </a:pathLst>
          </a:custGeom>
          <a:solidFill>
            <a:srgbClr val="7EB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78007" y="5120885"/>
            <a:ext cx="810260" cy="293370"/>
          </a:xfrm>
          <a:custGeom>
            <a:avLst/>
            <a:gdLst/>
            <a:ahLst/>
            <a:cxnLst/>
            <a:rect l="l" t="t" r="r" b="b"/>
            <a:pathLst>
              <a:path w="810260" h="293370">
                <a:moveTo>
                  <a:pt x="0" y="0"/>
                </a:moveTo>
                <a:lnTo>
                  <a:pt x="0" y="67528"/>
                </a:lnTo>
                <a:lnTo>
                  <a:pt x="810147" y="292938"/>
                </a:lnTo>
                <a:lnTo>
                  <a:pt x="810147" y="213542"/>
                </a:lnTo>
                <a:lnTo>
                  <a:pt x="0" y="0"/>
                </a:lnTo>
                <a:close/>
              </a:path>
            </a:pathLst>
          </a:custGeom>
          <a:solidFill>
            <a:srgbClr val="7EB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25644" y="4495782"/>
            <a:ext cx="605790" cy="918210"/>
          </a:xfrm>
          <a:custGeom>
            <a:avLst/>
            <a:gdLst/>
            <a:ahLst/>
            <a:cxnLst/>
            <a:rect l="l" t="t" r="r" b="b"/>
            <a:pathLst>
              <a:path w="605789" h="918210">
                <a:moveTo>
                  <a:pt x="605300" y="0"/>
                </a:moveTo>
                <a:lnTo>
                  <a:pt x="236828" y="412484"/>
                </a:lnTo>
                <a:lnTo>
                  <a:pt x="0" y="828612"/>
                </a:lnTo>
                <a:lnTo>
                  <a:pt x="0" y="918042"/>
                </a:lnTo>
                <a:lnTo>
                  <a:pt x="605300" y="359544"/>
                </a:lnTo>
                <a:lnTo>
                  <a:pt x="605300" y="0"/>
                </a:lnTo>
                <a:close/>
              </a:path>
            </a:pathLst>
          </a:custGeom>
          <a:solidFill>
            <a:srgbClr val="7EB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39771" y="4461100"/>
            <a:ext cx="787400" cy="179070"/>
          </a:xfrm>
          <a:custGeom>
            <a:avLst/>
            <a:gdLst/>
            <a:ahLst/>
            <a:cxnLst/>
            <a:rect l="l" t="t" r="r" b="b"/>
            <a:pathLst>
              <a:path w="787400" h="179070">
                <a:moveTo>
                  <a:pt x="393198" y="0"/>
                </a:moveTo>
                <a:lnTo>
                  <a:pt x="352956" y="911"/>
                </a:lnTo>
                <a:lnTo>
                  <a:pt x="313644" y="2733"/>
                </a:lnTo>
                <a:lnTo>
                  <a:pt x="240484" y="11868"/>
                </a:lnTo>
                <a:lnTo>
                  <a:pt x="173732" y="25558"/>
                </a:lnTo>
                <a:lnTo>
                  <a:pt x="115223" y="43804"/>
                </a:lnTo>
                <a:lnTo>
                  <a:pt x="67668" y="65706"/>
                </a:lnTo>
                <a:lnTo>
                  <a:pt x="31095" y="91252"/>
                </a:lnTo>
                <a:lnTo>
                  <a:pt x="1834" y="133234"/>
                </a:lnTo>
                <a:lnTo>
                  <a:pt x="0" y="148747"/>
                </a:lnTo>
                <a:lnTo>
                  <a:pt x="917" y="156048"/>
                </a:lnTo>
                <a:lnTo>
                  <a:pt x="2751" y="164259"/>
                </a:lnTo>
                <a:lnTo>
                  <a:pt x="5490" y="171560"/>
                </a:lnTo>
                <a:lnTo>
                  <a:pt x="9146" y="178861"/>
                </a:lnTo>
                <a:lnTo>
                  <a:pt x="9146" y="176128"/>
                </a:lnTo>
                <a:lnTo>
                  <a:pt x="8229" y="175217"/>
                </a:lnTo>
                <a:lnTo>
                  <a:pt x="8229" y="173395"/>
                </a:lnTo>
                <a:lnTo>
                  <a:pt x="25605" y="129590"/>
                </a:lnTo>
                <a:lnTo>
                  <a:pt x="55783" y="102210"/>
                </a:lnTo>
                <a:lnTo>
                  <a:pt x="97847" y="78485"/>
                </a:lnTo>
                <a:lnTo>
                  <a:pt x="151796" y="58405"/>
                </a:lnTo>
                <a:lnTo>
                  <a:pt x="213975" y="42893"/>
                </a:lnTo>
                <a:lnTo>
                  <a:pt x="284382" y="31024"/>
                </a:lnTo>
                <a:lnTo>
                  <a:pt x="361185" y="25558"/>
                </a:lnTo>
                <a:lnTo>
                  <a:pt x="401427" y="24635"/>
                </a:lnTo>
                <a:lnTo>
                  <a:pt x="612241" y="24635"/>
                </a:lnTo>
                <a:lnTo>
                  <a:pt x="608995" y="23724"/>
                </a:lnTo>
                <a:lnTo>
                  <a:pt x="543147" y="10957"/>
                </a:lnTo>
                <a:lnTo>
                  <a:pt x="470918" y="2733"/>
                </a:lnTo>
                <a:lnTo>
                  <a:pt x="432510" y="911"/>
                </a:lnTo>
                <a:lnTo>
                  <a:pt x="393198" y="0"/>
                </a:lnTo>
                <a:close/>
              </a:path>
              <a:path w="787400" h="179070">
                <a:moveTo>
                  <a:pt x="612241" y="24635"/>
                </a:moveTo>
                <a:lnTo>
                  <a:pt x="401427" y="24635"/>
                </a:lnTo>
                <a:lnTo>
                  <a:pt x="436166" y="25558"/>
                </a:lnTo>
                <a:lnTo>
                  <a:pt x="470918" y="27380"/>
                </a:lnTo>
                <a:lnTo>
                  <a:pt x="535835" y="33770"/>
                </a:lnTo>
                <a:lnTo>
                  <a:pt x="596192" y="43804"/>
                </a:lnTo>
                <a:lnTo>
                  <a:pt x="651046" y="58405"/>
                </a:lnTo>
                <a:lnTo>
                  <a:pt x="698600" y="75740"/>
                </a:lnTo>
                <a:lnTo>
                  <a:pt x="737033" y="95820"/>
                </a:lnTo>
                <a:lnTo>
                  <a:pt x="779071" y="129590"/>
                </a:lnTo>
                <a:lnTo>
                  <a:pt x="787352" y="142357"/>
                </a:lnTo>
                <a:lnTo>
                  <a:pt x="783657" y="127756"/>
                </a:lnTo>
                <a:lnTo>
                  <a:pt x="751683" y="86697"/>
                </a:lnTo>
                <a:lnTo>
                  <a:pt x="714103" y="62049"/>
                </a:lnTo>
                <a:lnTo>
                  <a:pt x="666600" y="41071"/>
                </a:lnTo>
                <a:lnTo>
                  <a:pt x="638256" y="31935"/>
                </a:lnTo>
                <a:lnTo>
                  <a:pt x="612241" y="246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87070" y="4805145"/>
            <a:ext cx="134620" cy="81280"/>
          </a:xfrm>
          <a:custGeom>
            <a:avLst/>
            <a:gdLst/>
            <a:ahLst/>
            <a:cxnLst/>
            <a:rect l="l" t="t" r="r" b="b"/>
            <a:pathLst>
              <a:path w="134620" h="81279">
                <a:moveTo>
                  <a:pt x="34751" y="0"/>
                </a:moveTo>
                <a:lnTo>
                  <a:pt x="0" y="57482"/>
                </a:lnTo>
                <a:lnTo>
                  <a:pt x="101503" y="81218"/>
                </a:lnTo>
                <a:lnTo>
                  <a:pt x="134420" y="22813"/>
                </a:lnTo>
                <a:lnTo>
                  <a:pt x="347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20904" y="4825212"/>
            <a:ext cx="67945" cy="41275"/>
          </a:xfrm>
          <a:custGeom>
            <a:avLst/>
            <a:gdLst/>
            <a:ahLst/>
            <a:cxnLst/>
            <a:rect l="l" t="t" r="r" b="b"/>
            <a:pathLst>
              <a:path w="67945" h="41275">
                <a:moveTo>
                  <a:pt x="17375" y="0"/>
                </a:moveTo>
                <a:lnTo>
                  <a:pt x="0" y="29202"/>
                </a:lnTo>
                <a:lnTo>
                  <a:pt x="50293" y="41071"/>
                </a:lnTo>
                <a:lnTo>
                  <a:pt x="67668" y="10957"/>
                </a:lnTo>
                <a:lnTo>
                  <a:pt x="173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30637" y="4837081"/>
            <a:ext cx="132715" cy="83185"/>
          </a:xfrm>
          <a:custGeom>
            <a:avLst/>
            <a:gdLst/>
            <a:ahLst/>
            <a:cxnLst/>
            <a:rect l="l" t="t" r="r" b="b"/>
            <a:pathLst>
              <a:path w="132714" h="83185">
                <a:moveTo>
                  <a:pt x="32917" y="0"/>
                </a:moveTo>
                <a:lnTo>
                  <a:pt x="0" y="59316"/>
                </a:lnTo>
                <a:lnTo>
                  <a:pt x="100573" y="83040"/>
                </a:lnTo>
                <a:lnTo>
                  <a:pt x="132586" y="22813"/>
                </a:lnTo>
                <a:lnTo>
                  <a:pt x="329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64459" y="4858072"/>
            <a:ext cx="66040" cy="41275"/>
          </a:xfrm>
          <a:custGeom>
            <a:avLst/>
            <a:gdLst/>
            <a:ahLst/>
            <a:cxnLst/>
            <a:rect l="l" t="t" r="r" b="b"/>
            <a:pathLst>
              <a:path w="66039" h="41275">
                <a:moveTo>
                  <a:pt x="16458" y="0"/>
                </a:moveTo>
                <a:lnTo>
                  <a:pt x="0" y="29202"/>
                </a:lnTo>
                <a:lnTo>
                  <a:pt x="50293" y="41058"/>
                </a:lnTo>
                <a:lnTo>
                  <a:pt x="65847" y="10944"/>
                </a:lnTo>
                <a:lnTo>
                  <a:pt x="164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74192" y="4869928"/>
            <a:ext cx="132080" cy="83185"/>
          </a:xfrm>
          <a:custGeom>
            <a:avLst/>
            <a:gdLst/>
            <a:ahLst/>
            <a:cxnLst/>
            <a:rect l="l" t="t" r="r" b="b"/>
            <a:pathLst>
              <a:path w="132079" h="83185">
                <a:moveTo>
                  <a:pt x="32000" y="0"/>
                </a:moveTo>
                <a:lnTo>
                  <a:pt x="0" y="59316"/>
                </a:lnTo>
                <a:lnTo>
                  <a:pt x="100586" y="83053"/>
                </a:lnTo>
                <a:lnTo>
                  <a:pt x="131669" y="22813"/>
                </a:lnTo>
                <a:lnTo>
                  <a:pt x="3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07109" y="4890919"/>
            <a:ext cx="66040" cy="41275"/>
          </a:xfrm>
          <a:custGeom>
            <a:avLst/>
            <a:gdLst/>
            <a:ahLst/>
            <a:cxnLst/>
            <a:rect l="l" t="t" r="r" b="b"/>
            <a:pathLst>
              <a:path w="66039" h="41275">
                <a:moveTo>
                  <a:pt x="15541" y="0"/>
                </a:moveTo>
                <a:lnTo>
                  <a:pt x="0" y="29202"/>
                </a:lnTo>
                <a:lnTo>
                  <a:pt x="50293" y="41071"/>
                </a:lnTo>
                <a:lnTo>
                  <a:pt x="65834" y="10957"/>
                </a:lnTo>
                <a:lnTo>
                  <a:pt x="1554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17746" y="4902787"/>
            <a:ext cx="129539" cy="84455"/>
          </a:xfrm>
          <a:custGeom>
            <a:avLst/>
            <a:gdLst/>
            <a:ahLst/>
            <a:cxnLst/>
            <a:rect l="l" t="t" r="r" b="b"/>
            <a:pathLst>
              <a:path w="129539" h="84454">
                <a:moveTo>
                  <a:pt x="30178" y="0"/>
                </a:moveTo>
                <a:lnTo>
                  <a:pt x="0" y="60227"/>
                </a:lnTo>
                <a:lnTo>
                  <a:pt x="99669" y="83951"/>
                </a:lnTo>
                <a:lnTo>
                  <a:pt x="128930" y="22813"/>
                </a:lnTo>
                <a:lnTo>
                  <a:pt x="301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50663" y="4923778"/>
            <a:ext cx="64135" cy="42545"/>
          </a:xfrm>
          <a:custGeom>
            <a:avLst/>
            <a:gdLst/>
            <a:ahLst/>
            <a:cxnLst/>
            <a:rect l="l" t="t" r="r" b="b"/>
            <a:pathLst>
              <a:path w="64135" h="42545">
                <a:moveTo>
                  <a:pt x="14636" y="0"/>
                </a:moveTo>
                <a:lnTo>
                  <a:pt x="0" y="30113"/>
                </a:lnTo>
                <a:lnTo>
                  <a:pt x="49388" y="41969"/>
                </a:lnTo>
                <a:lnTo>
                  <a:pt x="64012" y="10944"/>
                </a:lnTo>
                <a:lnTo>
                  <a:pt x="146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743184" y="4879063"/>
            <a:ext cx="135890" cy="82550"/>
          </a:xfrm>
          <a:custGeom>
            <a:avLst/>
            <a:gdLst/>
            <a:ahLst/>
            <a:cxnLst/>
            <a:rect l="l" t="t" r="r" b="b"/>
            <a:pathLst>
              <a:path w="135889" h="82550">
                <a:moveTo>
                  <a:pt x="34738" y="0"/>
                </a:moveTo>
                <a:lnTo>
                  <a:pt x="0" y="58405"/>
                </a:lnTo>
                <a:lnTo>
                  <a:pt x="102407" y="82129"/>
                </a:lnTo>
                <a:lnTo>
                  <a:pt x="135325" y="23724"/>
                </a:lnTo>
                <a:lnTo>
                  <a:pt x="347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777923" y="4899130"/>
            <a:ext cx="67945" cy="41275"/>
          </a:xfrm>
          <a:custGeom>
            <a:avLst/>
            <a:gdLst/>
            <a:ahLst/>
            <a:cxnLst/>
            <a:rect l="l" t="t" r="r" b="b"/>
            <a:pathLst>
              <a:path w="67945" h="41275">
                <a:moveTo>
                  <a:pt x="16458" y="0"/>
                </a:moveTo>
                <a:lnTo>
                  <a:pt x="0" y="29202"/>
                </a:lnTo>
                <a:lnTo>
                  <a:pt x="50293" y="41071"/>
                </a:lnTo>
                <a:lnTo>
                  <a:pt x="67668" y="11868"/>
                </a:lnTo>
                <a:lnTo>
                  <a:pt x="164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88573" y="4912821"/>
            <a:ext cx="134620" cy="83185"/>
          </a:xfrm>
          <a:custGeom>
            <a:avLst/>
            <a:gdLst/>
            <a:ahLst/>
            <a:cxnLst/>
            <a:rect l="l" t="t" r="r" b="b"/>
            <a:pathLst>
              <a:path w="134620" h="83185">
                <a:moveTo>
                  <a:pt x="32917" y="0"/>
                </a:moveTo>
                <a:lnTo>
                  <a:pt x="0" y="58405"/>
                </a:lnTo>
                <a:lnTo>
                  <a:pt x="102407" y="83040"/>
                </a:lnTo>
                <a:lnTo>
                  <a:pt x="134407" y="23724"/>
                </a:lnTo>
                <a:lnTo>
                  <a:pt x="329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922408" y="4932901"/>
            <a:ext cx="67310" cy="42545"/>
          </a:xfrm>
          <a:custGeom>
            <a:avLst/>
            <a:gdLst/>
            <a:ahLst/>
            <a:cxnLst/>
            <a:rect l="l" t="t" r="r" b="b"/>
            <a:pathLst>
              <a:path w="67310" h="42545">
                <a:moveTo>
                  <a:pt x="16458" y="0"/>
                </a:moveTo>
                <a:lnTo>
                  <a:pt x="0" y="30113"/>
                </a:lnTo>
                <a:lnTo>
                  <a:pt x="51197" y="41982"/>
                </a:lnTo>
                <a:lnTo>
                  <a:pt x="66739" y="11855"/>
                </a:lnTo>
                <a:lnTo>
                  <a:pt x="164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033962" y="4946591"/>
            <a:ext cx="132715" cy="83185"/>
          </a:xfrm>
          <a:custGeom>
            <a:avLst/>
            <a:gdLst/>
            <a:ahLst/>
            <a:cxnLst/>
            <a:rect l="l" t="t" r="r" b="b"/>
            <a:pathLst>
              <a:path w="132714" h="83185">
                <a:moveTo>
                  <a:pt x="32000" y="0"/>
                </a:moveTo>
                <a:lnTo>
                  <a:pt x="0" y="59316"/>
                </a:lnTo>
                <a:lnTo>
                  <a:pt x="102407" y="83040"/>
                </a:lnTo>
                <a:lnTo>
                  <a:pt x="132586" y="22813"/>
                </a:lnTo>
                <a:lnTo>
                  <a:pt x="3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067784" y="4966659"/>
            <a:ext cx="66040" cy="42545"/>
          </a:xfrm>
          <a:custGeom>
            <a:avLst/>
            <a:gdLst/>
            <a:ahLst/>
            <a:cxnLst/>
            <a:rect l="l" t="t" r="r" b="b"/>
            <a:pathLst>
              <a:path w="66039" h="42545">
                <a:moveTo>
                  <a:pt x="15554" y="0"/>
                </a:moveTo>
                <a:lnTo>
                  <a:pt x="0" y="30126"/>
                </a:lnTo>
                <a:lnTo>
                  <a:pt x="50293" y="41982"/>
                </a:lnTo>
                <a:lnTo>
                  <a:pt x="65847" y="11868"/>
                </a:lnTo>
                <a:lnTo>
                  <a:pt x="155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179351" y="4979439"/>
            <a:ext cx="130175" cy="85090"/>
          </a:xfrm>
          <a:custGeom>
            <a:avLst/>
            <a:gdLst/>
            <a:ahLst/>
            <a:cxnLst/>
            <a:rect l="l" t="t" r="r" b="b"/>
            <a:pathLst>
              <a:path w="130175" h="85089">
                <a:moveTo>
                  <a:pt x="30165" y="0"/>
                </a:moveTo>
                <a:lnTo>
                  <a:pt x="0" y="61138"/>
                </a:lnTo>
                <a:lnTo>
                  <a:pt x="100573" y="84875"/>
                </a:lnTo>
                <a:lnTo>
                  <a:pt x="129834" y="23724"/>
                </a:lnTo>
                <a:lnTo>
                  <a:pt x="301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12268" y="5000430"/>
            <a:ext cx="65405" cy="43180"/>
          </a:xfrm>
          <a:custGeom>
            <a:avLst/>
            <a:gdLst/>
            <a:ahLst/>
            <a:cxnLst/>
            <a:rect l="l" t="t" r="r" b="b"/>
            <a:pathLst>
              <a:path w="65404" h="43179">
                <a:moveTo>
                  <a:pt x="14624" y="0"/>
                </a:moveTo>
                <a:lnTo>
                  <a:pt x="0" y="31024"/>
                </a:lnTo>
                <a:lnTo>
                  <a:pt x="51197" y="42893"/>
                </a:lnTo>
                <a:lnTo>
                  <a:pt x="64917" y="11868"/>
                </a:lnTo>
                <a:lnTo>
                  <a:pt x="14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699286" y="4952981"/>
            <a:ext cx="137160" cy="83185"/>
          </a:xfrm>
          <a:custGeom>
            <a:avLst/>
            <a:gdLst/>
            <a:ahLst/>
            <a:cxnLst/>
            <a:rect l="l" t="t" r="r" b="b"/>
            <a:pathLst>
              <a:path w="137160" h="83185">
                <a:moveTo>
                  <a:pt x="34751" y="0"/>
                </a:moveTo>
                <a:lnTo>
                  <a:pt x="0" y="58405"/>
                </a:lnTo>
                <a:lnTo>
                  <a:pt x="103325" y="83040"/>
                </a:lnTo>
                <a:lnTo>
                  <a:pt x="137159" y="24635"/>
                </a:lnTo>
                <a:lnTo>
                  <a:pt x="347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734038" y="4973960"/>
            <a:ext cx="68580" cy="41275"/>
          </a:xfrm>
          <a:custGeom>
            <a:avLst/>
            <a:gdLst/>
            <a:ahLst/>
            <a:cxnLst/>
            <a:rect l="l" t="t" r="r" b="b"/>
            <a:pathLst>
              <a:path w="68579" h="41275">
                <a:moveTo>
                  <a:pt x="17375" y="0"/>
                </a:moveTo>
                <a:lnTo>
                  <a:pt x="0" y="29202"/>
                </a:lnTo>
                <a:lnTo>
                  <a:pt x="51210" y="41071"/>
                </a:lnTo>
                <a:lnTo>
                  <a:pt x="68573" y="11868"/>
                </a:lnTo>
                <a:lnTo>
                  <a:pt x="173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846509" y="4987650"/>
            <a:ext cx="135890" cy="84455"/>
          </a:xfrm>
          <a:custGeom>
            <a:avLst/>
            <a:gdLst/>
            <a:ahLst/>
            <a:cxnLst/>
            <a:rect l="l" t="t" r="r" b="b"/>
            <a:pathLst>
              <a:path w="135889" h="84454">
                <a:moveTo>
                  <a:pt x="32917" y="0"/>
                </a:moveTo>
                <a:lnTo>
                  <a:pt x="0" y="59316"/>
                </a:lnTo>
                <a:lnTo>
                  <a:pt x="103325" y="83964"/>
                </a:lnTo>
                <a:lnTo>
                  <a:pt x="135325" y="24647"/>
                </a:lnTo>
                <a:lnTo>
                  <a:pt x="329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880344" y="5008641"/>
            <a:ext cx="67945" cy="42545"/>
          </a:xfrm>
          <a:custGeom>
            <a:avLst/>
            <a:gdLst/>
            <a:ahLst/>
            <a:cxnLst/>
            <a:rect l="l" t="t" r="r" b="b"/>
            <a:pathLst>
              <a:path w="67945" h="42545">
                <a:moveTo>
                  <a:pt x="16458" y="0"/>
                </a:moveTo>
                <a:lnTo>
                  <a:pt x="0" y="29202"/>
                </a:lnTo>
                <a:lnTo>
                  <a:pt x="52114" y="41982"/>
                </a:lnTo>
                <a:lnTo>
                  <a:pt x="67656" y="11868"/>
                </a:lnTo>
                <a:lnTo>
                  <a:pt x="164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993720" y="5022332"/>
            <a:ext cx="133985" cy="85090"/>
          </a:xfrm>
          <a:custGeom>
            <a:avLst/>
            <a:gdLst/>
            <a:ahLst/>
            <a:cxnLst/>
            <a:rect l="l" t="t" r="r" b="b"/>
            <a:pathLst>
              <a:path w="133985" h="85089">
                <a:moveTo>
                  <a:pt x="32012" y="0"/>
                </a:moveTo>
                <a:lnTo>
                  <a:pt x="0" y="59316"/>
                </a:lnTo>
                <a:lnTo>
                  <a:pt x="103325" y="84862"/>
                </a:lnTo>
                <a:lnTo>
                  <a:pt x="133503" y="24635"/>
                </a:lnTo>
                <a:lnTo>
                  <a:pt x="320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027554" y="5043323"/>
            <a:ext cx="67310" cy="42545"/>
          </a:xfrm>
          <a:custGeom>
            <a:avLst/>
            <a:gdLst/>
            <a:ahLst/>
            <a:cxnLst/>
            <a:rect l="l" t="t" r="r" b="b"/>
            <a:pathLst>
              <a:path w="67310" h="42545">
                <a:moveTo>
                  <a:pt x="15541" y="0"/>
                </a:moveTo>
                <a:lnTo>
                  <a:pt x="0" y="30113"/>
                </a:lnTo>
                <a:lnTo>
                  <a:pt x="51210" y="41969"/>
                </a:lnTo>
                <a:lnTo>
                  <a:pt x="66751" y="11855"/>
                </a:lnTo>
                <a:lnTo>
                  <a:pt x="1554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140943" y="5057013"/>
            <a:ext cx="132080" cy="85090"/>
          </a:xfrm>
          <a:custGeom>
            <a:avLst/>
            <a:gdLst/>
            <a:ahLst/>
            <a:cxnLst/>
            <a:rect l="l" t="t" r="r" b="b"/>
            <a:pathLst>
              <a:path w="132079" h="85089">
                <a:moveTo>
                  <a:pt x="30178" y="0"/>
                </a:moveTo>
                <a:lnTo>
                  <a:pt x="0" y="60227"/>
                </a:lnTo>
                <a:lnTo>
                  <a:pt x="103325" y="84862"/>
                </a:lnTo>
                <a:lnTo>
                  <a:pt x="131669" y="24635"/>
                </a:lnTo>
                <a:lnTo>
                  <a:pt x="301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173861" y="5078005"/>
            <a:ext cx="67310" cy="43180"/>
          </a:xfrm>
          <a:custGeom>
            <a:avLst/>
            <a:gdLst/>
            <a:ahLst/>
            <a:cxnLst/>
            <a:rect l="l" t="t" r="r" b="b"/>
            <a:pathLst>
              <a:path w="67310" h="43179">
                <a:moveTo>
                  <a:pt x="15541" y="0"/>
                </a:moveTo>
                <a:lnTo>
                  <a:pt x="0" y="30113"/>
                </a:lnTo>
                <a:lnTo>
                  <a:pt x="52114" y="42880"/>
                </a:lnTo>
                <a:lnTo>
                  <a:pt x="66751" y="12766"/>
                </a:lnTo>
                <a:lnTo>
                  <a:pt x="1554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656318" y="5027810"/>
            <a:ext cx="137160" cy="83185"/>
          </a:xfrm>
          <a:custGeom>
            <a:avLst/>
            <a:gdLst/>
            <a:ahLst/>
            <a:cxnLst/>
            <a:rect l="l" t="t" r="r" b="b"/>
            <a:pathLst>
              <a:path w="137160" h="83185">
                <a:moveTo>
                  <a:pt x="33821" y="0"/>
                </a:moveTo>
                <a:lnTo>
                  <a:pt x="0" y="57482"/>
                </a:lnTo>
                <a:lnTo>
                  <a:pt x="104242" y="83040"/>
                </a:lnTo>
                <a:lnTo>
                  <a:pt x="137159" y="24635"/>
                </a:lnTo>
                <a:lnTo>
                  <a:pt x="338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690140" y="5047878"/>
            <a:ext cx="69850" cy="42545"/>
          </a:xfrm>
          <a:custGeom>
            <a:avLst/>
            <a:gdLst/>
            <a:ahLst/>
            <a:cxnLst/>
            <a:rect l="l" t="t" r="r" b="b"/>
            <a:pathLst>
              <a:path w="69850" h="42545">
                <a:moveTo>
                  <a:pt x="17375" y="0"/>
                </a:moveTo>
                <a:lnTo>
                  <a:pt x="0" y="29202"/>
                </a:lnTo>
                <a:lnTo>
                  <a:pt x="52127" y="41982"/>
                </a:lnTo>
                <a:lnTo>
                  <a:pt x="69503" y="12779"/>
                </a:lnTo>
                <a:lnTo>
                  <a:pt x="173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804446" y="5063403"/>
            <a:ext cx="137160" cy="84455"/>
          </a:xfrm>
          <a:custGeom>
            <a:avLst/>
            <a:gdLst/>
            <a:ahLst/>
            <a:cxnLst/>
            <a:rect l="l" t="t" r="r" b="b"/>
            <a:pathLst>
              <a:path w="137160" h="84454">
                <a:moveTo>
                  <a:pt x="32917" y="0"/>
                </a:moveTo>
                <a:lnTo>
                  <a:pt x="0" y="58393"/>
                </a:lnTo>
                <a:lnTo>
                  <a:pt x="105159" y="83951"/>
                </a:lnTo>
                <a:lnTo>
                  <a:pt x="137159" y="24635"/>
                </a:lnTo>
                <a:lnTo>
                  <a:pt x="329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839197" y="5084381"/>
            <a:ext cx="67945" cy="42545"/>
          </a:xfrm>
          <a:custGeom>
            <a:avLst/>
            <a:gdLst/>
            <a:ahLst/>
            <a:cxnLst/>
            <a:rect l="l" t="t" r="r" b="b"/>
            <a:pathLst>
              <a:path w="67945" h="42545">
                <a:moveTo>
                  <a:pt x="16458" y="0"/>
                </a:moveTo>
                <a:lnTo>
                  <a:pt x="0" y="29202"/>
                </a:lnTo>
                <a:lnTo>
                  <a:pt x="52114" y="41982"/>
                </a:lnTo>
                <a:lnTo>
                  <a:pt x="67656" y="11868"/>
                </a:lnTo>
                <a:lnTo>
                  <a:pt x="164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953491" y="5098983"/>
            <a:ext cx="135890" cy="85090"/>
          </a:xfrm>
          <a:custGeom>
            <a:avLst/>
            <a:gdLst/>
            <a:ahLst/>
            <a:cxnLst/>
            <a:rect l="l" t="t" r="r" b="b"/>
            <a:pathLst>
              <a:path w="135889" h="85089">
                <a:moveTo>
                  <a:pt x="32000" y="0"/>
                </a:moveTo>
                <a:lnTo>
                  <a:pt x="0" y="59316"/>
                </a:lnTo>
                <a:lnTo>
                  <a:pt x="104242" y="84875"/>
                </a:lnTo>
                <a:lnTo>
                  <a:pt x="135325" y="24647"/>
                </a:lnTo>
                <a:lnTo>
                  <a:pt x="3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987325" y="5119974"/>
            <a:ext cx="67945" cy="42545"/>
          </a:xfrm>
          <a:custGeom>
            <a:avLst/>
            <a:gdLst/>
            <a:ahLst/>
            <a:cxnLst/>
            <a:rect l="l" t="t" r="r" b="b"/>
            <a:pathLst>
              <a:path w="67945" h="42545">
                <a:moveTo>
                  <a:pt x="15541" y="0"/>
                </a:moveTo>
                <a:lnTo>
                  <a:pt x="0" y="29202"/>
                </a:lnTo>
                <a:lnTo>
                  <a:pt x="52114" y="41982"/>
                </a:lnTo>
                <a:lnTo>
                  <a:pt x="67668" y="11868"/>
                </a:lnTo>
                <a:lnTo>
                  <a:pt x="1554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102536" y="5134576"/>
            <a:ext cx="133985" cy="86360"/>
          </a:xfrm>
          <a:custGeom>
            <a:avLst/>
            <a:gdLst/>
            <a:ahLst/>
            <a:cxnLst/>
            <a:rect l="l" t="t" r="r" b="b"/>
            <a:pathLst>
              <a:path w="133985" h="86360">
                <a:moveTo>
                  <a:pt x="30178" y="0"/>
                </a:moveTo>
                <a:lnTo>
                  <a:pt x="0" y="60227"/>
                </a:lnTo>
                <a:lnTo>
                  <a:pt x="104242" y="85786"/>
                </a:lnTo>
                <a:lnTo>
                  <a:pt x="133503" y="24635"/>
                </a:lnTo>
                <a:lnTo>
                  <a:pt x="301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136370" y="5155567"/>
            <a:ext cx="67310" cy="43180"/>
          </a:xfrm>
          <a:custGeom>
            <a:avLst/>
            <a:gdLst/>
            <a:ahLst/>
            <a:cxnLst/>
            <a:rect l="l" t="t" r="r" b="b"/>
            <a:pathLst>
              <a:path w="67310" h="43179">
                <a:moveTo>
                  <a:pt x="14624" y="0"/>
                </a:moveTo>
                <a:lnTo>
                  <a:pt x="0" y="30113"/>
                </a:lnTo>
                <a:lnTo>
                  <a:pt x="52114" y="42893"/>
                </a:lnTo>
                <a:lnTo>
                  <a:pt x="66751" y="12779"/>
                </a:lnTo>
                <a:lnTo>
                  <a:pt x="14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426800" y="3893466"/>
            <a:ext cx="1150620" cy="713740"/>
          </a:xfrm>
          <a:custGeom>
            <a:avLst/>
            <a:gdLst/>
            <a:ahLst/>
            <a:cxnLst/>
            <a:rect l="l" t="t" r="r" b="b"/>
            <a:pathLst>
              <a:path w="1150620" h="713739">
                <a:moveTo>
                  <a:pt x="66751" y="0"/>
                </a:moveTo>
                <a:lnTo>
                  <a:pt x="0" y="458123"/>
                </a:lnTo>
                <a:lnTo>
                  <a:pt x="1150309" y="713648"/>
                </a:lnTo>
                <a:lnTo>
                  <a:pt x="1098182" y="236356"/>
                </a:lnTo>
                <a:lnTo>
                  <a:pt x="667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645337" y="3982922"/>
            <a:ext cx="747395" cy="201295"/>
          </a:xfrm>
          <a:custGeom>
            <a:avLst/>
            <a:gdLst/>
            <a:ahLst/>
            <a:cxnLst/>
            <a:rect l="l" t="t" r="r" b="b"/>
            <a:pathLst>
              <a:path w="747395" h="201295">
                <a:moveTo>
                  <a:pt x="0" y="0"/>
                </a:moveTo>
                <a:lnTo>
                  <a:pt x="381300" y="200801"/>
                </a:lnTo>
                <a:lnTo>
                  <a:pt x="747059" y="1706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486236" y="3958249"/>
            <a:ext cx="1030605" cy="581660"/>
          </a:xfrm>
          <a:custGeom>
            <a:avLst/>
            <a:gdLst/>
            <a:ahLst/>
            <a:cxnLst/>
            <a:rect l="l" t="t" r="r" b="b"/>
            <a:pathLst>
              <a:path w="1030604" h="581660">
                <a:moveTo>
                  <a:pt x="51202" y="0"/>
                </a:moveTo>
                <a:lnTo>
                  <a:pt x="0" y="352281"/>
                </a:lnTo>
                <a:lnTo>
                  <a:pt x="1030517" y="581337"/>
                </a:lnTo>
                <a:lnTo>
                  <a:pt x="994894" y="256474"/>
                </a:lnTo>
                <a:lnTo>
                  <a:pt x="534006" y="256474"/>
                </a:lnTo>
                <a:lnTo>
                  <a:pt x="51202" y="0"/>
                </a:lnTo>
                <a:close/>
              </a:path>
              <a:path w="1030604" h="581660">
                <a:moveTo>
                  <a:pt x="973829" y="210797"/>
                </a:moveTo>
                <a:lnTo>
                  <a:pt x="534006" y="256474"/>
                </a:lnTo>
                <a:lnTo>
                  <a:pt x="994894" y="256474"/>
                </a:lnTo>
                <a:lnTo>
                  <a:pt x="990287" y="214466"/>
                </a:lnTo>
                <a:lnTo>
                  <a:pt x="973829" y="2107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871197" y="3737456"/>
            <a:ext cx="1005205" cy="565785"/>
          </a:xfrm>
          <a:custGeom>
            <a:avLst/>
            <a:gdLst/>
            <a:ahLst/>
            <a:cxnLst/>
            <a:rect l="l" t="t" r="r" b="b"/>
            <a:pathLst>
              <a:path w="1005204" h="565785">
                <a:moveTo>
                  <a:pt x="788154" y="0"/>
                </a:moveTo>
                <a:lnTo>
                  <a:pt x="0" y="229903"/>
                </a:lnTo>
                <a:lnTo>
                  <a:pt x="128013" y="565774"/>
                </a:lnTo>
                <a:lnTo>
                  <a:pt x="1004970" y="303922"/>
                </a:lnTo>
                <a:lnTo>
                  <a:pt x="788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007439" y="3804010"/>
            <a:ext cx="571500" cy="166370"/>
          </a:xfrm>
          <a:custGeom>
            <a:avLst/>
            <a:gdLst/>
            <a:ahLst/>
            <a:cxnLst/>
            <a:rect l="l" t="t" r="r" b="b"/>
            <a:pathLst>
              <a:path w="571500" h="166370">
                <a:moveTo>
                  <a:pt x="571491" y="0"/>
                </a:moveTo>
                <a:lnTo>
                  <a:pt x="0" y="166132"/>
                </a:lnTo>
                <a:lnTo>
                  <a:pt x="333758" y="158793"/>
                </a:lnTo>
                <a:lnTo>
                  <a:pt x="5714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925146" y="3784904"/>
            <a:ext cx="884555" cy="468630"/>
          </a:xfrm>
          <a:custGeom>
            <a:avLst/>
            <a:gdLst/>
            <a:ahLst/>
            <a:cxnLst/>
            <a:rect l="l" t="t" r="r" b="b"/>
            <a:pathLst>
              <a:path w="884554" h="468629">
                <a:moveTo>
                  <a:pt x="717797" y="0"/>
                </a:moveTo>
                <a:lnTo>
                  <a:pt x="422446" y="198903"/>
                </a:lnTo>
                <a:lnTo>
                  <a:pt x="0" y="209911"/>
                </a:lnTo>
                <a:lnTo>
                  <a:pt x="98751" y="468157"/>
                </a:lnTo>
                <a:lnTo>
                  <a:pt x="884269" y="233572"/>
                </a:lnTo>
                <a:lnTo>
                  <a:pt x="7177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2898775" y="3198367"/>
            <a:ext cx="2491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40" dirty="0">
                <a:latin typeface="Times New Roman"/>
                <a:cs typeface="Times New Roman"/>
              </a:rPr>
              <a:t>Weight </a:t>
            </a:r>
            <a:r>
              <a:rPr sz="2800" spc="-5" dirty="0">
                <a:latin typeface="Times New Roman"/>
                <a:cs typeface="Times New Roman"/>
              </a:rPr>
              <a:t>of 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letter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947028" y="3198367"/>
            <a:ext cx="1812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Times New Roman"/>
                <a:cs typeface="Times New Roman"/>
              </a:rPr>
              <a:t>Temperature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6604800" y="3858838"/>
            <a:ext cx="815340" cy="1844675"/>
          </a:xfrm>
          <a:custGeom>
            <a:avLst/>
            <a:gdLst/>
            <a:ahLst/>
            <a:cxnLst/>
            <a:rect l="l" t="t" r="r" b="b"/>
            <a:pathLst>
              <a:path w="815340" h="1844675">
                <a:moveTo>
                  <a:pt x="189184" y="0"/>
                </a:moveTo>
                <a:lnTo>
                  <a:pt x="0" y="1734883"/>
                </a:lnTo>
                <a:lnTo>
                  <a:pt x="454039" y="1844258"/>
                </a:lnTo>
                <a:lnTo>
                  <a:pt x="803511" y="215419"/>
                </a:lnTo>
                <a:lnTo>
                  <a:pt x="633999" y="215419"/>
                </a:lnTo>
                <a:lnTo>
                  <a:pt x="189184" y="0"/>
                </a:lnTo>
                <a:close/>
              </a:path>
              <a:path w="815340" h="1844675">
                <a:moveTo>
                  <a:pt x="814714" y="163204"/>
                </a:moveTo>
                <a:lnTo>
                  <a:pt x="633999" y="215419"/>
                </a:lnTo>
                <a:lnTo>
                  <a:pt x="803511" y="215419"/>
                </a:lnTo>
                <a:lnTo>
                  <a:pt x="814714" y="163204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486248" y="3820947"/>
            <a:ext cx="842644" cy="1651635"/>
          </a:xfrm>
          <a:custGeom>
            <a:avLst/>
            <a:gdLst/>
            <a:ahLst/>
            <a:cxnLst/>
            <a:rect l="l" t="t" r="r" b="b"/>
            <a:pathLst>
              <a:path w="842645" h="1651635">
                <a:moveTo>
                  <a:pt x="207679" y="0"/>
                </a:moveTo>
                <a:lnTo>
                  <a:pt x="0" y="1538875"/>
                </a:lnTo>
                <a:lnTo>
                  <a:pt x="465803" y="1651615"/>
                </a:lnTo>
                <a:lnTo>
                  <a:pt x="842518" y="155655"/>
                </a:lnTo>
                <a:lnTo>
                  <a:pt x="573428" y="47980"/>
                </a:lnTo>
                <a:lnTo>
                  <a:pt x="207679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809115" y="4081807"/>
            <a:ext cx="196850" cy="579755"/>
          </a:xfrm>
          <a:custGeom>
            <a:avLst/>
            <a:gdLst/>
            <a:ahLst/>
            <a:cxnLst/>
            <a:rect l="l" t="t" r="r" b="b"/>
            <a:pathLst>
              <a:path w="196850" h="579754">
                <a:moveTo>
                  <a:pt x="156389" y="0"/>
                </a:moveTo>
                <a:lnTo>
                  <a:pt x="105102" y="35350"/>
                </a:lnTo>
                <a:lnTo>
                  <a:pt x="0" y="547685"/>
                </a:lnTo>
                <a:lnTo>
                  <a:pt x="102580" y="579719"/>
                </a:lnTo>
                <a:lnTo>
                  <a:pt x="196753" y="146411"/>
                </a:lnTo>
                <a:lnTo>
                  <a:pt x="183294" y="53837"/>
                </a:lnTo>
                <a:lnTo>
                  <a:pt x="156389" y="0"/>
                </a:lnTo>
                <a:close/>
              </a:path>
            </a:pathLst>
          </a:custGeom>
          <a:solidFill>
            <a:srgbClr val="E4E4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669546" y="4589132"/>
            <a:ext cx="258445" cy="584835"/>
          </a:xfrm>
          <a:custGeom>
            <a:avLst/>
            <a:gdLst/>
            <a:ahLst/>
            <a:cxnLst/>
            <a:rect l="l" t="t" r="r" b="b"/>
            <a:pathLst>
              <a:path w="258445" h="584835">
                <a:moveTo>
                  <a:pt x="150498" y="0"/>
                </a:moveTo>
                <a:lnTo>
                  <a:pt x="78191" y="392947"/>
                </a:lnTo>
                <a:lnTo>
                  <a:pt x="34472" y="441718"/>
                </a:lnTo>
                <a:lnTo>
                  <a:pt x="0" y="501454"/>
                </a:lnTo>
                <a:lnTo>
                  <a:pt x="58854" y="584750"/>
                </a:lnTo>
                <a:lnTo>
                  <a:pt x="168996" y="584750"/>
                </a:lnTo>
                <a:lnTo>
                  <a:pt x="258124" y="509025"/>
                </a:lnTo>
                <a:lnTo>
                  <a:pt x="244671" y="444244"/>
                </a:lnTo>
                <a:lnTo>
                  <a:pt x="188339" y="403884"/>
                </a:lnTo>
                <a:lnTo>
                  <a:pt x="258123" y="16017"/>
                </a:lnTo>
                <a:lnTo>
                  <a:pt x="150498" y="0"/>
                </a:lnTo>
                <a:close/>
              </a:path>
            </a:pathLst>
          </a:custGeom>
          <a:solidFill>
            <a:srgbClr val="FF4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477000" y="3796604"/>
            <a:ext cx="876935" cy="1684655"/>
          </a:xfrm>
          <a:custGeom>
            <a:avLst/>
            <a:gdLst/>
            <a:ahLst/>
            <a:cxnLst/>
            <a:rect l="l" t="t" r="r" b="b"/>
            <a:pathLst>
              <a:path w="876934" h="1684654">
                <a:moveTo>
                  <a:pt x="230380" y="15946"/>
                </a:moveTo>
                <a:lnTo>
                  <a:pt x="208521" y="56377"/>
                </a:lnTo>
                <a:lnTo>
                  <a:pt x="0" y="1576680"/>
                </a:lnTo>
                <a:lnTo>
                  <a:pt x="488505" y="1684376"/>
                </a:lnTo>
                <a:lnTo>
                  <a:pt x="501210" y="1634730"/>
                </a:lnTo>
                <a:lnTo>
                  <a:pt x="452355" y="1634730"/>
                </a:lnTo>
                <a:lnTo>
                  <a:pt x="58015" y="1556486"/>
                </a:lnTo>
                <a:lnTo>
                  <a:pt x="230380" y="15946"/>
                </a:lnTo>
                <a:close/>
              </a:path>
              <a:path w="876934" h="1684654">
                <a:moveTo>
                  <a:pt x="237948" y="0"/>
                </a:moveTo>
                <a:lnTo>
                  <a:pt x="262330" y="45440"/>
                </a:lnTo>
                <a:lnTo>
                  <a:pt x="832366" y="202718"/>
                </a:lnTo>
                <a:lnTo>
                  <a:pt x="452355" y="1634730"/>
                </a:lnTo>
                <a:lnTo>
                  <a:pt x="501210" y="1634730"/>
                </a:lnTo>
                <a:lnTo>
                  <a:pt x="876923" y="166591"/>
                </a:lnTo>
                <a:lnTo>
                  <a:pt x="527184" y="46216"/>
                </a:lnTo>
                <a:lnTo>
                  <a:pt x="2379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652725" y="4146581"/>
            <a:ext cx="367665" cy="1059815"/>
          </a:xfrm>
          <a:custGeom>
            <a:avLst/>
            <a:gdLst/>
            <a:ahLst/>
            <a:cxnLst/>
            <a:rect l="l" t="t" r="r" b="b"/>
            <a:pathLst>
              <a:path w="367665" h="1059814">
                <a:moveTo>
                  <a:pt x="78198" y="843895"/>
                </a:moveTo>
                <a:lnTo>
                  <a:pt x="73991" y="845589"/>
                </a:lnTo>
                <a:lnTo>
                  <a:pt x="69791" y="848058"/>
                </a:lnTo>
                <a:lnTo>
                  <a:pt x="63900" y="851445"/>
                </a:lnTo>
                <a:lnTo>
                  <a:pt x="32795" y="874173"/>
                </a:lnTo>
                <a:lnTo>
                  <a:pt x="5891" y="909509"/>
                </a:lnTo>
                <a:lnTo>
                  <a:pt x="0" y="932229"/>
                </a:lnTo>
                <a:lnTo>
                  <a:pt x="3368" y="957468"/>
                </a:lnTo>
                <a:lnTo>
                  <a:pt x="20182" y="995331"/>
                </a:lnTo>
                <a:lnTo>
                  <a:pt x="45402" y="1024775"/>
                </a:lnTo>
                <a:lnTo>
                  <a:pt x="76514" y="1045809"/>
                </a:lnTo>
                <a:lnTo>
                  <a:pt x="82398" y="1049175"/>
                </a:lnTo>
                <a:lnTo>
                  <a:pt x="87443" y="1050861"/>
                </a:lnTo>
                <a:lnTo>
                  <a:pt x="99218" y="1055067"/>
                </a:lnTo>
                <a:lnTo>
                  <a:pt x="111832" y="1057593"/>
                </a:lnTo>
                <a:lnTo>
                  <a:pt x="160596" y="1056746"/>
                </a:lnTo>
                <a:lnTo>
                  <a:pt x="207683" y="1037399"/>
                </a:lnTo>
                <a:lnTo>
                  <a:pt x="212728" y="1034873"/>
                </a:lnTo>
                <a:lnTo>
                  <a:pt x="217767" y="1031507"/>
                </a:lnTo>
                <a:lnTo>
                  <a:pt x="223658" y="1027302"/>
                </a:lnTo>
                <a:lnTo>
                  <a:pt x="228703" y="1023936"/>
                </a:lnTo>
                <a:lnTo>
                  <a:pt x="247201" y="1008794"/>
                </a:lnTo>
                <a:lnTo>
                  <a:pt x="250564" y="1005428"/>
                </a:lnTo>
                <a:lnTo>
                  <a:pt x="146305" y="1005428"/>
                </a:lnTo>
                <a:lnTo>
                  <a:pt x="119393" y="1002062"/>
                </a:lnTo>
                <a:lnTo>
                  <a:pt x="79036" y="982708"/>
                </a:lnTo>
                <a:lnTo>
                  <a:pt x="51293" y="952423"/>
                </a:lnTo>
                <a:lnTo>
                  <a:pt x="47086" y="938961"/>
                </a:lnTo>
                <a:lnTo>
                  <a:pt x="48770" y="915401"/>
                </a:lnTo>
                <a:lnTo>
                  <a:pt x="73152" y="880064"/>
                </a:lnTo>
                <a:lnTo>
                  <a:pt x="100057" y="860689"/>
                </a:lnTo>
                <a:lnTo>
                  <a:pt x="105102" y="857372"/>
                </a:lnTo>
                <a:lnTo>
                  <a:pt x="78198" y="843895"/>
                </a:lnTo>
                <a:close/>
              </a:path>
              <a:path w="367665" h="1059814">
                <a:moveTo>
                  <a:pt x="367433" y="0"/>
                </a:moveTo>
                <a:lnTo>
                  <a:pt x="336322" y="23566"/>
                </a:lnTo>
                <a:lnTo>
                  <a:pt x="184139" y="864922"/>
                </a:lnTo>
                <a:lnTo>
                  <a:pt x="193385" y="867441"/>
                </a:lnTo>
                <a:lnTo>
                  <a:pt x="203476" y="871646"/>
                </a:lnTo>
                <a:lnTo>
                  <a:pt x="215251" y="878378"/>
                </a:lnTo>
                <a:lnTo>
                  <a:pt x="237949" y="898572"/>
                </a:lnTo>
                <a:lnTo>
                  <a:pt x="250562" y="931390"/>
                </a:lnTo>
                <a:lnTo>
                  <a:pt x="248040" y="950737"/>
                </a:lnTo>
                <a:lnTo>
                  <a:pt x="220289" y="983547"/>
                </a:lnTo>
                <a:lnTo>
                  <a:pt x="209360" y="989439"/>
                </a:lnTo>
                <a:lnTo>
                  <a:pt x="204314" y="991965"/>
                </a:lnTo>
                <a:lnTo>
                  <a:pt x="159757" y="1004581"/>
                </a:lnTo>
                <a:lnTo>
                  <a:pt x="146305" y="1005428"/>
                </a:lnTo>
                <a:lnTo>
                  <a:pt x="250564" y="1005428"/>
                </a:lnTo>
                <a:lnTo>
                  <a:pt x="263176" y="992805"/>
                </a:lnTo>
                <a:lnTo>
                  <a:pt x="274944" y="976816"/>
                </a:lnTo>
                <a:lnTo>
                  <a:pt x="285035" y="949897"/>
                </a:lnTo>
                <a:lnTo>
                  <a:pt x="284197" y="914561"/>
                </a:lnTo>
                <a:lnTo>
                  <a:pt x="258969" y="873333"/>
                </a:lnTo>
                <a:lnTo>
                  <a:pt x="227019" y="848905"/>
                </a:lnTo>
                <a:lnTo>
                  <a:pt x="221974" y="846435"/>
                </a:lnTo>
                <a:lnTo>
                  <a:pt x="216928" y="843895"/>
                </a:lnTo>
                <a:lnTo>
                  <a:pt x="3674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730924" y="4073410"/>
            <a:ext cx="290195" cy="934085"/>
          </a:xfrm>
          <a:custGeom>
            <a:avLst/>
            <a:gdLst/>
            <a:ahLst/>
            <a:cxnLst/>
            <a:rect l="l" t="t" r="r" b="b"/>
            <a:pathLst>
              <a:path w="290195" h="934085">
                <a:moveTo>
                  <a:pt x="237948" y="0"/>
                </a:moveTo>
                <a:lnTo>
                  <a:pt x="198430" y="3316"/>
                </a:lnTo>
                <a:lnTo>
                  <a:pt x="164796" y="34503"/>
                </a:lnTo>
                <a:lnTo>
                  <a:pt x="148820" y="90810"/>
                </a:lnTo>
                <a:lnTo>
                  <a:pt x="0" y="919606"/>
                </a:lnTo>
                <a:lnTo>
                  <a:pt x="25220" y="933859"/>
                </a:lnTo>
                <a:lnTo>
                  <a:pt x="180771" y="68936"/>
                </a:lnTo>
                <a:lnTo>
                  <a:pt x="186655" y="61387"/>
                </a:lnTo>
                <a:lnTo>
                  <a:pt x="192539" y="54683"/>
                </a:lnTo>
                <a:lnTo>
                  <a:pt x="200953" y="47910"/>
                </a:lnTo>
                <a:lnTo>
                  <a:pt x="205153" y="44593"/>
                </a:lnTo>
                <a:lnTo>
                  <a:pt x="210198" y="42053"/>
                </a:lnTo>
                <a:lnTo>
                  <a:pt x="214405" y="39513"/>
                </a:lnTo>
                <a:lnTo>
                  <a:pt x="219451" y="38666"/>
                </a:lnTo>
                <a:lnTo>
                  <a:pt x="286791" y="38666"/>
                </a:lnTo>
                <a:lnTo>
                  <a:pt x="285874" y="35279"/>
                </a:lnTo>
                <a:lnTo>
                  <a:pt x="258123" y="5856"/>
                </a:lnTo>
                <a:lnTo>
                  <a:pt x="248032" y="1693"/>
                </a:lnTo>
                <a:lnTo>
                  <a:pt x="237948" y="0"/>
                </a:lnTo>
                <a:close/>
              </a:path>
              <a:path w="290195" h="934085">
                <a:moveTo>
                  <a:pt x="286791" y="38666"/>
                </a:moveTo>
                <a:lnTo>
                  <a:pt x="228696" y="38666"/>
                </a:lnTo>
                <a:lnTo>
                  <a:pt x="237103" y="43747"/>
                </a:lnTo>
                <a:lnTo>
                  <a:pt x="250555" y="63080"/>
                </a:lnTo>
                <a:lnTo>
                  <a:pt x="257285" y="84107"/>
                </a:lnTo>
                <a:lnTo>
                  <a:pt x="259808" y="107674"/>
                </a:lnTo>
                <a:lnTo>
                  <a:pt x="287551" y="79873"/>
                </a:lnTo>
                <a:lnTo>
                  <a:pt x="289952" y="63080"/>
                </a:lnTo>
                <a:lnTo>
                  <a:pt x="289993" y="61387"/>
                </a:lnTo>
                <a:lnTo>
                  <a:pt x="288396" y="44593"/>
                </a:lnTo>
                <a:lnTo>
                  <a:pt x="286791" y="386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851156" y="4130634"/>
            <a:ext cx="38100" cy="38735"/>
          </a:xfrm>
          <a:custGeom>
            <a:avLst/>
            <a:gdLst/>
            <a:ahLst/>
            <a:cxnLst/>
            <a:rect l="l" t="t" r="r" b="b"/>
            <a:pathLst>
              <a:path w="38100" h="38735">
                <a:moveTo>
                  <a:pt x="5884" y="0"/>
                </a:moveTo>
                <a:lnTo>
                  <a:pt x="0" y="38666"/>
                </a:lnTo>
                <a:lnTo>
                  <a:pt x="35318" y="36973"/>
                </a:lnTo>
                <a:lnTo>
                  <a:pt x="37834" y="8396"/>
                </a:lnTo>
                <a:lnTo>
                  <a:pt x="58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999977" y="4170148"/>
            <a:ext cx="67310" cy="34925"/>
          </a:xfrm>
          <a:custGeom>
            <a:avLst/>
            <a:gdLst/>
            <a:ahLst/>
            <a:cxnLst/>
            <a:rect l="l" t="t" r="r" b="b"/>
            <a:pathLst>
              <a:path w="67309" h="34925">
                <a:moveTo>
                  <a:pt x="8413" y="0"/>
                </a:moveTo>
                <a:lnTo>
                  <a:pt x="0" y="27730"/>
                </a:lnTo>
                <a:lnTo>
                  <a:pt x="63900" y="34503"/>
                </a:lnTo>
                <a:lnTo>
                  <a:pt x="67268" y="9243"/>
                </a:lnTo>
                <a:lnTo>
                  <a:pt x="84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968027" y="4336739"/>
            <a:ext cx="69850" cy="46355"/>
          </a:xfrm>
          <a:custGeom>
            <a:avLst/>
            <a:gdLst/>
            <a:ahLst/>
            <a:cxnLst/>
            <a:rect l="l" t="t" r="r" b="b"/>
            <a:pathLst>
              <a:path w="69850" h="46354">
                <a:moveTo>
                  <a:pt x="3368" y="0"/>
                </a:moveTo>
                <a:lnTo>
                  <a:pt x="0" y="29423"/>
                </a:lnTo>
                <a:lnTo>
                  <a:pt x="57177" y="46287"/>
                </a:lnTo>
                <a:lnTo>
                  <a:pt x="69791" y="12630"/>
                </a:lnTo>
                <a:lnTo>
                  <a:pt x="33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939445" y="4498251"/>
            <a:ext cx="50165" cy="36195"/>
          </a:xfrm>
          <a:custGeom>
            <a:avLst/>
            <a:gdLst/>
            <a:ahLst/>
            <a:cxnLst/>
            <a:rect l="l" t="t" r="r" b="b"/>
            <a:pathLst>
              <a:path w="50165" h="36195">
                <a:moveTo>
                  <a:pt x="4199" y="0"/>
                </a:moveTo>
                <a:lnTo>
                  <a:pt x="0" y="21026"/>
                </a:lnTo>
                <a:lnTo>
                  <a:pt x="45402" y="36197"/>
                </a:lnTo>
                <a:lnTo>
                  <a:pt x="49602" y="8467"/>
                </a:lnTo>
                <a:lnTo>
                  <a:pt x="41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907488" y="4653906"/>
            <a:ext cx="66040" cy="42545"/>
          </a:xfrm>
          <a:custGeom>
            <a:avLst/>
            <a:gdLst/>
            <a:ahLst/>
            <a:cxnLst/>
            <a:rect l="l" t="t" r="r" b="b"/>
            <a:pathLst>
              <a:path w="66040" h="42545">
                <a:moveTo>
                  <a:pt x="0" y="0"/>
                </a:moveTo>
                <a:lnTo>
                  <a:pt x="0" y="23566"/>
                </a:lnTo>
                <a:lnTo>
                  <a:pt x="55493" y="42053"/>
                </a:lnTo>
                <a:lnTo>
                  <a:pt x="65584" y="100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894881" y="4791921"/>
            <a:ext cx="53340" cy="28575"/>
          </a:xfrm>
          <a:custGeom>
            <a:avLst/>
            <a:gdLst/>
            <a:ahLst/>
            <a:cxnLst/>
            <a:rect l="l" t="t" r="r" b="b"/>
            <a:pathLst>
              <a:path w="53340" h="28575">
                <a:moveTo>
                  <a:pt x="5884" y="0"/>
                </a:moveTo>
                <a:lnTo>
                  <a:pt x="0" y="20180"/>
                </a:lnTo>
                <a:lnTo>
                  <a:pt x="44563" y="28576"/>
                </a:lnTo>
                <a:lnTo>
                  <a:pt x="52970" y="7549"/>
                </a:lnTo>
                <a:lnTo>
                  <a:pt x="58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867131" y="4904676"/>
            <a:ext cx="61594" cy="43815"/>
          </a:xfrm>
          <a:custGeom>
            <a:avLst/>
            <a:gdLst/>
            <a:ahLst/>
            <a:cxnLst/>
            <a:rect l="l" t="t" r="r" b="b"/>
            <a:pathLst>
              <a:path w="61595" h="43814">
                <a:moveTo>
                  <a:pt x="2522" y="0"/>
                </a:moveTo>
                <a:lnTo>
                  <a:pt x="0" y="24343"/>
                </a:lnTo>
                <a:lnTo>
                  <a:pt x="52970" y="43747"/>
                </a:lnTo>
                <a:lnTo>
                  <a:pt x="61377" y="13406"/>
                </a:lnTo>
                <a:lnTo>
                  <a:pt x="25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738491" y="4674933"/>
            <a:ext cx="68580" cy="31750"/>
          </a:xfrm>
          <a:custGeom>
            <a:avLst/>
            <a:gdLst/>
            <a:ahLst/>
            <a:cxnLst/>
            <a:rect l="l" t="t" r="r" b="b"/>
            <a:pathLst>
              <a:path w="68579" h="31750">
                <a:moveTo>
                  <a:pt x="7568" y="0"/>
                </a:moveTo>
                <a:lnTo>
                  <a:pt x="0" y="16017"/>
                </a:lnTo>
                <a:lnTo>
                  <a:pt x="61377" y="31187"/>
                </a:lnTo>
                <a:lnTo>
                  <a:pt x="68100" y="10090"/>
                </a:lnTo>
                <a:lnTo>
                  <a:pt x="75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807437" y="4301389"/>
            <a:ext cx="58419" cy="30480"/>
          </a:xfrm>
          <a:custGeom>
            <a:avLst/>
            <a:gdLst/>
            <a:ahLst/>
            <a:cxnLst/>
            <a:rect l="l" t="t" r="r" b="b"/>
            <a:pathLst>
              <a:path w="58420" h="30479">
                <a:moveTo>
                  <a:pt x="12606" y="0"/>
                </a:moveTo>
                <a:lnTo>
                  <a:pt x="0" y="23566"/>
                </a:lnTo>
                <a:lnTo>
                  <a:pt x="55493" y="30270"/>
                </a:lnTo>
                <a:lnTo>
                  <a:pt x="58016" y="15170"/>
                </a:lnTo>
                <a:lnTo>
                  <a:pt x="126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790617" y="4467981"/>
            <a:ext cx="48895" cy="27940"/>
          </a:xfrm>
          <a:custGeom>
            <a:avLst/>
            <a:gdLst/>
            <a:ahLst/>
            <a:cxnLst/>
            <a:rect l="l" t="t" r="r" b="b"/>
            <a:pathLst>
              <a:path w="48895" h="27939">
                <a:moveTo>
                  <a:pt x="10091" y="0"/>
                </a:moveTo>
                <a:lnTo>
                  <a:pt x="0" y="27800"/>
                </a:lnTo>
                <a:lnTo>
                  <a:pt x="47086" y="24413"/>
                </a:lnTo>
                <a:lnTo>
                  <a:pt x="48770" y="5927"/>
                </a:lnTo>
                <a:lnTo>
                  <a:pt x="100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728400" y="4758264"/>
            <a:ext cx="59690" cy="25400"/>
          </a:xfrm>
          <a:custGeom>
            <a:avLst/>
            <a:gdLst/>
            <a:ahLst/>
            <a:cxnLst/>
            <a:rect l="l" t="t" r="r" b="b"/>
            <a:pathLst>
              <a:path w="59690" h="25400">
                <a:moveTo>
                  <a:pt x="0" y="0"/>
                </a:moveTo>
                <a:lnTo>
                  <a:pt x="0" y="25260"/>
                </a:lnTo>
                <a:lnTo>
                  <a:pt x="49609" y="23566"/>
                </a:lnTo>
                <a:lnTo>
                  <a:pt x="59693" y="670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714103" y="4866785"/>
            <a:ext cx="64135" cy="30480"/>
          </a:xfrm>
          <a:custGeom>
            <a:avLst/>
            <a:gdLst/>
            <a:ahLst/>
            <a:cxnLst/>
            <a:rect l="l" t="t" r="r" b="b"/>
            <a:pathLst>
              <a:path w="64134" h="30479">
                <a:moveTo>
                  <a:pt x="3368" y="0"/>
                </a:moveTo>
                <a:lnTo>
                  <a:pt x="0" y="21026"/>
                </a:lnTo>
                <a:lnTo>
                  <a:pt x="47932" y="30270"/>
                </a:lnTo>
                <a:lnTo>
                  <a:pt x="63907" y="16863"/>
                </a:lnTo>
                <a:lnTo>
                  <a:pt x="33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825936" y="4901289"/>
            <a:ext cx="32384" cy="100965"/>
          </a:xfrm>
          <a:custGeom>
            <a:avLst/>
            <a:gdLst/>
            <a:ahLst/>
            <a:cxnLst/>
            <a:rect l="l" t="t" r="r" b="b"/>
            <a:pathLst>
              <a:path w="32384" h="100964">
                <a:moveTo>
                  <a:pt x="0" y="0"/>
                </a:moveTo>
                <a:lnTo>
                  <a:pt x="27743" y="100971"/>
                </a:lnTo>
                <a:lnTo>
                  <a:pt x="31950" y="277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836019" y="4830588"/>
            <a:ext cx="43815" cy="55244"/>
          </a:xfrm>
          <a:custGeom>
            <a:avLst/>
            <a:gdLst/>
            <a:ahLst/>
            <a:cxnLst/>
            <a:rect l="l" t="t" r="r" b="b"/>
            <a:pathLst>
              <a:path w="43815" h="55245">
                <a:moveTo>
                  <a:pt x="0" y="0"/>
                </a:moveTo>
                <a:lnTo>
                  <a:pt x="27750" y="54683"/>
                </a:lnTo>
                <a:lnTo>
                  <a:pt x="43725" y="59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866292" y="4705274"/>
            <a:ext cx="35560" cy="61594"/>
          </a:xfrm>
          <a:custGeom>
            <a:avLst/>
            <a:gdLst/>
            <a:ahLst/>
            <a:cxnLst/>
            <a:rect l="l" t="t" r="r" b="b"/>
            <a:pathLst>
              <a:path w="35559" h="61595">
                <a:moveTo>
                  <a:pt x="0" y="0"/>
                </a:moveTo>
                <a:lnTo>
                  <a:pt x="21020" y="61387"/>
                </a:lnTo>
                <a:lnTo>
                  <a:pt x="35311" y="1594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885629" y="4598375"/>
            <a:ext cx="45720" cy="48260"/>
          </a:xfrm>
          <a:custGeom>
            <a:avLst/>
            <a:gdLst/>
            <a:ahLst/>
            <a:cxnLst/>
            <a:rect l="l" t="t" r="r" b="b"/>
            <a:pathLst>
              <a:path w="45720" h="48260">
                <a:moveTo>
                  <a:pt x="0" y="0"/>
                </a:moveTo>
                <a:lnTo>
                  <a:pt x="26066" y="47980"/>
                </a:lnTo>
                <a:lnTo>
                  <a:pt x="45402" y="100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897404" y="4515961"/>
            <a:ext cx="35560" cy="53340"/>
          </a:xfrm>
          <a:custGeom>
            <a:avLst/>
            <a:gdLst/>
            <a:ahLst/>
            <a:cxnLst/>
            <a:rect l="l" t="t" r="r" b="b"/>
            <a:pathLst>
              <a:path w="35559" h="53339">
                <a:moveTo>
                  <a:pt x="0" y="0"/>
                </a:moveTo>
                <a:lnTo>
                  <a:pt x="35311" y="52990"/>
                </a:lnTo>
                <a:lnTo>
                  <a:pt x="35311" y="75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932715" y="4298002"/>
            <a:ext cx="33655" cy="53340"/>
          </a:xfrm>
          <a:custGeom>
            <a:avLst/>
            <a:gdLst/>
            <a:ahLst/>
            <a:cxnLst/>
            <a:rect l="l" t="t" r="r" b="b"/>
            <a:pathLst>
              <a:path w="33654" h="53339">
                <a:moveTo>
                  <a:pt x="0" y="0"/>
                </a:moveTo>
                <a:lnTo>
                  <a:pt x="21859" y="53061"/>
                </a:lnTo>
                <a:lnTo>
                  <a:pt x="33634" y="27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947006" y="4220598"/>
            <a:ext cx="43815" cy="40005"/>
          </a:xfrm>
          <a:custGeom>
            <a:avLst/>
            <a:gdLst/>
            <a:ahLst/>
            <a:cxnLst/>
            <a:rect l="l" t="t" r="r" b="b"/>
            <a:pathLst>
              <a:path w="43815" h="40004">
                <a:moveTo>
                  <a:pt x="0" y="0"/>
                </a:moveTo>
                <a:lnTo>
                  <a:pt x="36995" y="39584"/>
                </a:lnTo>
                <a:lnTo>
                  <a:pt x="43725" y="59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753621" y="3884098"/>
            <a:ext cx="104264" cy="1312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7116009" y="3985069"/>
            <a:ext cx="119379" cy="1404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730078" y="4168454"/>
            <a:ext cx="213995" cy="927735"/>
          </a:xfrm>
          <a:custGeom>
            <a:avLst/>
            <a:gdLst/>
            <a:ahLst/>
            <a:cxnLst/>
            <a:rect l="l" t="t" r="r" b="b"/>
            <a:pathLst>
              <a:path w="213995" h="927735">
                <a:moveTo>
                  <a:pt x="200114" y="0"/>
                </a:moveTo>
                <a:lnTo>
                  <a:pt x="44563" y="853985"/>
                </a:lnTo>
                <a:lnTo>
                  <a:pt x="33634" y="858191"/>
                </a:lnTo>
                <a:lnTo>
                  <a:pt x="24388" y="863236"/>
                </a:lnTo>
                <a:lnTo>
                  <a:pt x="18497" y="866601"/>
                </a:lnTo>
                <a:lnTo>
                  <a:pt x="13459" y="869967"/>
                </a:lnTo>
                <a:lnTo>
                  <a:pt x="0" y="888482"/>
                </a:lnTo>
                <a:lnTo>
                  <a:pt x="845" y="900258"/>
                </a:lnTo>
                <a:lnTo>
                  <a:pt x="29434" y="926337"/>
                </a:lnTo>
                <a:lnTo>
                  <a:pt x="36157" y="927184"/>
                </a:lnTo>
                <a:lnTo>
                  <a:pt x="48770" y="925498"/>
                </a:lnTo>
                <a:lnTo>
                  <a:pt x="59700" y="919606"/>
                </a:lnTo>
                <a:lnTo>
                  <a:pt x="78198" y="901938"/>
                </a:lnTo>
                <a:lnTo>
                  <a:pt x="84928" y="886796"/>
                </a:lnTo>
                <a:lnTo>
                  <a:pt x="81559" y="876699"/>
                </a:lnTo>
                <a:lnTo>
                  <a:pt x="73991" y="866601"/>
                </a:lnTo>
                <a:lnTo>
                  <a:pt x="63061" y="857351"/>
                </a:lnTo>
                <a:lnTo>
                  <a:pt x="213566" y="31963"/>
                </a:lnTo>
                <a:lnTo>
                  <a:pt x="2001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1544" y="799591"/>
            <a:ext cx="5902656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smtClean="0"/>
              <a:t>Levels</a:t>
            </a:r>
            <a:r>
              <a:rPr lang="en-US" spc="-195" dirty="0" smtClean="0"/>
              <a:t> (Scales)</a:t>
            </a:r>
            <a:r>
              <a:rPr spc="-195" smtClean="0"/>
              <a:t> </a:t>
            </a:r>
            <a:r>
              <a:rPr spc="-145" dirty="0"/>
              <a:t>of</a:t>
            </a:r>
            <a:r>
              <a:rPr spc="-375" dirty="0"/>
              <a:t> </a:t>
            </a:r>
            <a:r>
              <a:rPr spc="-100" dirty="0"/>
              <a:t>Measurement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30"/>
              </a:lnSpc>
            </a:pPr>
            <a:r>
              <a:rPr dirty="0"/>
              <a:t>27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805"/>
            <a:ext cx="7578725" cy="422783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100" b="1" spc="-190" dirty="0">
                <a:solidFill>
                  <a:srgbClr val="EC7C30"/>
                </a:solidFill>
                <a:latin typeface="Trebuchet MS"/>
                <a:cs typeface="Trebuchet MS"/>
              </a:rPr>
              <a:t>1. </a:t>
            </a:r>
            <a:r>
              <a:rPr sz="2100" b="1" spc="-85" dirty="0">
                <a:solidFill>
                  <a:srgbClr val="EC7C30"/>
                </a:solidFill>
                <a:latin typeface="Trebuchet MS"/>
                <a:cs typeface="Trebuchet MS"/>
              </a:rPr>
              <a:t>Nominal </a:t>
            </a:r>
            <a:r>
              <a:rPr sz="2100" b="1" spc="-135" dirty="0">
                <a:solidFill>
                  <a:srgbClr val="EC7C30"/>
                </a:solidFill>
                <a:latin typeface="Trebuchet MS"/>
                <a:cs typeface="Trebuchet MS"/>
              </a:rPr>
              <a:t>level </a:t>
            </a:r>
            <a:r>
              <a:rPr sz="2100" b="1" spc="-90" dirty="0">
                <a:solidFill>
                  <a:srgbClr val="EC7C30"/>
                </a:solidFill>
                <a:latin typeface="Trebuchet MS"/>
                <a:cs typeface="Trebuchet MS"/>
              </a:rPr>
              <a:t>of</a:t>
            </a:r>
            <a:r>
              <a:rPr sz="2100" b="1" spc="-235" dirty="0">
                <a:solidFill>
                  <a:srgbClr val="EC7C30"/>
                </a:solidFill>
                <a:latin typeface="Trebuchet MS"/>
                <a:cs typeface="Trebuchet MS"/>
              </a:rPr>
              <a:t> </a:t>
            </a:r>
            <a:r>
              <a:rPr sz="2100" b="1" spc="-125" dirty="0">
                <a:solidFill>
                  <a:srgbClr val="EC7C30"/>
                </a:solidFill>
                <a:latin typeface="Trebuchet MS"/>
                <a:cs typeface="Trebuchet MS"/>
              </a:rPr>
              <a:t>measurement</a:t>
            </a:r>
            <a:endParaRPr sz="2100">
              <a:latin typeface="Trebuchet MS"/>
              <a:cs typeface="Trebuchet MS"/>
            </a:endParaRPr>
          </a:p>
          <a:p>
            <a:pPr marL="184785" indent="-172085">
              <a:lnSpc>
                <a:spcPct val="100000"/>
              </a:lnSpc>
              <a:spcBef>
                <a:spcPts val="540"/>
              </a:spcBef>
              <a:buChar char="•"/>
              <a:tabLst>
                <a:tab pos="185420" algn="l"/>
              </a:tabLst>
            </a:pPr>
            <a:r>
              <a:rPr sz="2100" spc="-60" dirty="0">
                <a:latin typeface="Arial"/>
                <a:cs typeface="Arial"/>
              </a:rPr>
              <a:t>Qualitative </a:t>
            </a:r>
            <a:r>
              <a:rPr sz="2100" spc="-80" dirty="0">
                <a:latin typeface="Arial"/>
                <a:cs typeface="Arial"/>
              </a:rPr>
              <a:t>data</a:t>
            </a:r>
            <a:r>
              <a:rPr sz="2100" spc="-195" dirty="0">
                <a:latin typeface="Arial"/>
                <a:cs typeface="Arial"/>
              </a:rPr>
              <a:t> </a:t>
            </a:r>
            <a:r>
              <a:rPr sz="2100" spc="-60" dirty="0">
                <a:latin typeface="Arial"/>
                <a:cs typeface="Arial"/>
              </a:rPr>
              <a:t>only</a:t>
            </a:r>
            <a:endParaRPr sz="2100">
              <a:latin typeface="Arial"/>
              <a:cs typeface="Arial"/>
            </a:endParaRPr>
          </a:p>
          <a:p>
            <a:pPr marL="184785" indent="-172085">
              <a:lnSpc>
                <a:spcPct val="100000"/>
              </a:lnSpc>
              <a:spcBef>
                <a:spcPts val="550"/>
              </a:spcBef>
              <a:buChar char="•"/>
              <a:tabLst>
                <a:tab pos="185420" algn="l"/>
              </a:tabLst>
            </a:pPr>
            <a:r>
              <a:rPr sz="2100" spc="-120" dirty="0">
                <a:latin typeface="Arial"/>
                <a:cs typeface="Arial"/>
              </a:rPr>
              <a:t>Categorized </a:t>
            </a:r>
            <a:r>
              <a:rPr sz="2100" spc="-110" dirty="0">
                <a:latin typeface="Arial"/>
                <a:cs typeface="Arial"/>
              </a:rPr>
              <a:t>using </a:t>
            </a:r>
            <a:r>
              <a:rPr sz="2100" spc="-125" dirty="0">
                <a:latin typeface="Arial"/>
                <a:cs typeface="Arial"/>
              </a:rPr>
              <a:t>names, </a:t>
            </a:r>
            <a:r>
              <a:rPr sz="2100" spc="-90" dirty="0">
                <a:latin typeface="Arial"/>
                <a:cs typeface="Arial"/>
              </a:rPr>
              <a:t>labels, </a:t>
            </a:r>
            <a:r>
              <a:rPr sz="2100" spc="-20" dirty="0">
                <a:latin typeface="Arial"/>
                <a:cs typeface="Arial"/>
              </a:rPr>
              <a:t>or</a:t>
            </a:r>
            <a:r>
              <a:rPr sz="2100" spc="-65" dirty="0">
                <a:latin typeface="Arial"/>
                <a:cs typeface="Arial"/>
              </a:rPr>
              <a:t> </a:t>
            </a:r>
            <a:r>
              <a:rPr sz="2100" spc="-60" dirty="0">
                <a:latin typeface="Arial"/>
                <a:cs typeface="Arial"/>
              </a:rPr>
              <a:t>qualities</a:t>
            </a:r>
            <a:endParaRPr sz="2100">
              <a:latin typeface="Arial"/>
              <a:cs typeface="Arial"/>
            </a:endParaRPr>
          </a:p>
          <a:p>
            <a:pPr marL="184785" indent="-172085">
              <a:lnSpc>
                <a:spcPct val="100000"/>
              </a:lnSpc>
              <a:spcBef>
                <a:spcPts val="555"/>
              </a:spcBef>
              <a:buChar char="•"/>
              <a:tabLst>
                <a:tab pos="185420" algn="l"/>
              </a:tabLst>
            </a:pPr>
            <a:r>
              <a:rPr sz="2100" spc="-114" dirty="0">
                <a:latin typeface="Arial"/>
                <a:cs typeface="Arial"/>
              </a:rPr>
              <a:t>No </a:t>
            </a:r>
            <a:r>
              <a:rPr sz="2100" spc="-65" dirty="0">
                <a:latin typeface="Arial"/>
                <a:cs typeface="Arial"/>
              </a:rPr>
              <a:t>mathematical computations </a:t>
            </a:r>
            <a:r>
              <a:rPr sz="2100" spc="-135" dirty="0">
                <a:latin typeface="Arial"/>
                <a:cs typeface="Arial"/>
              </a:rPr>
              <a:t>can </a:t>
            </a:r>
            <a:r>
              <a:rPr sz="2100" spc="-100" dirty="0">
                <a:latin typeface="Arial"/>
                <a:cs typeface="Arial"/>
              </a:rPr>
              <a:t>be</a:t>
            </a:r>
            <a:r>
              <a:rPr sz="2100" spc="-245" dirty="0">
                <a:latin typeface="Arial"/>
                <a:cs typeface="Arial"/>
              </a:rPr>
              <a:t> </a:t>
            </a:r>
            <a:r>
              <a:rPr sz="2100" spc="-110" dirty="0">
                <a:latin typeface="Arial"/>
                <a:cs typeface="Arial"/>
              </a:rPr>
              <a:t>made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5" dirty="0">
                <a:solidFill>
                  <a:srgbClr val="EC7C30"/>
                </a:solidFill>
                <a:latin typeface="Times New Roman"/>
                <a:cs typeface="Times New Roman"/>
              </a:rPr>
              <a:t>2. Ordinal level of </a:t>
            </a:r>
            <a:r>
              <a:rPr sz="2800" b="1" spc="-10" dirty="0">
                <a:solidFill>
                  <a:srgbClr val="EC7C30"/>
                </a:solidFill>
                <a:latin typeface="Times New Roman"/>
                <a:cs typeface="Times New Roman"/>
              </a:rPr>
              <a:t>measurement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5B9BD4"/>
              </a:buClr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Qualitative or quantitative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data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5B9BD4"/>
              </a:buClr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Data can be arranged in</a:t>
            </a:r>
            <a:r>
              <a:rPr sz="2800" dirty="0">
                <a:latin typeface="Times New Roman"/>
                <a:cs typeface="Times New Roman"/>
              </a:rPr>
              <a:t> order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5B9BD4"/>
              </a:buClr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Times New Roman"/>
                <a:cs typeface="Times New Roman"/>
              </a:rPr>
              <a:t>Differences </a:t>
            </a:r>
            <a:r>
              <a:rPr sz="2800" spc="-5" dirty="0">
                <a:latin typeface="Times New Roman"/>
                <a:cs typeface="Times New Roman"/>
              </a:rPr>
              <a:t>between data entries is </a:t>
            </a:r>
            <a:r>
              <a:rPr sz="2800" dirty="0">
                <a:latin typeface="Times New Roman"/>
                <a:cs typeface="Times New Roman"/>
              </a:rPr>
              <a:t>not </a:t>
            </a:r>
            <a:r>
              <a:rPr sz="2800" spc="-5" dirty="0">
                <a:latin typeface="Times New Roman"/>
                <a:cs typeface="Times New Roman"/>
              </a:rPr>
              <a:t>meaningful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7814" y="803528"/>
            <a:ext cx="572198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210" dirty="0">
                <a:solidFill>
                  <a:srgbClr val="A4A4A4"/>
                </a:solidFill>
                <a:latin typeface="Trebuchet MS"/>
                <a:cs typeface="Trebuchet MS"/>
              </a:rPr>
              <a:t>Example: </a:t>
            </a:r>
            <a:r>
              <a:rPr sz="3300" spc="-165" dirty="0">
                <a:solidFill>
                  <a:srgbClr val="A4A4A4"/>
                </a:solidFill>
                <a:latin typeface="Trebuchet MS"/>
                <a:cs typeface="Trebuchet MS"/>
              </a:rPr>
              <a:t>Classifying </a:t>
            </a:r>
            <a:r>
              <a:rPr sz="3300" spc="-180" dirty="0">
                <a:solidFill>
                  <a:srgbClr val="A4A4A4"/>
                </a:solidFill>
                <a:latin typeface="Trebuchet MS"/>
                <a:cs typeface="Trebuchet MS"/>
              </a:rPr>
              <a:t>Data </a:t>
            </a:r>
            <a:r>
              <a:rPr sz="3300" spc="-150" dirty="0">
                <a:solidFill>
                  <a:srgbClr val="A4A4A4"/>
                </a:solidFill>
                <a:latin typeface="Trebuchet MS"/>
                <a:cs typeface="Trebuchet MS"/>
              </a:rPr>
              <a:t>by</a:t>
            </a:r>
            <a:r>
              <a:rPr sz="3300" spc="-515" dirty="0">
                <a:solidFill>
                  <a:srgbClr val="A4A4A4"/>
                </a:solidFill>
                <a:latin typeface="Trebuchet MS"/>
                <a:cs typeface="Trebuchet MS"/>
              </a:rPr>
              <a:t> </a:t>
            </a:r>
            <a:r>
              <a:rPr sz="3300" spc="-220" dirty="0">
                <a:solidFill>
                  <a:srgbClr val="A4A4A4"/>
                </a:solidFill>
                <a:latin typeface="Trebuchet MS"/>
                <a:cs typeface="Trebuchet MS"/>
              </a:rPr>
              <a:t>Level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85086"/>
            <a:ext cx="8062595" cy="922019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ts val="2270"/>
              </a:lnSpc>
              <a:spcBef>
                <a:spcPts val="380"/>
              </a:spcBef>
            </a:pPr>
            <a:r>
              <a:rPr sz="2100" spc="-155" dirty="0">
                <a:latin typeface="Arial"/>
                <a:cs typeface="Arial"/>
              </a:rPr>
              <a:t>Two </a:t>
            </a:r>
            <a:r>
              <a:rPr sz="2100" spc="-80" dirty="0">
                <a:latin typeface="Arial"/>
                <a:cs typeface="Arial"/>
              </a:rPr>
              <a:t>data </a:t>
            </a:r>
            <a:r>
              <a:rPr sz="2100" spc="-125" dirty="0">
                <a:latin typeface="Arial"/>
                <a:cs typeface="Arial"/>
              </a:rPr>
              <a:t>sets </a:t>
            </a:r>
            <a:r>
              <a:rPr sz="2100" spc="-95" dirty="0">
                <a:latin typeface="Arial"/>
                <a:cs typeface="Arial"/>
              </a:rPr>
              <a:t>are </a:t>
            </a:r>
            <a:r>
              <a:rPr sz="2100" spc="-90" dirty="0">
                <a:latin typeface="Arial"/>
                <a:cs typeface="Arial"/>
              </a:rPr>
              <a:t>shown. </a:t>
            </a:r>
            <a:r>
              <a:rPr sz="2100" spc="-85" dirty="0">
                <a:latin typeface="Arial"/>
                <a:cs typeface="Arial"/>
              </a:rPr>
              <a:t>Which </a:t>
            </a:r>
            <a:r>
              <a:rPr sz="2100" spc="-80" dirty="0">
                <a:latin typeface="Arial"/>
                <a:cs typeface="Arial"/>
              </a:rPr>
              <a:t>data </a:t>
            </a:r>
            <a:r>
              <a:rPr sz="2100" spc="-90" dirty="0">
                <a:latin typeface="Arial"/>
                <a:cs typeface="Arial"/>
              </a:rPr>
              <a:t>set </a:t>
            </a:r>
            <a:r>
              <a:rPr sz="2100" spc="-114" dirty="0">
                <a:latin typeface="Arial"/>
                <a:cs typeface="Arial"/>
              </a:rPr>
              <a:t>consists </a:t>
            </a:r>
            <a:r>
              <a:rPr sz="2100" spc="-5" dirty="0">
                <a:latin typeface="Arial"/>
                <a:cs typeface="Arial"/>
              </a:rPr>
              <a:t>of </a:t>
            </a:r>
            <a:r>
              <a:rPr sz="2100" spc="-80" dirty="0">
                <a:latin typeface="Arial"/>
                <a:cs typeface="Arial"/>
              </a:rPr>
              <a:t>data </a:t>
            </a:r>
            <a:r>
              <a:rPr sz="2100" spc="-35" dirty="0">
                <a:latin typeface="Arial"/>
                <a:cs typeface="Arial"/>
              </a:rPr>
              <a:t>at </a:t>
            </a:r>
            <a:r>
              <a:rPr sz="2100" spc="-25" dirty="0">
                <a:latin typeface="Arial"/>
                <a:cs typeface="Arial"/>
              </a:rPr>
              <a:t>the </a:t>
            </a:r>
            <a:r>
              <a:rPr sz="2100" spc="-65" dirty="0">
                <a:latin typeface="Arial"/>
                <a:cs typeface="Arial"/>
              </a:rPr>
              <a:t>nominal  </a:t>
            </a:r>
            <a:r>
              <a:rPr sz="2100" spc="-95" dirty="0">
                <a:latin typeface="Arial"/>
                <a:cs typeface="Arial"/>
              </a:rPr>
              <a:t>level?</a:t>
            </a:r>
            <a:r>
              <a:rPr sz="2100" spc="-75" dirty="0">
                <a:latin typeface="Arial"/>
                <a:cs typeface="Arial"/>
              </a:rPr>
              <a:t> </a:t>
            </a:r>
            <a:r>
              <a:rPr sz="2100" spc="-80" dirty="0">
                <a:latin typeface="Arial"/>
                <a:cs typeface="Arial"/>
              </a:rPr>
              <a:t>Which</a:t>
            </a:r>
            <a:r>
              <a:rPr sz="2100" spc="-125" dirty="0">
                <a:latin typeface="Arial"/>
                <a:cs typeface="Arial"/>
              </a:rPr>
              <a:t> </a:t>
            </a:r>
            <a:r>
              <a:rPr sz="2100" spc="-80" dirty="0">
                <a:latin typeface="Arial"/>
                <a:cs typeface="Arial"/>
              </a:rPr>
              <a:t>data</a:t>
            </a:r>
            <a:r>
              <a:rPr sz="2100" spc="-130" dirty="0">
                <a:latin typeface="Arial"/>
                <a:cs typeface="Arial"/>
              </a:rPr>
              <a:t> </a:t>
            </a:r>
            <a:r>
              <a:rPr sz="2100" spc="-90" dirty="0">
                <a:latin typeface="Arial"/>
                <a:cs typeface="Arial"/>
              </a:rPr>
              <a:t>set</a:t>
            </a:r>
            <a:r>
              <a:rPr sz="2100" spc="-105" dirty="0">
                <a:latin typeface="Arial"/>
                <a:cs typeface="Arial"/>
              </a:rPr>
              <a:t> </a:t>
            </a:r>
            <a:r>
              <a:rPr sz="2100" spc="-114" dirty="0">
                <a:latin typeface="Arial"/>
                <a:cs typeface="Arial"/>
              </a:rPr>
              <a:t>consists</a:t>
            </a:r>
            <a:r>
              <a:rPr sz="2100" spc="-85" dirty="0">
                <a:latin typeface="Arial"/>
                <a:cs typeface="Arial"/>
              </a:rPr>
              <a:t> </a:t>
            </a:r>
            <a:r>
              <a:rPr sz="2100" spc="-5" dirty="0">
                <a:latin typeface="Arial"/>
                <a:cs typeface="Arial"/>
              </a:rPr>
              <a:t>of</a:t>
            </a:r>
            <a:r>
              <a:rPr sz="2100" spc="-120" dirty="0">
                <a:latin typeface="Arial"/>
                <a:cs typeface="Arial"/>
              </a:rPr>
              <a:t> </a:t>
            </a:r>
            <a:r>
              <a:rPr sz="2100" spc="-80" dirty="0">
                <a:latin typeface="Arial"/>
                <a:cs typeface="Arial"/>
              </a:rPr>
              <a:t>data</a:t>
            </a:r>
            <a:r>
              <a:rPr sz="2100" spc="-130" dirty="0">
                <a:latin typeface="Arial"/>
                <a:cs typeface="Arial"/>
              </a:rPr>
              <a:t> </a:t>
            </a:r>
            <a:r>
              <a:rPr sz="2100" spc="-35" dirty="0">
                <a:latin typeface="Arial"/>
                <a:cs typeface="Arial"/>
              </a:rPr>
              <a:t>at</a:t>
            </a:r>
            <a:r>
              <a:rPr sz="2100" spc="-125" dirty="0">
                <a:latin typeface="Arial"/>
                <a:cs typeface="Arial"/>
              </a:rPr>
              <a:t> </a:t>
            </a:r>
            <a:r>
              <a:rPr sz="2100" spc="-25" dirty="0">
                <a:latin typeface="Arial"/>
                <a:cs typeface="Arial"/>
              </a:rPr>
              <a:t>the</a:t>
            </a:r>
            <a:r>
              <a:rPr sz="2100" spc="-110" dirty="0">
                <a:latin typeface="Arial"/>
                <a:cs typeface="Arial"/>
              </a:rPr>
              <a:t> </a:t>
            </a:r>
            <a:r>
              <a:rPr sz="2100" spc="-50" dirty="0">
                <a:latin typeface="Arial"/>
                <a:cs typeface="Arial"/>
              </a:rPr>
              <a:t>ordinal</a:t>
            </a:r>
            <a:r>
              <a:rPr sz="2100" spc="-100" dirty="0">
                <a:latin typeface="Arial"/>
                <a:cs typeface="Arial"/>
              </a:rPr>
              <a:t> </a:t>
            </a:r>
            <a:r>
              <a:rPr sz="2100" spc="-95" dirty="0">
                <a:latin typeface="Arial"/>
                <a:cs typeface="Arial"/>
              </a:rPr>
              <a:t>level?</a:t>
            </a:r>
            <a:r>
              <a:rPr sz="2100" spc="-70" dirty="0">
                <a:latin typeface="Arial"/>
                <a:cs typeface="Arial"/>
              </a:rPr>
              <a:t> </a:t>
            </a:r>
            <a:r>
              <a:rPr sz="2100" i="1" spc="-120" dirty="0">
                <a:latin typeface="Trebuchet MS"/>
                <a:cs typeface="Trebuchet MS"/>
              </a:rPr>
              <a:t>(Source:</a:t>
            </a:r>
            <a:r>
              <a:rPr sz="2100" i="1" spc="-160" dirty="0">
                <a:latin typeface="Trebuchet MS"/>
                <a:cs typeface="Trebuchet MS"/>
              </a:rPr>
              <a:t> </a:t>
            </a:r>
            <a:r>
              <a:rPr sz="2100" i="1" spc="-100" dirty="0">
                <a:latin typeface="Trebuchet MS"/>
                <a:cs typeface="Trebuchet MS"/>
              </a:rPr>
              <a:t>Nielsen  </a:t>
            </a:r>
            <a:r>
              <a:rPr sz="2100" i="1" spc="-45" dirty="0">
                <a:latin typeface="Trebuchet MS"/>
                <a:cs typeface="Trebuchet MS"/>
              </a:rPr>
              <a:t>Media</a:t>
            </a:r>
            <a:r>
              <a:rPr sz="2100" i="1" spc="-175" dirty="0">
                <a:latin typeface="Trebuchet MS"/>
                <a:cs typeface="Trebuchet MS"/>
              </a:rPr>
              <a:t> </a:t>
            </a:r>
            <a:r>
              <a:rPr sz="2100" i="1" spc="-105" dirty="0">
                <a:latin typeface="Trebuchet MS"/>
                <a:cs typeface="Trebuchet MS"/>
              </a:rPr>
              <a:t>Research)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7363" y="3429000"/>
            <a:ext cx="3128772" cy="2606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05400" y="3429000"/>
            <a:ext cx="2346020" cy="23897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30"/>
              </a:lnSpc>
            </a:pPr>
            <a:r>
              <a:rPr dirty="0"/>
              <a:t>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519" y="655142"/>
            <a:ext cx="48266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5" dirty="0">
                <a:solidFill>
                  <a:srgbClr val="A4A4A4"/>
                </a:solidFill>
              </a:rPr>
              <a:t>Solution: </a:t>
            </a:r>
            <a:r>
              <a:rPr sz="2800" spc="-145" dirty="0">
                <a:solidFill>
                  <a:srgbClr val="A4A4A4"/>
                </a:solidFill>
              </a:rPr>
              <a:t>Classifying </a:t>
            </a:r>
            <a:r>
              <a:rPr sz="2800" spc="-150" dirty="0">
                <a:solidFill>
                  <a:srgbClr val="A4A4A4"/>
                </a:solidFill>
              </a:rPr>
              <a:t>Data </a:t>
            </a:r>
            <a:r>
              <a:rPr sz="2800" spc="-135" dirty="0">
                <a:solidFill>
                  <a:srgbClr val="A4A4A4"/>
                </a:solidFill>
              </a:rPr>
              <a:t>by</a:t>
            </a:r>
            <a:r>
              <a:rPr sz="2800" spc="-450" dirty="0">
                <a:solidFill>
                  <a:srgbClr val="A4A4A4"/>
                </a:solidFill>
              </a:rPr>
              <a:t> </a:t>
            </a:r>
            <a:r>
              <a:rPr sz="2800" spc="-185" dirty="0">
                <a:solidFill>
                  <a:srgbClr val="A4A4A4"/>
                </a:solidFill>
              </a:rPr>
              <a:t>Level</a:t>
            </a:r>
            <a:endParaRPr sz="28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30"/>
              </a:lnSpc>
            </a:pPr>
            <a:r>
              <a:rPr dirty="0"/>
              <a:t>29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3718941"/>
            <a:ext cx="3847465" cy="121031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50"/>
              </a:spcBef>
            </a:pPr>
            <a:r>
              <a:rPr sz="2100" spc="-75" dirty="0">
                <a:latin typeface="Arial"/>
                <a:cs typeface="Arial"/>
              </a:rPr>
              <a:t>Ordinal level </a:t>
            </a:r>
            <a:r>
              <a:rPr sz="2100" spc="-70" dirty="0">
                <a:latin typeface="Arial"/>
                <a:cs typeface="Arial"/>
              </a:rPr>
              <a:t>(lists </a:t>
            </a:r>
            <a:r>
              <a:rPr sz="2100" spc="-25" dirty="0">
                <a:latin typeface="Arial"/>
                <a:cs typeface="Arial"/>
              </a:rPr>
              <a:t>the </a:t>
            </a:r>
            <a:r>
              <a:rPr sz="2100" spc="-85" dirty="0">
                <a:latin typeface="Arial"/>
                <a:cs typeface="Arial"/>
              </a:rPr>
              <a:t>rank </a:t>
            </a:r>
            <a:r>
              <a:rPr sz="2100" spc="-5" dirty="0">
                <a:latin typeface="Arial"/>
                <a:cs typeface="Arial"/>
              </a:rPr>
              <a:t>of </a:t>
            </a:r>
            <a:r>
              <a:rPr sz="2100" spc="-50" dirty="0">
                <a:latin typeface="Arial"/>
                <a:cs typeface="Arial"/>
              </a:rPr>
              <a:t>five  </a:t>
            </a:r>
            <a:r>
              <a:rPr sz="2100" spc="-240" dirty="0">
                <a:latin typeface="Arial"/>
                <a:cs typeface="Arial"/>
              </a:rPr>
              <a:t>TV </a:t>
            </a:r>
            <a:r>
              <a:rPr sz="2100" spc="-95" dirty="0">
                <a:latin typeface="Arial"/>
                <a:cs typeface="Arial"/>
              </a:rPr>
              <a:t>programs. </a:t>
            </a:r>
            <a:r>
              <a:rPr sz="2100" spc="-120" dirty="0">
                <a:latin typeface="Arial"/>
                <a:cs typeface="Arial"/>
              </a:rPr>
              <a:t>Data </a:t>
            </a:r>
            <a:r>
              <a:rPr sz="2100" spc="-135" dirty="0">
                <a:latin typeface="Arial"/>
                <a:cs typeface="Arial"/>
              </a:rPr>
              <a:t>can </a:t>
            </a:r>
            <a:r>
              <a:rPr sz="2100" spc="-100" dirty="0">
                <a:latin typeface="Arial"/>
                <a:cs typeface="Arial"/>
              </a:rPr>
              <a:t>be </a:t>
            </a:r>
            <a:r>
              <a:rPr sz="2100" spc="-65" dirty="0">
                <a:latin typeface="Arial"/>
                <a:cs typeface="Arial"/>
              </a:rPr>
              <a:t>ordered.  </a:t>
            </a:r>
            <a:r>
              <a:rPr sz="2100" spc="-80" dirty="0">
                <a:latin typeface="Arial"/>
                <a:cs typeface="Arial"/>
              </a:rPr>
              <a:t>Difference </a:t>
            </a:r>
            <a:r>
              <a:rPr sz="2100" spc="-65" dirty="0">
                <a:latin typeface="Arial"/>
                <a:cs typeface="Arial"/>
              </a:rPr>
              <a:t>between </a:t>
            </a:r>
            <a:r>
              <a:rPr sz="2100" spc="-120" dirty="0">
                <a:latin typeface="Arial"/>
                <a:cs typeface="Arial"/>
              </a:rPr>
              <a:t>ranks </a:t>
            </a:r>
            <a:r>
              <a:rPr sz="2100" spc="-110" dirty="0">
                <a:latin typeface="Arial"/>
                <a:cs typeface="Arial"/>
              </a:rPr>
              <a:t>is </a:t>
            </a:r>
            <a:r>
              <a:rPr sz="2100" spc="-10" dirty="0">
                <a:latin typeface="Arial"/>
                <a:cs typeface="Arial"/>
              </a:rPr>
              <a:t>not  </a:t>
            </a:r>
            <a:r>
              <a:rPr sz="2100" spc="-65" dirty="0">
                <a:latin typeface="Arial"/>
                <a:cs typeface="Arial"/>
              </a:rPr>
              <a:t>meaningful.)</a:t>
            </a:r>
            <a:endParaRPr sz="21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1371600"/>
            <a:ext cx="2535936" cy="2057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05400" y="1524000"/>
            <a:ext cx="1675512" cy="16532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04028" y="3755212"/>
            <a:ext cx="3867785" cy="2159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375410" algn="l"/>
              </a:tabLst>
            </a:pPr>
            <a:r>
              <a:rPr sz="2800" spc="-5" dirty="0">
                <a:latin typeface="Times New Roman"/>
                <a:cs typeface="Times New Roman"/>
              </a:rPr>
              <a:t>Nominal level </a:t>
            </a:r>
            <a:r>
              <a:rPr sz="2800" dirty="0">
                <a:latin typeface="Times New Roman"/>
                <a:cs typeface="Times New Roman"/>
              </a:rPr>
              <a:t>(lists </a:t>
            </a:r>
            <a:r>
              <a:rPr sz="2800" spc="-5" dirty="0">
                <a:latin typeface="Times New Roman"/>
                <a:cs typeface="Times New Roman"/>
              </a:rPr>
              <a:t>the  </a:t>
            </a:r>
            <a:r>
              <a:rPr sz="2800" spc="-10" dirty="0">
                <a:latin typeface="Times New Roman"/>
                <a:cs typeface="Times New Roman"/>
              </a:rPr>
              <a:t>call </a:t>
            </a:r>
            <a:r>
              <a:rPr sz="2800" spc="-5" dirty="0">
                <a:latin typeface="Times New Roman"/>
                <a:cs typeface="Times New Roman"/>
              </a:rPr>
              <a:t>letters of </a:t>
            </a:r>
            <a:r>
              <a:rPr sz="2800" spc="-10" dirty="0">
                <a:latin typeface="Times New Roman"/>
                <a:cs typeface="Times New Roman"/>
              </a:rPr>
              <a:t>each </a:t>
            </a:r>
            <a:r>
              <a:rPr sz="2800" spc="-5" dirty="0">
                <a:latin typeface="Times New Roman"/>
                <a:cs typeface="Times New Roman"/>
              </a:rPr>
              <a:t>network  </a:t>
            </a:r>
            <a:r>
              <a:rPr sz="2800" spc="-10" dirty="0">
                <a:latin typeface="Times New Roman"/>
                <a:cs typeface="Times New Roman"/>
              </a:rPr>
              <a:t>affiliate.	Call </a:t>
            </a:r>
            <a:r>
              <a:rPr sz="2800" spc="-5" dirty="0">
                <a:latin typeface="Times New Roman"/>
                <a:cs typeface="Times New Roman"/>
              </a:rPr>
              <a:t>letters are  names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network  </a:t>
            </a:r>
            <a:r>
              <a:rPr sz="2800" spc="-10" dirty="0">
                <a:latin typeface="Times New Roman"/>
                <a:cs typeface="Times New Roman"/>
              </a:rPr>
              <a:t>affiliates.)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7452" y="3377691"/>
            <a:ext cx="120650" cy="357505"/>
          </a:xfrm>
          <a:custGeom>
            <a:avLst/>
            <a:gdLst/>
            <a:ahLst/>
            <a:cxnLst/>
            <a:rect l="l" t="t" r="r" b="b"/>
            <a:pathLst>
              <a:path w="120650" h="357504">
                <a:moveTo>
                  <a:pt x="14732" y="238252"/>
                </a:moveTo>
                <a:lnTo>
                  <a:pt x="8509" y="241808"/>
                </a:lnTo>
                <a:lnTo>
                  <a:pt x="2159" y="245237"/>
                </a:lnTo>
                <a:lnTo>
                  <a:pt x="0" y="253111"/>
                </a:lnTo>
                <a:lnTo>
                  <a:pt x="57785" y="357505"/>
                </a:lnTo>
                <a:lnTo>
                  <a:pt x="73369" y="332105"/>
                </a:lnTo>
                <a:lnTo>
                  <a:pt x="71247" y="332105"/>
                </a:lnTo>
                <a:lnTo>
                  <a:pt x="45466" y="331470"/>
                </a:lnTo>
                <a:lnTo>
                  <a:pt x="46527" y="283695"/>
                </a:lnTo>
                <a:lnTo>
                  <a:pt x="26035" y="246761"/>
                </a:lnTo>
                <a:lnTo>
                  <a:pt x="22606" y="240538"/>
                </a:lnTo>
                <a:lnTo>
                  <a:pt x="14732" y="238252"/>
                </a:lnTo>
                <a:close/>
              </a:path>
              <a:path w="120650" h="357504">
                <a:moveTo>
                  <a:pt x="46527" y="283695"/>
                </a:moveTo>
                <a:lnTo>
                  <a:pt x="45466" y="331470"/>
                </a:lnTo>
                <a:lnTo>
                  <a:pt x="71247" y="332105"/>
                </a:lnTo>
                <a:lnTo>
                  <a:pt x="71393" y="325501"/>
                </a:lnTo>
                <a:lnTo>
                  <a:pt x="69723" y="325501"/>
                </a:lnTo>
                <a:lnTo>
                  <a:pt x="47371" y="324993"/>
                </a:lnTo>
                <a:lnTo>
                  <a:pt x="58951" y="306087"/>
                </a:lnTo>
                <a:lnTo>
                  <a:pt x="46527" y="283695"/>
                </a:lnTo>
                <a:close/>
              </a:path>
              <a:path w="120650" h="357504">
                <a:moveTo>
                  <a:pt x="106045" y="240284"/>
                </a:moveTo>
                <a:lnTo>
                  <a:pt x="98171" y="242189"/>
                </a:lnTo>
                <a:lnTo>
                  <a:pt x="94361" y="248285"/>
                </a:lnTo>
                <a:lnTo>
                  <a:pt x="72309" y="284282"/>
                </a:lnTo>
                <a:lnTo>
                  <a:pt x="71247" y="332105"/>
                </a:lnTo>
                <a:lnTo>
                  <a:pt x="73369" y="332105"/>
                </a:lnTo>
                <a:lnTo>
                  <a:pt x="116459" y="261874"/>
                </a:lnTo>
                <a:lnTo>
                  <a:pt x="120142" y="255778"/>
                </a:lnTo>
                <a:lnTo>
                  <a:pt x="118237" y="247777"/>
                </a:lnTo>
                <a:lnTo>
                  <a:pt x="112141" y="244094"/>
                </a:lnTo>
                <a:lnTo>
                  <a:pt x="106045" y="240284"/>
                </a:lnTo>
                <a:close/>
              </a:path>
              <a:path w="120650" h="357504">
                <a:moveTo>
                  <a:pt x="58951" y="306087"/>
                </a:moveTo>
                <a:lnTo>
                  <a:pt x="47371" y="324993"/>
                </a:lnTo>
                <a:lnTo>
                  <a:pt x="69723" y="325501"/>
                </a:lnTo>
                <a:lnTo>
                  <a:pt x="58951" y="306087"/>
                </a:lnTo>
                <a:close/>
              </a:path>
              <a:path w="120650" h="357504">
                <a:moveTo>
                  <a:pt x="72309" y="284282"/>
                </a:moveTo>
                <a:lnTo>
                  <a:pt x="58951" y="306087"/>
                </a:lnTo>
                <a:lnTo>
                  <a:pt x="69723" y="325501"/>
                </a:lnTo>
                <a:lnTo>
                  <a:pt x="71393" y="325501"/>
                </a:lnTo>
                <a:lnTo>
                  <a:pt x="72309" y="284282"/>
                </a:lnTo>
                <a:close/>
              </a:path>
              <a:path w="120650" h="357504">
                <a:moveTo>
                  <a:pt x="52832" y="0"/>
                </a:moveTo>
                <a:lnTo>
                  <a:pt x="46527" y="283695"/>
                </a:lnTo>
                <a:lnTo>
                  <a:pt x="58951" y="306087"/>
                </a:lnTo>
                <a:lnTo>
                  <a:pt x="72309" y="284282"/>
                </a:lnTo>
                <a:lnTo>
                  <a:pt x="78613" y="508"/>
                </a:lnTo>
                <a:lnTo>
                  <a:pt x="52832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06134" y="3165982"/>
            <a:ext cx="120650" cy="619760"/>
          </a:xfrm>
          <a:custGeom>
            <a:avLst/>
            <a:gdLst/>
            <a:ahLst/>
            <a:cxnLst/>
            <a:rect l="l" t="t" r="r" b="b"/>
            <a:pathLst>
              <a:path w="120650" h="619760">
                <a:moveTo>
                  <a:pt x="14477" y="500887"/>
                </a:moveTo>
                <a:lnTo>
                  <a:pt x="2031" y="507999"/>
                </a:lnTo>
                <a:lnTo>
                  <a:pt x="0" y="515873"/>
                </a:lnTo>
                <a:lnTo>
                  <a:pt x="3555" y="522096"/>
                </a:lnTo>
                <a:lnTo>
                  <a:pt x="59562" y="619251"/>
                </a:lnTo>
                <a:lnTo>
                  <a:pt x="74644" y="593724"/>
                </a:lnTo>
                <a:lnTo>
                  <a:pt x="46736" y="593597"/>
                </a:lnTo>
                <a:lnTo>
                  <a:pt x="46982" y="545578"/>
                </a:lnTo>
                <a:lnTo>
                  <a:pt x="26035" y="509142"/>
                </a:lnTo>
                <a:lnTo>
                  <a:pt x="22351" y="502919"/>
                </a:lnTo>
                <a:lnTo>
                  <a:pt x="14477" y="500887"/>
                </a:lnTo>
                <a:close/>
              </a:path>
              <a:path w="120650" h="619760">
                <a:moveTo>
                  <a:pt x="46982" y="545578"/>
                </a:moveTo>
                <a:lnTo>
                  <a:pt x="46736" y="593597"/>
                </a:lnTo>
                <a:lnTo>
                  <a:pt x="72643" y="593724"/>
                </a:lnTo>
                <a:lnTo>
                  <a:pt x="72677" y="587120"/>
                </a:lnTo>
                <a:lnTo>
                  <a:pt x="48513" y="586993"/>
                </a:lnTo>
                <a:lnTo>
                  <a:pt x="59799" y="567871"/>
                </a:lnTo>
                <a:lnTo>
                  <a:pt x="46982" y="545578"/>
                </a:lnTo>
                <a:close/>
              </a:path>
              <a:path w="120650" h="619760">
                <a:moveTo>
                  <a:pt x="105917" y="501268"/>
                </a:moveTo>
                <a:lnTo>
                  <a:pt x="97916" y="503427"/>
                </a:lnTo>
                <a:lnTo>
                  <a:pt x="94234" y="509523"/>
                </a:lnTo>
                <a:lnTo>
                  <a:pt x="72890" y="545689"/>
                </a:lnTo>
                <a:lnTo>
                  <a:pt x="72643" y="593724"/>
                </a:lnTo>
                <a:lnTo>
                  <a:pt x="74644" y="593724"/>
                </a:lnTo>
                <a:lnTo>
                  <a:pt x="120268" y="516508"/>
                </a:lnTo>
                <a:lnTo>
                  <a:pt x="118237" y="508634"/>
                </a:lnTo>
                <a:lnTo>
                  <a:pt x="112013" y="504951"/>
                </a:lnTo>
                <a:lnTo>
                  <a:pt x="105917" y="501268"/>
                </a:lnTo>
                <a:close/>
              </a:path>
              <a:path w="120650" h="619760">
                <a:moveTo>
                  <a:pt x="59799" y="567871"/>
                </a:moveTo>
                <a:lnTo>
                  <a:pt x="48513" y="586993"/>
                </a:lnTo>
                <a:lnTo>
                  <a:pt x="70865" y="587120"/>
                </a:lnTo>
                <a:lnTo>
                  <a:pt x="59799" y="567871"/>
                </a:lnTo>
                <a:close/>
              </a:path>
              <a:path w="120650" h="619760">
                <a:moveTo>
                  <a:pt x="72890" y="545689"/>
                </a:moveTo>
                <a:lnTo>
                  <a:pt x="59799" y="567871"/>
                </a:lnTo>
                <a:lnTo>
                  <a:pt x="70865" y="587120"/>
                </a:lnTo>
                <a:lnTo>
                  <a:pt x="72677" y="587120"/>
                </a:lnTo>
                <a:lnTo>
                  <a:pt x="72890" y="545689"/>
                </a:lnTo>
                <a:close/>
              </a:path>
              <a:path w="120650" h="619760">
                <a:moveTo>
                  <a:pt x="49784" y="0"/>
                </a:moveTo>
                <a:lnTo>
                  <a:pt x="47172" y="508634"/>
                </a:lnTo>
                <a:lnTo>
                  <a:pt x="47045" y="545689"/>
                </a:lnTo>
                <a:lnTo>
                  <a:pt x="59799" y="567871"/>
                </a:lnTo>
                <a:lnTo>
                  <a:pt x="72890" y="545689"/>
                </a:lnTo>
                <a:lnTo>
                  <a:pt x="75691" y="253"/>
                </a:lnTo>
                <a:lnTo>
                  <a:pt x="49784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7069" y="1005332"/>
            <a:ext cx="395414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Levels </a:t>
            </a:r>
            <a:r>
              <a:rPr spc="-145" dirty="0"/>
              <a:t>of</a:t>
            </a:r>
            <a:r>
              <a:rPr spc="-375" dirty="0"/>
              <a:t> </a:t>
            </a:r>
            <a:r>
              <a:rPr spc="-100" dirty="0"/>
              <a:t>Measurement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30"/>
              </a:lnSpc>
            </a:pPr>
            <a:r>
              <a:rPr dirty="0"/>
              <a:t>30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964" y="1981708"/>
            <a:ext cx="7904480" cy="283908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800" b="1" spc="-254" dirty="0">
                <a:solidFill>
                  <a:srgbClr val="EC7C30"/>
                </a:solidFill>
                <a:latin typeface="Trebuchet MS"/>
                <a:cs typeface="Trebuchet MS"/>
              </a:rPr>
              <a:t>3. </a:t>
            </a:r>
            <a:r>
              <a:rPr sz="2800" b="1" spc="-155" dirty="0">
                <a:solidFill>
                  <a:srgbClr val="EC7C30"/>
                </a:solidFill>
                <a:latin typeface="Trebuchet MS"/>
                <a:cs typeface="Trebuchet MS"/>
              </a:rPr>
              <a:t>Interval </a:t>
            </a:r>
            <a:r>
              <a:rPr sz="2800" b="1" spc="-180" dirty="0">
                <a:solidFill>
                  <a:srgbClr val="EC7C30"/>
                </a:solidFill>
                <a:latin typeface="Trebuchet MS"/>
                <a:cs typeface="Trebuchet MS"/>
              </a:rPr>
              <a:t>level </a:t>
            </a:r>
            <a:r>
              <a:rPr sz="2800" b="1" spc="-120" dirty="0">
                <a:solidFill>
                  <a:srgbClr val="EC7C30"/>
                </a:solidFill>
                <a:latin typeface="Trebuchet MS"/>
                <a:cs typeface="Trebuchet MS"/>
              </a:rPr>
              <a:t>of</a:t>
            </a:r>
            <a:r>
              <a:rPr sz="2800" b="1" spc="-190" dirty="0">
                <a:solidFill>
                  <a:srgbClr val="EC7C30"/>
                </a:solidFill>
                <a:latin typeface="Trebuchet MS"/>
                <a:cs typeface="Trebuchet MS"/>
              </a:rPr>
              <a:t> </a:t>
            </a:r>
            <a:r>
              <a:rPr sz="2800" b="1" spc="-165" dirty="0">
                <a:solidFill>
                  <a:srgbClr val="EC7C30"/>
                </a:solidFill>
                <a:latin typeface="Trebuchet MS"/>
                <a:cs typeface="Trebuchet MS"/>
              </a:rPr>
              <a:t>measurement</a:t>
            </a:r>
            <a:endParaRPr sz="2800">
              <a:latin typeface="Trebuchet MS"/>
              <a:cs typeface="Trebuchet MS"/>
            </a:endParaRPr>
          </a:p>
          <a:p>
            <a:pPr marL="184785" indent="-172085">
              <a:lnSpc>
                <a:spcPct val="100000"/>
              </a:lnSpc>
              <a:spcBef>
                <a:spcPts val="465"/>
              </a:spcBef>
              <a:buChar char="•"/>
              <a:tabLst>
                <a:tab pos="185420" algn="l"/>
              </a:tabLst>
            </a:pPr>
            <a:r>
              <a:rPr sz="2800" spc="-70" dirty="0">
                <a:latin typeface="Arial"/>
                <a:cs typeface="Arial"/>
              </a:rPr>
              <a:t>Quantitative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  <a:p>
            <a:pPr marL="184785" indent="-172085">
              <a:lnSpc>
                <a:spcPct val="100000"/>
              </a:lnSpc>
              <a:spcBef>
                <a:spcPts val="470"/>
              </a:spcBef>
              <a:buChar char="•"/>
              <a:tabLst>
                <a:tab pos="185420" algn="l"/>
              </a:tabLst>
            </a:pPr>
            <a:r>
              <a:rPr sz="2800" spc="-160" dirty="0">
                <a:latin typeface="Arial"/>
                <a:cs typeface="Arial"/>
              </a:rPr>
              <a:t>Data </a:t>
            </a:r>
            <a:r>
              <a:rPr sz="2800" spc="-185" dirty="0">
                <a:latin typeface="Arial"/>
                <a:cs typeface="Arial"/>
              </a:rPr>
              <a:t>can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ordered</a:t>
            </a:r>
            <a:endParaRPr sz="2800">
              <a:latin typeface="Arial"/>
              <a:cs typeface="Arial"/>
            </a:endParaRPr>
          </a:p>
          <a:p>
            <a:pPr marL="184785" indent="-172085">
              <a:lnSpc>
                <a:spcPct val="100000"/>
              </a:lnSpc>
              <a:spcBef>
                <a:spcPts val="459"/>
              </a:spcBef>
              <a:buChar char="•"/>
              <a:tabLst>
                <a:tab pos="185420" algn="l"/>
              </a:tabLst>
            </a:pPr>
            <a:r>
              <a:rPr sz="2800" spc="-125" dirty="0">
                <a:latin typeface="Arial"/>
                <a:cs typeface="Arial"/>
              </a:rPr>
              <a:t>Differences </a:t>
            </a:r>
            <a:r>
              <a:rPr sz="2800" spc="-85" dirty="0">
                <a:latin typeface="Arial"/>
                <a:cs typeface="Arial"/>
              </a:rPr>
              <a:t>between </a:t>
            </a:r>
            <a:r>
              <a:rPr sz="2800" spc="-110" dirty="0">
                <a:latin typeface="Arial"/>
                <a:cs typeface="Arial"/>
              </a:rPr>
              <a:t>data </a:t>
            </a:r>
            <a:r>
              <a:rPr sz="2800" spc="-75" dirty="0">
                <a:latin typeface="Arial"/>
                <a:cs typeface="Arial"/>
              </a:rPr>
              <a:t>entries </a:t>
            </a:r>
            <a:r>
              <a:rPr sz="2800" spc="-145" dirty="0">
                <a:latin typeface="Arial"/>
                <a:cs typeface="Arial"/>
              </a:rPr>
              <a:t>is</a:t>
            </a:r>
            <a:r>
              <a:rPr sz="2800" spc="-28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meaningful</a:t>
            </a:r>
            <a:endParaRPr sz="2800">
              <a:latin typeface="Arial"/>
              <a:cs typeface="Arial"/>
            </a:endParaRPr>
          </a:p>
          <a:p>
            <a:pPr marL="184785" marR="5080" indent="-172085">
              <a:lnSpc>
                <a:spcPts val="3020"/>
              </a:lnSpc>
              <a:spcBef>
                <a:spcPts val="850"/>
              </a:spcBef>
              <a:buChar char="•"/>
              <a:tabLst>
                <a:tab pos="185420" algn="l"/>
              </a:tabLst>
            </a:pPr>
            <a:r>
              <a:rPr sz="2800" spc="-180" dirty="0">
                <a:latin typeface="Arial"/>
                <a:cs typeface="Arial"/>
              </a:rPr>
              <a:t>Zero </a:t>
            </a:r>
            <a:r>
              <a:rPr sz="2800" spc="-114" dirty="0">
                <a:latin typeface="Arial"/>
                <a:cs typeface="Arial"/>
              </a:rPr>
              <a:t>represents </a:t>
            </a:r>
            <a:r>
              <a:rPr sz="2800" spc="-220" dirty="0">
                <a:latin typeface="Arial"/>
                <a:cs typeface="Arial"/>
              </a:rPr>
              <a:t>a </a:t>
            </a:r>
            <a:r>
              <a:rPr sz="2800" spc="-65" dirty="0">
                <a:latin typeface="Arial"/>
                <a:cs typeface="Arial"/>
              </a:rPr>
              <a:t>position </a:t>
            </a:r>
            <a:r>
              <a:rPr sz="2800" spc="-90" dirty="0">
                <a:latin typeface="Arial"/>
                <a:cs typeface="Arial"/>
              </a:rPr>
              <a:t>on </a:t>
            </a:r>
            <a:r>
              <a:rPr sz="2800" spc="-220" dirty="0">
                <a:latin typeface="Arial"/>
                <a:cs typeface="Arial"/>
              </a:rPr>
              <a:t>a </a:t>
            </a:r>
            <a:r>
              <a:rPr sz="2800" spc="-185" dirty="0">
                <a:latin typeface="Arial"/>
                <a:cs typeface="Arial"/>
              </a:rPr>
              <a:t>scale </a:t>
            </a:r>
            <a:r>
              <a:rPr sz="2800" spc="-30" dirty="0">
                <a:latin typeface="Arial"/>
                <a:cs typeface="Arial"/>
              </a:rPr>
              <a:t>(not </a:t>
            </a:r>
            <a:r>
              <a:rPr sz="2800" spc="-155" dirty="0">
                <a:latin typeface="Arial"/>
                <a:cs typeface="Arial"/>
              </a:rPr>
              <a:t>an </a:t>
            </a:r>
            <a:r>
              <a:rPr sz="2800" spc="-60" dirty="0">
                <a:latin typeface="Arial"/>
                <a:cs typeface="Arial"/>
              </a:rPr>
              <a:t>inherent  </a:t>
            </a:r>
            <a:r>
              <a:rPr sz="2800" spc="-155" dirty="0">
                <a:latin typeface="Arial"/>
                <a:cs typeface="Arial"/>
              </a:rPr>
              <a:t>zero </a:t>
            </a:r>
            <a:r>
              <a:rPr sz="2800" spc="-165" dirty="0">
                <a:latin typeface="Arial"/>
                <a:cs typeface="Arial"/>
              </a:rPr>
              <a:t>– </a:t>
            </a:r>
            <a:r>
              <a:rPr sz="2800" spc="-160" dirty="0">
                <a:latin typeface="Arial"/>
                <a:cs typeface="Arial"/>
              </a:rPr>
              <a:t>zero </a:t>
            </a:r>
            <a:r>
              <a:rPr sz="2800" spc="-165" dirty="0">
                <a:latin typeface="Arial"/>
                <a:cs typeface="Arial"/>
              </a:rPr>
              <a:t>does </a:t>
            </a:r>
            <a:r>
              <a:rPr sz="2800" spc="-10" dirty="0">
                <a:latin typeface="Arial"/>
                <a:cs typeface="Arial"/>
              </a:rPr>
              <a:t>not </a:t>
            </a:r>
            <a:r>
              <a:rPr sz="2800" spc="-65" dirty="0">
                <a:latin typeface="Arial"/>
                <a:cs typeface="Arial"/>
              </a:rPr>
              <a:t>imply</a:t>
            </a:r>
            <a:r>
              <a:rPr sz="2800" spc="-1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“none”)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705053"/>
            <a:ext cx="48571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85" dirty="0">
                <a:solidFill>
                  <a:srgbClr val="A4A4A4"/>
                </a:solidFill>
                <a:latin typeface="Trebuchet MS"/>
                <a:cs typeface="Trebuchet MS"/>
              </a:rPr>
              <a:t>Example: </a:t>
            </a:r>
            <a:r>
              <a:rPr sz="2800" spc="-145" dirty="0">
                <a:solidFill>
                  <a:srgbClr val="A4A4A4"/>
                </a:solidFill>
                <a:latin typeface="Trebuchet MS"/>
                <a:cs typeface="Trebuchet MS"/>
              </a:rPr>
              <a:t>Classifying Data </a:t>
            </a:r>
            <a:r>
              <a:rPr sz="2800" spc="-140" dirty="0">
                <a:solidFill>
                  <a:srgbClr val="A4A4A4"/>
                </a:solidFill>
                <a:latin typeface="Trebuchet MS"/>
                <a:cs typeface="Trebuchet MS"/>
              </a:rPr>
              <a:t>by</a:t>
            </a:r>
            <a:r>
              <a:rPr sz="2800" spc="-375" dirty="0">
                <a:solidFill>
                  <a:srgbClr val="A4A4A4"/>
                </a:solidFill>
                <a:latin typeface="Trebuchet MS"/>
                <a:cs typeface="Trebuchet MS"/>
              </a:rPr>
              <a:t> </a:t>
            </a:r>
            <a:r>
              <a:rPr sz="2800" spc="-185" dirty="0">
                <a:solidFill>
                  <a:srgbClr val="A4A4A4"/>
                </a:solidFill>
                <a:latin typeface="Trebuchet MS"/>
                <a:cs typeface="Trebuchet MS"/>
              </a:rPr>
              <a:t>Level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9915" y="1371676"/>
            <a:ext cx="7736840" cy="92265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 algn="just">
              <a:lnSpc>
                <a:spcPct val="90100"/>
              </a:lnSpc>
              <a:spcBef>
                <a:spcPts val="350"/>
              </a:spcBef>
            </a:pPr>
            <a:r>
              <a:rPr sz="2100" spc="-155" dirty="0">
                <a:latin typeface="Arial"/>
                <a:cs typeface="Arial"/>
              </a:rPr>
              <a:t>Two </a:t>
            </a:r>
            <a:r>
              <a:rPr sz="2100" spc="-80" dirty="0">
                <a:latin typeface="Arial"/>
                <a:cs typeface="Arial"/>
              </a:rPr>
              <a:t>data </a:t>
            </a:r>
            <a:r>
              <a:rPr sz="2100" spc="-125" dirty="0">
                <a:latin typeface="Arial"/>
                <a:cs typeface="Arial"/>
              </a:rPr>
              <a:t>sets </a:t>
            </a:r>
            <a:r>
              <a:rPr sz="2100" spc="-95" dirty="0">
                <a:latin typeface="Arial"/>
                <a:cs typeface="Arial"/>
              </a:rPr>
              <a:t>are </a:t>
            </a:r>
            <a:r>
              <a:rPr sz="2100" spc="-85" dirty="0">
                <a:latin typeface="Arial"/>
                <a:cs typeface="Arial"/>
              </a:rPr>
              <a:t>shown. </a:t>
            </a:r>
            <a:r>
              <a:rPr sz="2100" spc="-80" dirty="0">
                <a:latin typeface="Arial"/>
                <a:cs typeface="Arial"/>
              </a:rPr>
              <a:t>Which data </a:t>
            </a:r>
            <a:r>
              <a:rPr sz="2100" spc="-90" dirty="0">
                <a:latin typeface="Arial"/>
                <a:cs typeface="Arial"/>
              </a:rPr>
              <a:t>set </a:t>
            </a:r>
            <a:r>
              <a:rPr sz="2100" spc="-114" dirty="0">
                <a:latin typeface="Arial"/>
                <a:cs typeface="Arial"/>
              </a:rPr>
              <a:t>consists </a:t>
            </a:r>
            <a:r>
              <a:rPr sz="2100" spc="-5" dirty="0">
                <a:latin typeface="Arial"/>
                <a:cs typeface="Arial"/>
              </a:rPr>
              <a:t>of </a:t>
            </a:r>
            <a:r>
              <a:rPr sz="2100" spc="-80" dirty="0">
                <a:latin typeface="Arial"/>
                <a:cs typeface="Arial"/>
              </a:rPr>
              <a:t>data </a:t>
            </a:r>
            <a:r>
              <a:rPr sz="2100" spc="-35" dirty="0">
                <a:latin typeface="Arial"/>
                <a:cs typeface="Arial"/>
              </a:rPr>
              <a:t>at </a:t>
            </a:r>
            <a:r>
              <a:rPr sz="2100" spc="-25" dirty="0">
                <a:latin typeface="Arial"/>
                <a:cs typeface="Arial"/>
              </a:rPr>
              <a:t>the</a:t>
            </a:r>
            <a:r>
              <a:rPr sz="2100" spc="-445" dirty="0">
                <a:latin typeface="Arial"/>
                <a:cs typeface="Arial"/>
              </a:rPr>
              <a:t> </a:t>
            </a:r>
            <a:r>
              <a:rPr sz="2100" spc="-45" dirty="0">
                <a:latin typeface="Arial"/>
                <a:cs typeface="Arial"/>
              </a:rPr>
              <a:t>interval  </a:t>
            </a:r>
            <a:r>
              <a:rPr sz="2100" spc="-95" dirty="0">
                <a:latin typeface="Arial"/>
                <a:cs typeface="Arial"/>
              </a:rPr>
              <a:t>level? </a:t>
            </a:r>
            <a:r>
              <a:rPr sz="2100" spc="-80" dirty="0">
                <a:latin typeface="Arial"/>
                <a:cs typeface="Arial"/>
              </a:rPr>
              <a:t>Which data </a:t>
            </a:r>
            <a:r>
              <a:rPr sz="2100" spc="-90" dirty="0">
                <a:latin typeface="Arial"/>
                <a:cs typeface="Arial"/>
              </a:rPr>
              <a:t>set </a:t>
            </a:r>
            <a:r>
              <a:rPr sz="2100" spc="-114" dirty="0">
                <a:latin typeface="Arial"/>
                <a:cs typeface="Arial"/>
              </a:rPr>
              <a:t>consists </a:t>
            </a:r>
            <a:r>
              <a:rPr sz="2100" spc="-5" dirty="0">
                <a:latin typeface="Arial"/>
                <a:cs typeface="Arial"/>
              </a:rPr>
              <a:t>of </a:t>
            </a:r>
            <a:r>
              <a:rPr sz="2100" spc="-80" dirty="0">
                <a:latin typeface="Arial"/>
                <a:cs typeface="Arial"/>
              </a:rPr>
              <a:t>data </a:t>
            </a:r>
            <a:r>
              <a:rPr sz="2100" spc="-35" dirty="0">
                <a:latin typeface="Arial"/>
                <a:cs typeface="Arial"/>
              </a:rPr>
              <a:t>at </a:t>
            </a:r>
            <a:r>
              <a:rPr sz="2100" spc="-25" dirty="0">
                <a:latin typeface="Arial"/>
                <a:cs typeface="Arial"/>
              </a:rPr>
              <a:t>the </a:t>
            </a:r>
            <a:r>
              <a:rPr sz="2100" spc="-30" dirty="0">
                <a:latin typeface="Arial"/>
                <a:cs typeface="Arial"/>
              </a:rPr>
              <a:t>ratio </a:t>
            </a:r>
            <a:r>
              <a:rPr sz="2100" spc="-95" dirty="0">
                <a:latin typeface="Arial"/>
                <a:cs typeface="Arial"/>
              </a:rPr>
              <a:t>level? </a:t>
            </a:r>
            <a:r>
              <a:rPr sz="2100" i="1" spc="-120" dirty="0">
                <a:latin typeface="Trebuchet MS"/>
                <a:cs typeface="Trebuchet MS"/>
              </a:rPr>
              <a:t>(Source: </a:t>
            </a:r>
            <a:r>
              <a:rPr sz="2100" i="1" spc="-65" dirty="0">
                <a:latin typeface="Trebuchet MS"/>
                <a:cs typeface="Trebuchet MS"/>
              </a:rPr>
              <a:t>Major  </a:t>
            </a:r>
            <a:r>
              <a:rPr sz="2100" i="1" spc="-90" dirty="0">
                <a:latin typeface="Trebuchet MS"/>
                <a:cs typeface="Trebuchet MS"/>
              </a:rPr>
              <a:t>League</a:t>
            </a:r>
            <a:r>
              <a:rPr sz="2100" i="1" spc="-190" dirty="0">
                <a:latin typeface="Trebuchet MS"/>
                <a:cs typeface="Trebuchet MS"/>
              </a:rPr>
              <a:t> </a:t>
            </a:r>
            <a:r>
              <a:rPr sz="2100" i="1" spc="-100" dirty="0">
                <a:latin typeface="Trebuchet MS"/>
                <a:cs typeface="Trebuchet MS"/>
              </a:rPr>
              <a:t>Baseball)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25880" y="3465707"/>
            <a:ext cx="2409444" cy="2279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93564" y="3005327"/>
            <a:ext cx="2560319" cy="35143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30"/>
              </a:lnSpc>
            </a:pPr>
            <a:r>
              <a:rPr dirty="0"/>
              <a:t>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070" y="1050416"/>
            <a:ext cx="395414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Levels </a:t>
            </a:r>
            <a:r>
              <a:rPr spc="-145" dirty="0"/>
              <a:t>of</a:t>
            </a:r>
            <a:r>
              <a:rPr spc="-375" dirty="0"/>
              <a:t> </a:t>
            </a:r>
            <a:r>
              <a:rPr spc="-100" dirty="0"/>
              <a:t>Measurement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30"/>
              </a:lnSpc>
            </a:pPr>
            <a:r>
              <a:rPr dirty="0"/>
              <a:t>32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2034819"/>
            <a:ext cx="7233284" cy="283972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800" b="1" spc="-254" dirty="0">
                <a:solidFill>
                  <a:srgbClr val="EC7C30"/>
                </a:solidFill>
                <a:latin typeface="Trebuchet MS"/>
                <a:cs typeface="Trebuchet MS"/>
              </a:rPr>
              <a:t>4. </a:t>
            </a:r>
            <a:r>
              <a:rPr sz="2800" b="1" spc="-130" dirty="0">
                <a:solidFill>
                  <a:srgbClr val="EC7C30"/>
                </a:solidFill>
                <a:latin typeface="Trebuchet MS"/>
                <a:cs typeface="Trebuchet MS"/>
              </a:rPr>
              <a:t>Ratio </a:t>
            </a:r>
            <a:r>
              <a:rPr sz="2800" b="1" spc="-180" dirty="0">
                <a:solidFill>
                  <a:srgbClr val="EC7C30"/>
                </a:solidFill>
                <a:latin typeface="Trebuchet MS"/>
                <a:cs typeface="Trebuchet MS"/>
              </a:rPr>
              <a:t>level </a:t>
            </a:r>
            <a:r>
              <a:rPr sz="2800" b="1" spc="-120" dirty="0">
                <a:solidFill>
                  <a:srgbClr val="EC7C30"/>
                </a:solidFill>
                <a:latin typeface="Trebuchet MS"/>
                <a:cs typeface="Trebuchet MS"/>
              </a:rPr>
              <a:t>of</a:t>
            </a:r>
            <a:r>
              <a:rPr sz="2800" b="1" spc="-240" dirty="0">
                <a:solidFill>
                  <a:srgbClr val="EC7C30"/>
                </a:solidFill>
                <a:latin typeface="Trebuchet MS"/>
                <a:cs typeface="Trebuchet MS"/>
              </a:rPr>
              <a:t> </a:t>
            </a:r>
            <a:r>
              <a:rPr sz="2800" b="1" spc="-165" dirty="0">
                <a:solidFill>
                  <a:srgbClr val="EC7C30"/>
                </a:solidFill>
                <a:latin typeface="Trebuchet MS"/>
                <a:cs typeface="Trebuchet MS"/>
              </a:rPr>
              <a:t>measurement</a:t>
            </a:r>
            <a:endParaRPr sz="2800">
              <a:latin typeface="Trebuchet MS"/>
              <a:cs typeface="Trebuchet MS"/>
            </a:endParaRPr>
          </a:p>
          <a:p>
            <a:pPr marL="184785" indent="-172085">
              <a:lnSpc>
                <a:spcPct val="100000"/>
              </a:lnSpc>
              <a:spcBef>
                <a:spcPts val="470"/>
              </a:spcBef>
              <a:buChar char="•"/>
              <a:tabLst>
                <a:tab pos="185420" algn="l"/>
              </a:tabLst>
            </a:pPr>
            <a:r>
              <a:rPr sz="2800" spc="-120" dirty="0">
                <a:latin typeface="Arial"/>
                <a:cs typeface="Arial"/>
              </a:rPr>
              <a:t>Similar </a:t>
            </a:r>
            <a:r>
              <a:rPr sz="2800" spc="25" dirty="0">
                <a:latin typeface="Arial"/>
                <a:cs typeface="Arial"/>
              </a:rPr>
              <a:t>to </a:t>
            </a:r>
            <a:r>
              <a:rPr sz="2800" spc="-60" dirty="0">
                <a:latin typeface="Arial"/>
                <a:cs typeface="Arial"/>
              </a:rPr>
              <a:t>interval</a:t>
            </a:r>
            <a:r>
              <a:rPr sz="2800" spc="-32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level</a:t>
            </a:r>
            <a:endParaRPr sz="2800">
              <a:latin typeface="Arial"/>
              <a:cs typeface="Arial"/>
            </a:endParaRPr>
          </a:p>
          <a:p>
            <a:pPr marL="184785" indent="-172085">
              <a:lnSpc>
                <a:spcPct val="100000"/>
              </a:lnSpc>
              <a:spcBef>
                <a:spcPts val="470"/>
              </a:spcBef>
              <a:buChar char="•"/>
              <a:tabLst>
                <a:tab pos="185420" algn="l"/>
              </a:tabLst>
            </a:pPr>
            <a:r>
              <a:rPr sz="2800" spc="-180" dirty="0">
                <a:latin typeface="Arial"/>
                <a:cs typeface="Arial"/>
              </a:rPr>
              <a:t>Zero </a:t>
            </a:r>
            <a:r>
              <a:rPr sz="2800" spc="-45" dirty="0">
                <a:latin typeface="Arial"/>
                <a:cs typeface="Arial"/>
              </a:rPr>
              <a:t>entry </a:t>
            </a:r>
            <a:r>
              <a:rPr sz="2800" spc="-145" dirty="0">
                <a:latin typeface="Arial"/>
                <a:cs typeface="Arial"/>
              </a:rPr>
              <a:t>is </a:t>
            </a:r>
            <a:r>
              <a:rPr sz="2800" spc="-155" dirty="0">
                <a:latin typeface="Arial"/>
                <a:cs typeface="Arial"/>
              </a:rPr>
              <a:t>an </a:t>
            </a:r>
            <a:r>
              <a:rPr sz="2800" spc="-60" dirty="0">
                <a:latin typeface="Arial"/>
                <a:cs typeface="Arial"/>
              </a:rPr>
              <a:t>inherent </a:t>
            </a:r>
            <a:r>
              <a:rPr sz="2800" spc="-155" dirty="0">
                <a:latin typeface="Arial"/>
                <a:cs typeface="Arial"/>
              </a:rPr>
              <a:t>zero </a:t>
            </a:r>
            <a:r>
              <a:rPr sz="2800" spc="-95" dirty="0">
                <a:latin typeface="Arial"/>
                <a:cs typeface="Arial"/>
              </a:rPr>
              <a:t>(implies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“none”)</a:t>
            </a:r>
            <a:endParaRPr sz="2800">
              <a:latin typeface="Arial"/>
              <a:cs typeface="Arial"/>
            </a:endParaRPr>
          </a:p>
          <a:p>
            <a:pPr marL="184785" indent="-172085">
              <a:lnSpc>
                <a:spcPct val="100000"/>
              </a:lnSpc>
              <a:spcBef>
                <a:spcPts val="455"/>
              </a:spcBef>
              <a:buChar char="•"/>
              <a:tabLst>
                <a:tab pos="185420" algn="l"/>
              </a:tabLst>
            </a:pPr>
            <a:r>
              <a:rPr sz="2800" spc="-250" dirty="0">
                <a:latin typeface="Arial"/>
                <a:cs typeface="Arial"/>
              </a:rPr>
              <a:t>A </a:t>
            </a:r>
            <a:r>
              <a:rPr sz="2800" spc="-35" dirty="0">
                <a:latin typeface="Arial"/>
                <a:cs typeface="Arial"/>
              </a:rPr>
              <a:t>ratio </a:t>
            </a:r>
            <a:r>
              <a:rPr sz="2800" spc="-5" dirty="0">
                <a:latin typeface="Arial"/>
                <a:cs typeface="Arial"/>
              </a:rPr>
              <a:t>of </a:t>
            </a:r>
            <a:r>
              <a:rPr sz="2800" spc="10" dirty="0">
                <a:latin typeface="Arial"/>
                <a:cs typeface="Arial"/>
              </a:rPr>
              <a:t>two </a:t>
            </a:r>
            <a:r>
              <a:rPr sz="2800" spc="-110" dirty="0">
                <a:latin typeface="Arial"/>
                <a:cs typeface="Arial"/>
              </a:rPr>
              <a:t>data </a:t>
            </a:r>
            <a:r>
              <a:rPr sz="2800" spc="-155" dirty="0">
                <a:latin typeface="Arial"/>
                <a:cs typeface="Arial"/>
              </a:rPr>
              <a:t>values </a:t>
            </a:r>
            <a:r>
              <a:rPr sz="2800" spc="-185" dirty="0">
                <a:latin typeface="Arial"/>
                <a:cs typeface="Arial"/>
              </a:rPr>
              <a:t>can </a:t>
            </a:r>
            <a:r>
              <a:rPr sz="2800" spc="-130" dirty="0">
                <a:latin typeface="Arial"/>
                <a:cs typeface="Arial"/>
              </a:rPr>
              <a:t>be</a:t>
            </a:r>
            <a:r>
              <a:rPr sz="2800" spc="-405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formed</a:t>
            </a:r>
            <a:endParaRPr sz="2800">
              <a:latin typeface="Arial"/>
              <a:cs typeface="Arial"/>
            </a:endParaRPr>
          </a:p>
          <a:p>
            <a:pPr marL="184785" marR="5080" indent="-172085">
              <a:lnSpc>
                <a:spcPts val="3020"/>
              </a:lnSpc>
              <a:spcBef>
                <a:spcPts val="855"/>
              </a:spcBef>
              <a:buChar char="•"/>
              <a:tabLst>
                <a:tab pos="185420" algn="l"/>
              </a:tabLst>
            </a:pPr>
            <a:r>
              <a:rPr sz="2800" spc="-200" dirty="0">
                <a:latin typeface="Arial"/>
                <a:cs typeface="Arial"/>
              </a:rPr>
              <a:t>One </a:t>
            </a:r>
            <a:r>
              <a:rPr sz="2800" spc="-110" dirty="0">
                <a:latin typeface="Arial"/>
                <a:cs typeface="Arial"/>
              </a:rPr>
              <a:t>data </a:t>
            </a:r>
            <a:r>
              <a:rPr sz="2800" spc="-130" dirty="0">
                <a:latin typeface="Arial"/>
                <a:cs typeface="Arial"/>
              </a:rPr>
              <a:t>value </a:t>
            </a:r>
            <a:r>
              <a:rPr sz="2800" spc="-185" dirty="0">
                <a:latin typeface="Arial"/>
                <a:cs typeface="Arial"/>
              </a:rPr>
              <a:t>can </a:t>
            </a:r>
            <a:r>
              <a:rPr sz="2800" spc="-130" dirty="0">
                <a:latin typeface="Arial"/>
                <a:cs typeface="Arial"/>
              </a:rPr>
              <a:t>be </a:t>
            </a:r>
            <a:r>
              <a:rPr sz="2800" spc="-170" dirty="0">
                <a:latin typeface="Arial"/>
                <a:cs typeface="Arial"/>
              </a:rPr>
              <a:t>expressed </a:t>
            </a:r>
            <a:r>
              <a:rPr sz="2800" spc="-265" dirty="0">
                <a:latin typeface="Arial"/>
                <a:cs typeface="Arial"/>
              </a:rPr>
              <a:t>as </a:t>
            </a:r>
            <a:r>
              <a:rPr sz="2800" spc="-220" dirty="0">
                <a:latin typeface="Arial"/>
                <a:cs typeface="Arial"/>
              </a:rPr>
              <a:t>a </a:t>
            </a:r>
            <a:r>
              <a:rPr sz="2800" spc="-35" dirty="0">
                <a:latin typeface="Arial"/>
                <a:cs typeface="Arial"/>
              </a:rPr>
              <a:t>multiple </a:t>
            </a:r>
            <a:r>
              <a:rPr sz="2800" spc="-10" dirty="0">
                <a:latin typeface="Arial"/>
                <a:cs typeface="Arial"/>
              </a:rPr>
              <a:t>of  </a:t>
            </a:r>
            <a:r>
              <a:rPr sz="2800" spc="-65" dirty="0">
                <a:latin typeface="Arial"/>
                <a:cs typeface="Arial"/>
              </a:rPr>
              <a:t>another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1684" y="1217675"/>
            <a:ext cx="2697480" cy="34859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8365" y="638936"/>
            <a:ext cx="4824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40" dirty="0">
                <a:solidFill>
                  <a:srgbClr val="A4A4A4"/>
                </a:solidFill>
              </a:rPr>
              <a:t>Solution: Classifying </a:t>
            </a:r>
            <a:r>
              <a:rPr sz="2800" spc="-145" dirty="0">
                <a:solidFill>
                  <a:srgbClr val="A4A4A4"/>
                </a:solidFill>
              </a:rPr>
              <a:t>Data </a:t>
            </a:r>
            <a:r>
              <a:rPr sz="2800" spc="-140" dirty="0">
                <a:solidFill>
                  <a:srgbClr val="A4A4A4"/>
                </a:solidFill>
              </a:rPr>
              <a:t>by</a:t>
            </a:r>
            <a:r>
              <a:rPr sz="2800" spc="-445" dirty="0">
                <a:solidFill>
                  <a:srgbClr val="A4A4A4"/>
                </a:solidFill>
              </a:rPr>
              <a:t> </a:t>
            </a:r>
            <a:r>
              <a:rPr sz="2800" spc="-190" dirty="0">
                <a:solidFill>
                  <a:srgbClr val="A4A4A4"/>
                </a:solidFill>
              </a:rPr>
              <a:t>Level</a:t>
            </a:r>
            <a:endParaRPr sz="28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430"/>
              </a:lnSpc>
            </a:pPr>
            <a:r>
              <a:rPr dirty="0"/>
              <a:t>33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8942" y="3747642"/>
            <a:ext cx="7298055" cy="260286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3545204">
              <a:lnSpc>
                <a:spcPct val="90000"/>
              </a:lnSpc>
              <a:spcBef>
                <a:spcPts val="350"/>
              </a:spcBef>
            </a:pPr>
            <a:r>
              <a:rPr sz="2100" spc="-55" dirty="0">
                <a:latin typeface="Arial"/>
                <a:cs typeface="Arial"/>
              </a:rPr>
              <a:t>Interval </a:t>
            </a:r>
            <a:r>
              <a:rPr sz="2100" spc="-75" dirty="0">
                <a:latin typeface="Arial"/>
                <a:cs typeface="Arial"/>
              </a:rPr>
              <a:t>level </a:t>
            </a:r>
            <a:r>
              <a:rPr sz="2100" spc="-55" dirty="0">
                <a:latin typeface="Arial"/>
                <a:cs typeface="Arial"/>
              </a:rPr>
              <a:t>(Quantitative </a:t>
            </a:r>
            <a:r>
              <a:rPr sz="2100" spc="-75" dirty="0">
                <a:latin typeface="Arial"/>
                <a:cs typeface="Arial"/>
              </a:rPr>
              <a:t>data.  </a:t>
            </a:r>
            <a:r>
              <a:rPr sz="2100" spc="-215" dirty="0">
                <a:latin typeface="Arial"/>
                <a:cs typeface="Arial"/>
              </a:rPr>
              <a:t>Can </a:t>
            </a:r>
            <a:r>
              <a:rPr sz="2100" spc="-20" dirty="0">
                <a:latin typeface="Arial"/>
                <a:cs typeface="Arial"/>
              </a:rPr>
              <a:t>find </a:t>
            </a:r>
            <a:r>
              <a:rPr sz="2100" spc="-165" dirty="0">
                <a:latin typeface="Arial"/>
                <a:cs typeface="Arial"/>
              </a:rPr>
              <a:t>a </a:t>
            </a:r>
            <a:r>
              <a:rPr sz="2100" spc="-65" dirty="0">
                <a:latin typeface="Arial"/>
                <a:cs typeface="Arial"/>
              </a:rPr>
              <a:t>difference between </a:t>
            </a:r>
            <a:r>
              <a:rPr sz="2100" spc="5" dirty="0">
                <a:latin typeface="Arial"/>
                <a:cs typeface="Arial"/>
              </a:rPr>
              <a:t>two  </a:t>
            </a:r>
            <a:r>
              <a:rPr sz="2100" spc="-100" dirty="0">
                <a:latin typeface="Arial"/>
                <a:cs typeface="Arial"/>
              </a:rPr>
              <a:t>dates, </a:t>
            </a:r>
            <a:r>
              <a:rPr sz="2100" spc="-10" dirty="0">
                <a:latin typeface="Arial"/>
                <a:cs typeface="Arial"/>
              </a:rPr>
              <a:t>but </a:t>
            </a:r>
            <a:r>
              <a:rPr sz="2100" spc="-165" dirty="0">
                <a:latin typeface="Arial"/>
                <a:cs typeface="Arial"/>
              </a:rPr>
              <a:t>a </a:t>
            </a:r>
            <a:r>
              <a:rPr sz="2100" spc="-30" dirty="0">
                <a:latin typeface="Arial"/>
                <a:cs typeface="Arial"/>
              </a:rPr>
              <a:t>ratio </a:t>
            </a:r>
            <a:r>
              <a:rPr sz="2100" spc="-125" dirty="0">
                <a:latin typeface="Arial"/>
                <a:cs typeface="Arial"/>
              </a:rPr>
              <a:t>does </a:t>
            </a:r>
            <a:r>
              <a:rPr sz="2100" spc="-5" dirty="0">
                <a:latin typeface="Arial"/>
                <a:cs typeface="Arial"/>
              </a:rPr>
              <a:t>not </a:t>
            </a:r>
            <a:r>
              <a:rPr sz="2100" spc="-130" dirty="0">
                <a:latin typeface="Arial"/>
                <a:cs typeface="Arial"/>
              </a:rPr>
              <a:t>make  </a:t>
            </a:r>
            <a:r>
              <a:rPr sz="2100" spc="-135" dirty="0">
                <a:latin typeface="Arial"/>
                <a:cs typeface="Arial"/>
              </a:rPr>
              <a:t>sense.)</a:t>
            </a:r>
            <a:endParaRPr sz="2100">
              <a:latin typeface="Arial"/>
              <a:cs typeface="Arial"/>
            </a:endParaRPr>
          </a:p>
          <a:p>
            <a:pPr marL="4294505" marR="5080" algn="just">
              <a:lnSpc>
                <a:spcPct val="100000"/>
              </a:lnSpc>
              <a:spcBef>
                <a:spcPts val="890"/>
              </a:spcBef>
            </a:pPr>
            <a:r>
              <a:rPr sz="2800" spc="-5" dirty="0">
                <a:latin typeface="Times New Roman"/>
                <a:cs typeface="Times New Roman"/>
              </a:rPr>
              <a:t>Ratio level (Can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find  </a:t>
            </a:r>
            <a:r>
              <a:rPr sz="2800" spc="-10" dirty="0">
                <a:latin typeface="Times New Roman"/>
                <a:cs typeface="Times New Roman"/>
              </a:rPr>
              <a:t>differences and </a:t>
            </a:r>
            <a:r>
              <a:rPr sz="2800" spc="-5" dirty="0">
                <a:latin typeface="Times New Roman"/>
                <a:cs typeface="Times New Roman"/>
              </a:rPr>
              <a:t>write  </a:t>
            </a:r>
            <a:r>
              <a:rPr sz="2800" dirty="0">
                <a:latin typeface="Times New Roman"/>
                <a:cs typeface="Times New Roman"/>
              </a:rPr>
              <a:t>ratios.)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71016" y="1367134"/>
            <a:ext cx="2001012" cy="19932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15177" y="4695952"/>
            <a:ext cx="120650" cy="359410"/>
          </a:xfrm>
          <a:custGeom>
            <a:avLst/>
            <a:gdLst/>
            <a:ahLst/>
            <a:cxnLst/>
            <a:rect l="l" t="t" r="r" b="b"/>
            <a:pathLst>
              <a:path w="120650" h="359410">
                <a:moveTo>
                  <a:pt x="14732" y="239903"/>
                </a:moveTo>
                <a:lnTo>
                  <a:pt x="8509" y="243331"/>
                </a:lnTo>
                <a:lnTo>
                  <a:pt x="2159" y="246761"/>
                </a:lnTo>
                <a:lnTo>
                  <a:pt x="0" y="254635"/>
                </a:lnTo>
                <a:lnTo>
                  <a:pt x="3428" y="260985"/>
                </a:lnTo>
                <a:lnTo>
                  <a:pt x="57785" y="359029"/>
                </a:lnTo>
                <a:lnTo>
                  <a:pt x="73369" y="333629"/>
                </a:lnTo>
                <a:lnTo>
                  <a:pt x="71247" y="333629"/>
                </a:lnTo>
                <a:lnTo>
                  <a:pt x="45338" y="333121"/>
                </a:lnTo>
                <a:lnTo>
                  <a:pt x="46418" y="285148"/>
                </a:lnTo>
                <a:lnTo>
                  <a:pt x="26035" y="248412"/>
                </a:lnTo>
                <a:lnTo>
                  <a:pt x="22606" y="242189"/>
                </a:lnTo>
                <a:lnTo>
                  <a:pt x="14732" y="239903"/>
                </a:lnTo>
                <a:close/>
              </a:path>
              <a:path w="120650" h="359410">
                <a:moveTo>
                  <a:pt x="46418" y="285148"/>
                </a:moveTo>
                <a:lnTo>
                  <a:pt x="45338" y="333121"/>
                </a:lnTo>
                <a:lnTo>
                  <a:pt x="71247" y="333629"/>
                </a:lnTo>
                <a:lnTo>
                  <a:pt x="71390" y="327152"/>
                </a:lnTo>
                <a:lnTo>
                  <a:pt x="69723" y="327152"/>
                </a:lnTo>
                <a:lnTo>
                  <a:pt x="47371" y="326644"/>
                </a:lnTo>
                <a:lnTo>
                  <a:pt x="58951" y="307738"/>
                </a:lnTo>
                <a:lnTo>
                  <a:pt x="46418" y="285148"/>
                </a:lnTo>
                <a:close/>
              </a:path>
              <a:path w="120650" h="359410">
                <a:moveTo>
                  <a:pt x="106045" y="241935"/>
                </a:moveTo>
                <a:lnTo>
                  <a:pt x="98044" y="243840"/>
                </a:lnTo>
                <a:lnTo>
                  <a:pt x="94361" y="249936"/>
                </a:lnTo>
                <a:lnTo>
                  <a:pt x="72301" y="285946"/>
                </a:lnTo>
                <a:lnTo>
                  <a:pt x="71247" y="333629"/>
                </a:lnTo>
                <a:lnTo>
                  <a:pt x="73369" y="333629"/>
                </a:lnTo>
                <a:lnTo>
                  <a:pt x="116459" y="263398"/>
                </a:lnTo>
                <a:lnTo>
                  <a:pt x="120142" y="257302"/>
                </a:lnTo>
                <a:lnTo>
                  <a:pt x="118237" y="249428"/>
                </a:lnTo>
                <a:lnTo>
                  <a:pt x="112140" y="245618"/>
                </a:lnTo>
                <a:lnTo>
                  <a:pt x="106045" y="241935"/>
                </a:lnTo>
                <a:close/>
              </a:path>
              <a:path w="120650" h="359410">
                <a:moveTo>
                  <a:pt x="58951" y="307738"/>
                </a:moveTo>
                <a:lnTo>
                  <a:pt x="47371" y="326644"/>
                </a:lnTo>
                <a:lnTo>
                  <a:pt x="69723" y="327152"/>
                </a:lnTo>
                <a:lnTo>
                  <a:pt x="58951" y="307738"/>
                </a:lnTo>
                <a:close/>
              </a:path>
              <a:path w="120650" h="359410">
                <a:moveTo>
                  <a:pt x="72301" y="285946"/>
                </a:moveTo>
                <a:lnTo>
                  <a:pt x="58951" y="307738"/>
                </a:lnTo>
                <a:lnTo>
                  <a:pt x="69723" y="327152"/>
                </a:lnTo>
                <a:lnTo>
                  <a:pt x="71390" y="327152"/>
                </a:lnTo>
                <a:lnTo>
                  <a:pt x="72301" y="285946"/>
                </a:lnTo>
                <a:close/>
              </a:path>
              <a:path w="120650" h="359410">
                <a:moveTo>
                  <a:pt x="52832" y="0"/>
                </a:moveTo>
                <a:lnTo>
                  <a:pt x="46418" y="285148"/>
                </a:lnTo>
                <a:lnTo>
                  <a:pt x="58951" y="307738"/>
                </a:lnTo>
                <a:lnTo>
                  <a:pt x="72301" y="285946"/>
                </a:lnTo>
                <a:lnTo>
                  <a:pt x="78612" y="508"/>
                </a:lnTo>
                <a:lnTo>
                  <a:pt x="52832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98877" y="3360801"/>
            <a:ext cx="120650" cy="359410"/>
          </a:xfrm>
          <a:custGeom>
            <a:avLst/>
            <a:gdLst/>
            <a:ahLst/>
            <a:cxnLst/>
            <a:rect l="l" t="t" r="r" b="b"/>
            <a:pathLst>
              <a:path w="120650" h="359410">
                <a:moveTo>
                  <a:pt x="14859" y="239775"/>
                </a:moveTo>
                <a:lnTo>
                  <a:pt x="8636" y="243204"/>
                </a:lnTo>
                <a:lnTo>
                  <a:pt x="2286" y="246634"/>
                </a:lnTo>
                <a:lnTo>
                  <a:pt x="0" y="254507"/>
                </a:lnTo>
                <a:lnTo>
                  <a:pt x="3429" y="260857"/>
                </a:lnTo>
                <a:lnTo>
                  <a:pt x="57404" y="359156"/>
                </a:lnTo>
                <a:lnTo>
                  <a:pt x="73073" y="333882"/>
                </a:lnTo>
                <a:lnTo>
                  <a:pt x="70993" y="333882"/>
                </a:lnTo>
                <a:lnTo>
                  <a:pt x="45085" y="333121"/>
                </a:lnTo>
                <a:lnTo>
                  <a:pt x="46363" y="285201"/>
                </a:lnTo>
                <a:lnTo>
                  <a:pt x="26162" y="248412"/>
                </a:lnTo>
                <a:lnTo>
                  <a:pt x="22733" y="242062"/>
                </a:lnTo>
                <a:lnTo>
                  <a:pt x="14859" y="239775"/>
                </a:lnTo>
                <a:close/>
              </a:path>
              <a:path w="120650" h="359410">
                <a:moveTo>
                  <a:pt x="46363" y="285201"/>
                </a:moveTo>
                <a:lnTo>
                  <a:pt x="45085" y="333121"/>
                </a:lnTo>
                <a:lnTo>
                  <a:pt x="70993" y="333882"/>
                </a:lnTo>
                <a:lnTo>
                  <a:pt x="71169" y="327279"/>
                </a:lnTo>
                <a:lnTo>
                  <a:pt x="69469" y="327279"/>
                </a:lnTo>
                <a:lnTo>
                  <a:pt x="47117" y="326644"/>
                </a:lnTo>
                <a:lnTo>
                  <a:pt x="58782" y="307817"/>
                </a:lnTo>
                <a:lnTo>
                  <a:pt x="46363" y="285201"/>
                </a:lnTo>
                <a:close/>
              </a:path>
              <a:path w="120650" h="359410">
                <a:moveTo>
                  <a:pt x="106172" y="242188"/>
                </a:moveTo>
                <a:lnTo>
                  <a:pt x="98171" y="244094"/>
                </a:lnTo>
                <a:lnTo>
                  <a:pt x="94488" y="250190"/>
                </a:lnTo>
                <a:lnTo>
                  <a:pt x="72269" y="286049"/>
                </a:lnTo>
                <a:lnTo>
                  <a:pt x="70993" y="333882"/>
                </a:lnTo>
                <a:lnTo>
                  <a:pt x="73073" y="333882"/>
                </a:lnTo>
                <a:lnTo>
                  <a:pt x="116459" y="263906"/>
                </a:lnTo>
                <a:lnTo>
                  <a:pt x="120269" y="257810"/>
                </a:lnTo>
                <a:lnTo>
                  <a:pt x="118364" y="249809"/>
                </a:lnTo>
                <a:lnTo>
                  <a:pt x="106172" y="242188"/>
                </a:lnTo>
                <a:close/>
              </a:path>
              <a:path w="120650" h="359410">
                <a:moveTo>
                  <a:pt x="58782" y="307817"/>
                </a:moveTo>
                <a:lnTo>
                  <a:pt x="47117" y="326644"/>
                </a:lnTo>
                <a:lnTo>
                  <a:pt x="69469" y="327279"/>
                </a:lnTo>
                <a:lnTo>
                  <a:pt x="58782" y="307817"/>
                </a:lnTo>
                <a:close/>
              </a:path>
              <a:path w="120650" h="359410">
                <a:moveTo>
                  <a:pt x="72269" y="286049"/>
                </a:moveTo>
                <a:lnTo>
                  <a:pt x="58782" y="307817"/>
                </a:lnTo>
                <a:lnTo>
                  <a:pt x="69469" y="327279"/>
                </a:lnTo>
                <a:lnTo>
                  <a:pt x="71169" y="327279"/>
                </a:lnTo>
                <a:lnTo>
                  <a:pt x="72269" y="286049"/>
                </a:lnTo>
                <a:close/>
              </a:path>
              <a:path w="120650" h="359410">
                <a:moveTo>
                  <a:pt x="53975" y="0"/>
                </a:moveTo>
                <a:lnTo>
                  <a:pt x="46363" y="285201"/>
                </a:lnTo>
                <a:lnTo>
                  <a:pt x="58782" y="307817"/>
                </a:lnTo>
                <a:lnTo>
                  <a:pt x="72269" y="286049"/>
                </a:lnTo>
                <a:lnTo>
                  <a:pt x="79883" y="762"/>
                </a:lnTo>
                <a:lnTo>
                  <a:pt x="53975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7979258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Summary </a:t>
            </a:r>
            <a:r>
              <a:rPr spc="-145" dirty="0"/>
              <a:t>of Four </a:t>
            </a:r>
            <a:r>
              <a:rPr spc="-195" dirty="0"/>
              <a:t>Levels </a:t>
            </a:r>
            <a:r>
              <a:rPr spc="-145" dirty="0"/>
              <a:t>of</a:t>
            </a:r>
            <a:r>
              <a:rPr spc="-665" dirty="0"/>
              <a:t> </a:t>
            </a:r>
            <a:r>
              <a:rPr spc="-100" dirty="0"/>
              <a:t>Measurement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81000" y="1676400"/>
          <a:ext cx="8458200" cy="4632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9841"/>
                <a:gridCol w="1343604"/>
                <a:gridCol w="1532062"/>
                <a:gridCol w="1532062"/>
                <a:gridCol w="2330631"/>
              </a:tblGrid>
              <a:tr h="22538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97790" marR="130175">
                        <a:lnSpc>
                          <a:spcPct val="100000"/>
                        </a:lnSpc>
                      </a:pPr>
                      <a:r>
                        <a:rPr sz="2000" spc="-1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Level </a:t>
                      </a:r>
                      <a:r>
                        <a:rPr sz="2000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of  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Measu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em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  </a:t>
                      </a:r>
                      <a:r>
                        <a:rPr sz="2000" spc="11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06045" marR="85090" indent="-190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Put </a:t>
                      </a:r>
                      <a:r>
                        <a:rPr sz="2000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data  </a:t>
                      </a:r>
                      <a:r>
                        <a:rPr sz="2000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     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sz="2000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369570" marR="291465" indent="-56515" algn="just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Ar</a:t>
                      </a:r>
                      <a:r>
                        <a:rPr sz="2000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ange  </a:t>
                      </a:r>
                      <a:r>
                        <a:rPr sz="2000" spc="-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data </a:t>
                      </a:r>
                      <a:r>
                        <a:rPr sz="2000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  </a:t>
                      </a:r>
                      <a:r>
                        <a:rPr sz="2000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order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88925" marR="27051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sz="2000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2000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20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act  </a:t>
                      </a:r>
                      <a:r>
                        <a:rPr sz="2000" spc="-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data  </a:t>
                      </a:r>
                      <a:r>
                        <a:rPr sz="2000" spc="-1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values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223520" marR="20320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spc="-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Determine </a:t>
                      </a:r>
                      <a:r>
                        <a:rPr sz="2000" spc="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if</a:t>
                      </a:r>
                      <a:r>
                        <a:rPr sz="2000" spc="-2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one  </a:t>
                      </a:r>
                      <a:r>
                        <a:rPr sz="2000" spc="-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data </a:t>
                      </a:r>
                      <a:r>
                        <a:rPr sz="2000" spc="-9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value </a:t>
                      </a:r>
                      <a:r>
                        <a:rPr sz="2000" spc="-10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is </a:t>
                      </a:r>
                      <a:r>
                        <a:rPr sz="2000" spc="-1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  </a:t>
                      </a:r>
                      <a:r>
                        <a:rPr sz="20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multiple </a:t>
                      </a:r>
                      <a:r>
                        <a:rPr sz="2000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of  </a:t>
                      </a:r>
                      <a:r>
                        <a:rPr sz="2000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another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</a:tr>
              <a:tr h="62383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70" dirty="0">
                          <a:latin typeface="Arial"/>
                          <a:cs typeface="Arial"/>
                        </a:rPr>
                        <a:t>Nominal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8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20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20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372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20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741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20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3277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75" dirty="0">
                          <a:latin typeface="Arial"/>
                          <a:cs typeface="Arial"/>
                        </a:rPr>
                        <a:t>Ordinal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8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20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8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20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372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20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741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20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383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50" dirty="0">
                          <a:latin typeface="Arial"/>
                          <a:cs typeface="Arial"/>
                        </a:rPr>
                        <a:t>Interval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28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20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28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20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6575" algn="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1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es</a:t>
                      </a:r>
                      <a:endParaRPr sz="20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7419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10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20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7194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95" dirty="0">
                          <a:latin typeface="Arial"/>
                          <a:cs typeface="Arial"/>
                        </a:rPr>
                        <a:t>Ratio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28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20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0" marR="0" indent="0" algn="ctr" defTabSz="914400" eaLnBrk="1" fontAlgn="auto" latinLnBrk="0" hangingPunct="1">
                        <a:lnSpc>
                          <a:spcPts val="20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spc="-280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lang="en-US" sz="1600" dirty="0" smtClean="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  <a:p>
                      <a:pPr marL="336550">
                        <a:lnSpc>
                          <a:spcPts val="2005"/>
                        </a:lnSpc>
                      </a:pPr>
                      <a:endParaRPr sz="1200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6575" algn="r">
                        <a:lnSpc>
                          <a:spcPts val="2005"/>
                        </a:lnSpc>
                        <a:tabLst>
                          <a:tab pos="532765" algn="l"/>
                        </a:tabLst>
                      </a:pPr>
                      <a:r>
                        <a:rPr sz="120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3000" spc="-225" baseline="-18055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lang="en-US" sz="3000" spc="-225" baseline="-18055" dirty="0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3000" baseline="-18055" smtClean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3000" baseline="-18055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2180">
                        <a:lnSpc>
                          <a:spcPct val="100000"/>
                        </a:lnSpc>
                        <a:spcBef>
                          <a:spcPts val="244"/>
                        </a:spcBef>
                        <a:tabLst>
                          <a:tab pos="1879600" algn="l"/>
                        </a:tabLst>
                      </a:pPr>
                      <a:r>
                        <a:rPr sz="2000" spc="-28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	</a:t>
                      </a:r>
                      <a:r>
                        <a:rPr sz="1800" baseline="46296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34</a:t>
                      </a:r>
                      <a:endParaRPr sz="1800" baseline="46296">
                        <a:solidFill>
                          <a:srgbClr val="FF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65476" y="0"/>
            <a:ext cx="6478524" cy="6857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29025" y="5429248"/>
            <a:ext cx="4829175" cy="13906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4101" y="1000125"/>
            <a:ext cx="3296881" cy="357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664965" y="1278255"/>
            <a:ext cx="78867" cy="791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11854" y="1107186"/>
            <a:ext cx="83185" cy="127635"/>
          </a:xfrm>
          <a:custGeom>
            <a:avLst/>
            <a:gdLst/>
            <a:ahLst/>
            <a:cxnLst/>
            <a:rect l="l" t="t" r="r" b="b"/>
            <a:pathLst>
              <a:path w="83185" h="127634">
                <a:moveTo>
                  <a:pt x="41529" y="0"/>
                </a:moveTo>
                <a:lnTo>
                  <a:pt x="0" y="127635"/>
                </a:lnTo>
                <a:lnTo>
                  <a:pt x="83058" y="127635"/>
                </a:lnTo>
                <a:lnTo>
                  <a:pt x="41529" y="0"/>
                </a:lnTo>
                <a:close/>
              </a:path>
            </a:pathLst>
          </a:custGeom>
          <a:ln w="3175">
            <a:solidFill>
              <a:srgbClr val="5813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1314" y="1107186"/>
            <a:ext cx="83185" cy="127635"/>
          </a:xfrm>
          <a:custGeom>
            <a:avLst/>
            <a:gdLst/>
            <a:ahLst/>
            <a:cxnLst/>
            <a:rect l="l" t="t" r="r" b="b"/>
            <a:pathLst>
              <a:path w="83185" h="127634">
                <a:moveTo>
                  <a:pt x="41529" y="0"/>
                </a:moveTo>
                <a:lnTo>
                  <a:pt x="0" y="127635"/>
                </a:lnTo>
                <a:lnTo>
                  <a:pt x="83058" y="127635"/>
                </a:lnTo>
                <a:lnTo>
                  <a:pt x="41529" y="0"/>
                </a:lnTo>
                <a:close/>
              </a:path>
            </a:pathLst>
          </a:custGeom>
          <a:ln w="3175">
            <a:solidFill>
              <a:srgbClr val="5813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71219" y="1107186"/>
            <a:ext cx="83185" cy="127635"/>
          </a:xfrm>
          <a:custGeom>
            <a:avLst/>
            <a:gdLst/>
            <a:ahLst/>
            <a:cxnLst/>
            <a:rect l="l" t="t" r="r" b="b"/>
            <a:pathLst>
              <a:path w="83184" h="127634">
                <a:moveTo>
                  <a:pt x="41528" y="0"/>
                </a:moveTo>
                <a:lnTo>
                  <a:pt x="0" y="127635"/>
                </a:lnTo>
                <a:lnTo>
                  <a:pt x="83058" y="127635"/>
                </a:lnTo>
                <a:lnTo>
                  <a:pt x="41528" y="0"/>
                </a:lnTo>
                <a:close/>
              </a:path>
            </a:pathLst>
          </a:custGeom>
          <a:ln w="3175">
            <a:solidFill>
              <a:srgbClr val="5813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75432" y="1057402"/>
            <a:ext cx="132841" cy="2407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55747" y="1006221"/>
            <a:ext cx="286385" cy="346075"/>
          </a:xfrm>
          <a:custGeom>
            <a:avLst/>
            <a:gdLst/>
            <a:ahLst/>
            <a:cxnLst/>
            <a:rect l="l" t="t" r="r" b="b"/>
            <a:pathLst>
              <a:path w="286385" h="346075">
                <a:moveTo>
                  <a:pt x="0" y="0"/>
                </a:moveTo>
                <a:lnTo>
                  <a:pt x="286130" y="0"/>
                </a:lnTo>
                <a:lnTo>
                  <a:pt x="286130" y="54482"/>
                </a:lnTo>
                <a:lnTo>
                  <a:pt x="171322" y="54482"/>
                </a:lnTo>
                <a:lnTo>
                  <a:pt x="171322" y="345566"/>
                </a:lnTo>
                <a:lnTo>
                  <a:pt x="109981" y="345566"/>
                </a:lnTo>
                <a:lnTo>
                  <a:pt x="109981" y="54482"/>
                </a:lnTo>
                <a:lnTo>
                  <a:pt x="0" y="54482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5813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88820" y="1006221"/>
            <a:ext cx="61594" cy="346075"/>
          </a:xfrm>
          <a:custGeom>
            <a:avLst/>
            <a:gdLst/>
            <a:ahLst/>
            <a:cxnLst/>
            <a:rect l="l" t="t" r="r" b="b"/>
            <a:pathLst>
              <a:path w="61594" h="346075">
                <a:moveTo>
                  <a:pt x="0" y="0"/>
                </a:moveTo>
                <a:lnTo>
                  <a:pt x="61341" y="0"/>
                </a:lnTo>
                <a:lnTo>
                  <a:pt x="61341" y="345566"/>
                </a:lnTo>
                <a:lnTo>
                  <a:pt x="0" y="34556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5813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5650" y="1006221"/>
            <a:ext cx="286385" cy="346075"/>
          </a:xfrm>
          <a:custGeom>
            <a:avLst/>
            <a:gdLst/>
            <a:ahLst/>
            <a:cxnLst/>
            <a:rect l="l" t="t" r="r" b="b"/>
            <a:pathLst>
              <a:path w="286385" h="346075">
                <a:moveTo>
                  <a:pt x="0" y="0"/>
                </a:moveTo>
                <a:lnTo>
                  <a:pt x="286131" y="0"/>
                </a:lnTo>
                <a:lnTo>
                  <a:pt x="286131" y="54482"/>
                </a:lnTo>
                <a:lnTo>
                  <a:pt x="171323" y="54482"/>
                </a:lnTo>
                <a:lnTo>
                  <a:pt x="171323" y="345566"/>
                </a:lnTo>
                <a:lnTo>
                  <a:pt x="109981" y="345566"/>
                </a:lnTo>
                <a:lnTo>
                  <a:pt x="109981" y="54482"/>
                </a:lnTo>
                <a:lnTo>
                  <a:pt x="0" y="54482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5813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65022" y="1006221"/>
            <a:ext cx="259715" cy="346075"/>
          </a:xfrm>
          <a:custGeom>
            <a:avLst/>
            <a:gdLst/>
            <a:ahLst/>
            <a:cxnLst/>
            <a:rect l="l" t="t" r="r" b="b"/>
            <a:pathLst>
              <a:path w="259715" h="346075">
                <a:moveTo>
                  <a:pt x="0" y="0"/>
                </a:moveTo>
                <a:lnTo>
                  <a:pt x="61328" y="0"/>
                </a:lnTo>
                <a:lnTo>
                  <a:pt x="61328" y="135381"/>
                </a:lnTo>
                <a:lnTo>
                  <a:pt x="198856" y="135381"/>
                </a:lnTo>
                <a:lnTo>
                  <a:pt x="198856" y="0"/>
                </a:lnTo>
                <a:lnTo>
                  <a:pt x="259486" y="0"/>
                </a:lnTo>
                <a:lnTo>
                  <a:pt x="259486" y="345566"/>
                </a:lnTo>
                <a:lnTo>
                  <a:pt x="198856" y="345566"/>
                </a:lnTo>
                <a:lnTo>
                  <a:pt x="198856" y="189864"/>
                </a:lnTo>
                <a:lnTo>
                  <a:pt x="61328" y="189864"/>
                </a:lnTo>
                <a:lnTo>
                  <a:pt x="61328" y="345566"/>
                </a:lnTo>
                <a:lnTo>
                  <a:pt x="0" y="34556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5813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4101" y="1006221"/>
            <a:ext cx="424815" cy="350520"/>
          </a:xfrm>
          <a:custGeom>
            <a:avLst/>
            <a:gdLst/>
            <a:ahLst/>
            <a:cxnLst/>
            <a:rect l="l" t="t" r="r" b="b"/>
            <a:pathLst>
              <a:path w="424815" h="350519">
                <a:moveTo>
                  <a:pt x="0" y="0"/>
                </a:moveTo>
                <a:lnTo>
                  <a:pt x="63919" y="0"/>
                </a:lnTo>
                <a:lnTo>
                  <a:pt x="128790" y="208533"/>
                </a:lnTo>
                <a:lnTo>
                  <a:pt x="198856" y="0"/>
                </a:lnTo>
                <a:lnTo>
                  <a:pt x="225742" y="0"/>
                </a:lnTo>
                <a:lnTo>
                  <a:pt x="296049" y="208533"/>
                </a:lnTo>
                <a:lnTo>
                  <a:pt x="360680" y="0"/>
                </a:lnTo>
                <a:lnTo>
                  <a:pt x="424599" y="0"/>
                </a:lnTo>
                <a:lnTo>
                  <a:pt x="312788" y="350265"/>
                </a:lnTo>
                <a:lnTo>
                  <a:pt x="287553" y="350265"/>
                </a:lnTo>
                <a:lnTo>
                  <a:pt x="212064" y="132333"/>
                </a:lnTo>
                <a:lnTo>
                  <a:pt x="138709" y="350265"/>
                </a:lnTo>
                <a:lnTo>
                  <a:pt x="113461" y="350265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5813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14980" y="1003808"/>
            <a:ext cx="256540" cy="347980"/>
          </a:xfrm>
          <a:custGeom>
            <a:avLst/>
            <a:gdLst/>
            <a:ahLst/>
            <a:cxnLst/>
            <a:rect l="l" t="t" r="r" b="b"/>
            <a:pathLst>
              <a:path w="256539" h="347980">
                <a:moveTo>
                  <a:pt x="92201" y="0"/>
                </a:moveTo>
                <a:lnTo>
                  <a:pt x="159845" y="11064"/>
                </a:lnTo>
                <a:lnTo>
                  <a:pt x="211962" y="44322"/>
                </a:lnTo>
                <a:lnTo>
                  <a:pt x="245110" y="95758"/>
                </a:lnTo>
                <a:lnTo>
                  <a:pt x="256158" y="161670"/>
                </a:lnTo>
                <a:lnTo>
                  <a:pt x="251173" y="218598"/>
                </a:lnTo>
                <a:lnTo>
                  <a:pt x="236215" y="265175"/>
                </a:lnTo>
                <a:lnTo>
                  <a:pt x="211280" y="301402"/>
                </a:lnTo>
                <a:lnTo>
                  <a:pt x="176365" y="327279"/>
                </a:lnTo>
                <a:lnTo>
                  <a:pt x="131466" y="342804"/>
                </a:lnTo>
                <a:lnTo>
                  <a:pt x="76581" y="347979"/>
                </a:lnTo>
                <a:lnTo>
                  <a:pt x="0" y="347979"/>
                </a:lnTo>
                <a:lnTo>
                  <a:pt x="0" y="2666"/>
                </a:lnTo>
                <a:lnTo>
                  <a:pt x="33266" y="1500"/>
                </a:lnTo>
                <a:lnTo>
                  <a:pt x="59721" y="666"/>
                </a:lnTo>
                <a:lnTo>
                  <a:pt x="79367" y="166"/>
                </a:lnTo>
                <a:lnTo>
                  <a:pt x="92201" y="0"/>
                </a:lnTo>
                <a:close/>
              </a:path>
            </a:pathLst>
          </a:custGeom>
          <a:ln w="3175">
            <a:solidFill>
              <a:srgbClr val="5813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02127" y="1001522"/>
            <a:ext cx="304165" cy="350520"/>
          </a:xfrm>
          <a:custGeom>
            <a:avLst/>
            <a:gdLst/>
            <a:ahLst/>
            <a:cxnLst/>
            <a:rect l="l" t="t" r="r" b="b"/>
            <a:pathLst>
              <a:path w="304164" h="350519">
                <a:moveTo>
                  <a:pt x="137795" y="0"/>
                </a:moveTo>
                <a:lnTo>
                  <a:pt x="164719" y="0"/>
                </a:lnTo>
                <a:lnTo>
                  <a:pt x="303657" y="350265"/>
                </a:lnTo>
                <a:lnTo>
                  <a:pt x="235965" y="350265"/>
                </a:lnTo>
                <a:lnTo>
                  <a:pt x="210693" y="280162"/>
                </a:lnTo>
                <a:lnTo>
                  <a:pt x="92328" y="280162"/>
                </a:lnTo>
                <a:lnTo>
                  <a:pt x="68199" y="350265"/>
                </a:lnTo>
                <a:lnTo>
                  <a:pt x="0" y="350265"/>
                </a:lnTo>
                <a:lnTo>
                  <a:pt x="137795" y="0"/>
                </a:lnTo>
                <a:close/>
              </a:path>
            </a:pathLst>
          </a:custGeom>
          <a:ln w="3175">
            <a:solidFill>
              <a:srgbClr val="5813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791586" y="1001522"/>
            <a:ext cx="304165" cy="350520"/>
          </a:xfrm>
          <a:custGeom>
            <a:avLst/>
            <a:gdLst/>
            <a:ahLst/>
            <a:cxnLst/>
            <a:rect l="l" t="t" r="r" b="b"/>
            <a:pathLst>
              <a:path w="304164" h="350519">
                <a:moveTo>
                  <a:pt x="137794" y="0"/>
                </a:moveTo>
                <a:lnTo>
                  <a:pt x="164719" y="0"/>
                </a:lnTo>
                <a:lnTo>
                  <a:pt x="303656" y="350265"/>
                </a:lnTo>
                <a:lnTo>
                  <a:pt x="235965" y="350265"/>
                </a:lnTo>
                <a:lnTo>
                  <a:pt x="210693" y="280162"/>
                </a:lnTo>
                <a:lnTo>
                  <a:pt x="92329" y="280162"/>
                </a:lnTo>
                <a:lnTo>
                  <a:pt x="68199" y="350265"/>
                </a:lnTo>
                <a:lnTo>
                  <a:pt x="0" y="350265"/>
                </a:lnTo>
                <a:lnTo>
                  <a:pt x="137794" y="0"/>
                </a:lnTo>
                <a:close/>
              </a:path>
            </a:pathLst>
          </a:custGeom>
          <a:ln w="3175">
            <a:solidFill>
              <a:srgbClr val="5813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261529" y="1001522"/>
            <a:ext cx="304165" cy="350520"/>
          </a:xfrm>
          <a:custGeom>
            <a:avLst/>
            <a:gdLst/>
            <a:ahLst/>
            <a:cxnLst/>
            <a:rect l="l" t="t" r="r" b="b"/>
            <a:pathLst>
              <a:path w="304165" h="350519">
                <a:moveTo>
                  <a:pt x="137756" y="0"/>
                </a:moveTo>
                <a:lnTo>
                  <a:pt x="164680" y="0"/>
                </a:lnTo>
                <a:lnTo>
                  <a:pt x="303618" y="350265"/>
                </a:lnTo>
                <a:lnTo>
                  <a:pt x="235927" y="350265"/>
                </a:lnTo>
                <a:lnTo>
                  <a:pt x="210654" y="280162"/>
                </a:lnTo>
                <a:lnTo>
                  <a:pt x="92290" y="280162"/>
                </a:lnTo>
                <a:lnTo>
                  <a:pt x="68160" y="350265"/>
                </a:lnTo>
                <a:lnTo>
                  <a:pt x="0" y="350265"/>
                </a:lnTo>
                <a:lnTo>
                  <a:pt x="137756" y="0"/>
                </a:lnTo>
                <a:close/>
              </a:path>
            </a:pathLst>
          </a:custGeom>
          <a:ln w="3175">
            <a:solidFill>
              <a:srgbClr val="5813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105279" y="1000252"/>
            <a:ext cx="209550" cy="357505"/>
          </a:xfrm>
          <a:custGeom>
            <a:avLst/>
            <a:gdLst/>
            <a:ahLst/>
            <a:cxnLst/>
            <a:rect l="l" t="t" r="r" b="b"/>
            <a:pathLst>
              <a:path w="209550" h="357505">
                <a:moveTo>
                  <a:pt x="105409" y="0"/>
                </a:moveTo>
                <a:lnTo>
                  <a:pt x="133342" y="1404"/>
                </a:lnTo>
                <a:lnTo>
                  <a:pt x="157321" y="5619"/>
                </a:lnTo>
                <a:lnTo>
                  <a:pt x="177347" y="12644"/>
                </a:lnTo>
                <a:lnTo>
                  <a:pt x="193420" y="22478"/>
                </a:lnTo>
                <a:lnTo>
                  <a:pt x="174751" y="75311"/>
                </a:lnTo>
                <a:lnTo>
                  <a:pt x="158345" y="65216"/>
                </a:lnTo>
                <a:lnTo>
                  <a:pt x="141509" y="57991"/>
                </a:lnTo>
                <a:lnTo>
                  <a:pt x="124245" y="53647"/>
                </a:lnTo>
                <a:lnTo>
                  <a:pt x="106552" y="52197"/>
                </a:lnTo>
                <a:lnTo>
                  <a:pt x="96555" y="52889"/>
                </a:lnTo>
                <a:lnTo>
                  <a:pt x="64912" y="76263"/>
                </a:lnTo>
                <a:lnTo>
                  <a:pt x="61975" y="92583"/>
                </a:lnTo>
                <a:lnTo>
                  <a:pt x="66093" y="107584"/>
                </a:lnTo>
                <a:lnTo>
                  <a:pt x="78438" y="122872"/>
                </a:lnTo>
                <a:lnTo>
                  <a:pt x="98998" y="138445"/>
                </a:lnTo>
                <a:lnTo>
                  <a:pt x="127762" y="154305"/>
                </a:lnTo>
                <a:lnTo>
                  <a:pt x="143902" y="162615"/>
                </a:lnTo>
                <a:lnTo>
                  <a:pt x="157638" y="170592"/>
                </a:lnTo>
                <a:lnTo>
                  <a:pt x="191341" y="201041"/>
                </a:lnTo>
                <a:lnTo>
                  <a:pt x="207168" y="238934"/>
                </a:lnTo>
                <a:lnTo>
                  <a:pt x="209169" y="261238"/>
                </a:lnTo>
                <a:lnTo>
                  <a:pt x="207097" y="281267"/>
                </a:lnTo>
                <a:lnTo>
                  <a:pt x="190523" y="315799"/>
                </a:lnTo>
                <a:lnTo>
                  <a:pt x="158043" y="342161"/>
                </a:lnTo>
                <a:lnTo>
                  <a:pt x="113657" y="355687"/>
                </a:lnTo>
                <a:lnTo>
                  <a:pt x="87248" y="357377"/>
                </a:lnTo>
                <a:lnTo>
                  <a:pt x="63650" y="355828"/>
                </a:lnTo>
                <a:lnTo>
                  <a:pt x="41243" y="351170"/>
                </a:lnTo>
                <a:lnTo>
                  <a:pt x="20026" y="343394"/>
                </a:lnTo>
                <a:lnTo>
                  <a:pt x="0" y="332486"/>
                </a:lnTo>
                <a:lnTo>
                  <a:pt x="22606" y="277495"/>
                </a:lnTo>
                <a:lnTo>
                  <a:pt x="40707" y="288643"/>
                </a:lnTo>
                <a:lnTo>
                  <a:pt x="58642" y="296576"/>
                </a:lnTo>
                <a:lnTo>
                  <a:pt x="76434" y="301319"/>
                </a:lnTo>
                <a:lnTo>
                  <a:pt x="94106" y="302895"/>
                </a:lnTo>
                <a:lnTo>
                  <a:pt x="117703" y="300537"/>
                </a:lnTo>
                <a:lnTo>
                  <a:pt x="134572" y="293465"/>
                </a:lnTo>
                <a:lnTo>
                  <a:pt x="144702" y="281678"/>
                </a:lnTo>
                <a:lnTo>
                  <a:pt x="148081" y="265175"/>
                </a:lnTo>
                <a:lnTo>
                  <a:pt x="147294" y="256434"/>
                </a:lnTo>
                <a:lnTo>
                  <a:pt x="127309" y="223206"/>
                </a:lnTo>
                <a:lnTo>
                  <a:pt x="82803" y="195452"/>
                </a:lnTo>
                <a:lnTo>
                  <a:pt x="64591" y="185975"/>
                </a:lnTo>
                <a:lnTo>
                  <a:pt x="49593" y="177355"/>
                </a:lnTo>
                <a:lnTo>
                  <a:pt x="17113" y="148637"/>
                </a:lnTo>
                <a:lnTo>
                  <a:pt x="1109" y="103489"/>
                </a:lnTo>
                <a:lnTo>
                  <a:pt x="634" y="92963"/>
                </a:lnTo>
                <a:lnTo>
                  <a:pt x="2468" y="73796"/>
                </a:lnTo>
                <a:lnTo>
                  <a:pt x="29971" y="26415"/>
                </a:lnTo>
                <a:lnTo>
                  <a:pt x="63547" y="6635"/>
                </a:lnTo>
                <a:lnTo>
                  <a:pt x="83425" y="1662"/>
                </a:lnTo>
                <a:lnTo>
                  <a:pt x="105409" y="0"/>
                </a:lnTo>
                <a:close/>
              </a:path>
            </a:pathLst>
          </a:custGeom>
          <a:ln w="3175">
            <a:solidFill>
              <a:srgbClr val="5813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630676" y="999236"/>
            <a:ext cx="171196" cy="2486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35940" y="1632026"/>
            <a:ext cx="7075805" cy="2084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B03E9A"/>
              </a:buClr>
              <a:buSzPct val="73076"/>
              <a:buFont typeface="Wingdings 2"/>
              <a:buChar char=""/>
              <a:tabLst>
                <a:tab pos="287020" algn="l"/>
              </a:tabLst>
            </a:pPr>
            <a:r>
              <a:rPr sz="2600" spc="-5" dirty="0">
                <a:latin typeface="Trebuchet MS"/>
                <a:cs typeface="Trebuchet MS"/>
              </a:rPr>
              <a:t>Data is </a:t>
            </a:r>
            <a:r>
              <a:rPr sz="2600" dirty="0">
                <a:latin typeface="Trebuchet MS"/>
                <a:cs typeface="Trebuchet MS"/>
              </a:rPr>
              <a:t>a </a:t>
            </a:r>
            <a:r>
              <a:rPr sz="2600" spc="-5" dirty="0">
                <a:latin typeface="Trebuchet MS"/>
                <a:cs typeface="Trebuchet MS"/>
              </a:rPr>
              <a:t>collection of facts, </a:t>
            </a:r>
            <a:r>
              <a:rPr sz="2600" dirty="0">
                <a:latin typeface="Trebuchet MS"/>
                <a:cs typeface="Trebuchet MS"/>
              </a:rPr>
              <a:t>such as </a:t>
            </a:r>
            <a:r>
              <a:rPr sz="2600" spc="-5" dirty="0">
                <a:latin typeface="Trebuchet MS"/>
                <a:cs typeface="Trebuchet MS"/>
              </a:rPr>
              <a:t>values </a:t>
            </a:r>
            <a:r>
              <a:rPr sz="2600" dirty="0">
                <a:latin typeface="Trebuchet MS"/>
                <a:cs typeface="Trebuchet MS"/>
              </a:rPr>
              <a:t>or  </a:t>
            </a:r>
            <a:r>
              <a:rPr sz="2600" spc="-5" dirty="0">
                <a:latin typeface="Trebuchet MS"/>
                <a:cs typeface="Trebuchet MS"/>
              </a:rPr>
              <a:t>measurements.</a:t>
            </a:r>
            <a:endParaRPr sz="2600">
              <a:latin typeface="Trebuchet MS"/>
              <a:cs typeface="Trebuchet MS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B03E9A"/>
              </a:buClr>
              <a:buSzPct val="73076"/>
              <a:buFont typeface="Wingdings 2"/>
              <a:buChar char=""/>
              <a:tabLst>
                <a:tab pos="287020" algn="l"/>
              </a:tabLst>
            </a:pPr>
            <a:r>
              <a:rPr sz="2600" spc="-5" dirty="0">
                <a:latin typeface="Trebuchet MS"/>
                <a:cs typeface="Trebuchet MS"/>
              </a:rPr>
              <a:t>It </a:t>
            </a:r>
            <a:r>
              <a:rPr sz="2600" spc="-5">
                <a:latin typeface="Trebuchet MS"/>
                <a:cs typeface="Trebuchet MS"/>
              </a:rPr>
              <a:t>can</a:t>
            </a:r>
            <a:r>
              <a:rPr sz="2600" spc="-15">
                <a:latin typeface="Trebuchet MS"/>
                <a:cs typeface="Trebuchet MS"/>
              </a:rPr>
              <a:t> </a:t>
            </a:r>
            <a:r>
              <a:rPr sz="2600" spc="-5" smtClean="0">
                <a:latin typeface="Trebuchet MS"/>
                <a:cs typeface="Trebuchet MS"/>
              </a:rPr>
              <a:t>be</a:t>
            </a:r>
            <a:r>
              <a:rPr lang="en-US" sz="2600" spc="-5" smtClean="0">
                <a:latin typeface="Trebuchet MS"/>
                <a:cs typeface="Trebuchet MS"/>
              </a:rPr>
              <a:t> </a:t>
            </a:r>
            <a:r>
              <a:rPr sz="2600" spc="-5" smtClean="0">
                <a:latin typeface="Trebuchet MS"/>
                <a:cs typeface="Trebuchet MS"/>
              </a:rPr>
              <a:t>numbers</a:t>
            </a:r>
            <a:r>
              <a:rPr sz="2600" spc="-5" dirty="0">
                <a:latin typeface="Trebuchet MS"/>
                <a:cs typeface="Trebuchet MS"/>
              </a:rPr>
              <a:t>, words, measurements</a:t>
            </a:r>
            <a:r>
              <a:rPr sz="2600" spc="-5">
                <a:latin typeface="Trebuchet MS"/>
                <a:cs typeface="Trebuchet MS"/>
              </a:rPr>
              <a:t>, </a:t>
            </a:r>
            <a:r>
              <a:rPr sz="2600" smtClean="0">
                <a:latin typeface="Trebuchet MS"/>
                <a:cs typeface="Trebuchet MS"/>
              </a:rPr>
              <a:t>observations </a:t>
            </a:r>
            <a:r>
              <a:rPr sz="2600" dirty="0">
                <a:latin typeface="Trebuchet MS"/>
                <a:cs typeface="Trebuchet MS"/>
              </a:rPr>
              <a:t>or </a:t>
            </a:r>
            <a:r>
              <a:rPr sz="2600" spc="-5" dirty="0">
                <a:latin typeface="Trebuchet MS"/>
                <a:cs typeface="Trebuchet MS"/>
              </a:rPr>
              <a:t>even </a:t>
            </a:r>
            <a:r>
              <a:rPr sz="2600" dirty="0">
                <a:latin typeface="Trebuchet MS"/>
                <a:cs typeface="Trebuchet MS"/>
              </a:rPr>
              <a:t>just </a:t>
            </a:r>
            <a:r>
              <a:rPr sz="2600" spc="-5" dirty="0">
                <a:latin typeface="Trebuchet MS"/>
                <a:cs typeface="Trebuchet MS"/>
              </a:rPr>
              <a:t>descriptions </a:t>
            </a:r>
            <a:r>
              <a:rPr sz="2600" dirty="0">
                <a:latin typeface="Trebuchet MS"/>
                <a:cs typeface="Trebuchet MS"/>
              </a:rPr>
              <a:t>of</a:t>
            </a:r>
            <a:r>
              <a:rPr sz="2600" spc="-65" dirty="0">
                <a:latin typeface="Trebuchet MS"/>
                <a:cs typeface="Trebuchet MS"/>
              </a:rPr>
              <a:t> </a:t>
            </a:r>
            <a:r>
              <a:rPr sz="2600" spc="-5" dirty="0">
                <a:latin typeface="Trebuchet MS"/>
                <a:cs typeface="Trebuchet MS"/>
              </a:rPr>
              <a:t>things.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4/26/2012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pPr marL="25400">
                <a:lnSpc>
                  <a:spcPct val="100000"/>
                </a:lnSpc>
                <a:spcBef>
                  <a:spcPts val="35"/>
                </a:spcBef>
              </a:pPr>
              <a:t>18</a:t>
            </a:fld>
            <a:endParaRPr dirty="0"/>
          </a:p>
        </p:txBody>
      </p:sp>
      <p:sp>
        <p:nvSpPr>
          <p:cNvPr id="21" name="object 21"/>
          <p:cNvSpPr txBox="1"/>
          <p:nvPr/>
        </p:nvSpPr>
        <p:spPr>
          <a:xfrm>
            <a:off x="1839214" y="6627468"/>
            <a:ext cx="2196465" cy="17272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000" spc="-5" dirty="0">
                <a:solidFill>
                  <a:srgbClr val="B03E9A"/>
                </a:solidFill>
                <a:latin typeface="Trebuchet MS"/>
                <a:cs typeface="Trebuchet MS"/>
                <a:hlinkClick r:id="rId6"/>
              </a:rPr>
              <a:t>adeel_tc@hotmail.com</a:t>
            </a:r>
            <a:r>
              <a:rPr sz="1000" spc="270" dirty="0">
                <a:solidFill>
                  <a:srgbClr val="B03E9A"/>
                </a:solidFill>
                <a:latin typeface="Trebuchet MS"/>
                <a:cs typeface="Trebuchet MS"/>
              </a:rPr>
              <a:t> </a:t>
            </a:r>
            <a:r>
              <a:rPr sz="1000" dirty="0">
                <a:solidFill>
                  <a:srgbClr val="B03E9A"/>
                </a:solidFill>
                <a:latin typeface="Trebuchet MS"/>
                <a:cs typeface="Trebuchet MS"/>
              </a:rPr>
              <a:t>0315-4632432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533400" y="2209801"/>
            <a:ext cx="7728915" cy="609600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</a:rPr>
              <a:t>Primary &amp; Secondary Data</a:t>
            </a:r>
            <a:br>
              <a:rPr lang="en-US" altLang="en-US" dirty="0" smtClean="0">
                <a:solidFill>
                  <a:schemeClr val="accent1">
                    <a:lumMod val="75000"/>
                  </a:schemeClr>
                </a:solidFill>
              </a:rPr>
            </a:br>
            <a:endParaRPr lang="en-US" altLang="en-US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609600" y="3352800"/>
            <a:ext cx="7919719" cy="1969770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sz="3200" dirty="0" smtClean="0"/>
              <a:t>Original Form of data/ no Statistical methods to be used is called primary data</a:t>
            </a:r>
          </a:p>
          <a:p>
            <a:r>
              <a:rPr lang="en-US" altLang="en-US" sz="3200" dirty="0" smtClean="0"/>
              <a:t>Not in original form/ some statistical methods to be used is called secondary data</a:t>
            </a: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501B169C-8964-4DB1-99EC-310B3B5D1697}" type="slidenum">
              <a:rPr lang="en-US" altLang="en-US" smtClean="0"/>
              <a:pPr/>
              <a:t>19</a:t>
            </a:fld>
            <a:endParaRPr lang="en-US" altLang="en-US" smtClean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81000" y="1066800"/>
            <a:ext cx="7728915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Trebuchet MS"/>
                <a:ea typeface="+mj-ea"/>
                <a:cs typeface="Trebuchet MS"/>
              </a:rPr>
              <a:t>Types of Data</a:t>
            </a:r>
            <a:br>
              <a:rPr kumimoji="0" lang="en-US" altLang="en-US" sz="33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Trebuchet MS"/>
                <a:ea typeface="+mj-ea"/>
                <a:cs typeface="Trebuchet MS"/>
              </a:rPr>
            </a:br>
            <a:endParaRPr kumimoji="0" lang="en-US" altLang="en-US" sz="3300" b="0" i="0" u="none" strike="noStrike" kern="0" cap="none" spc="0" normalizeH="0" baseline="0" noProof="0" dirty="0" smtClean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Trebuchet MS"/>
              <a:ea typeface="+mj-ea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707542" y="711453"/>
            <a:ext cx="7728915" cy="507831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 smtClean="0">
                <a:solidFill>
                  <a:schemeClr val="accent6">
                    <a:lumMod val="75000"/>
                  </a:schemeClr>
                </a:solidFill>
              </a:rPr>
              <a:t>Method of collection of primary data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612140" y="2034819"/>
            <a:ext cx="7919719" cy="2954655"/>
          </a:xfrm>
        </p:spPr>
        <p:txBody>
          <a:bodyPr>
            <a:normAutofit fontScale="92500"/>
          </a:bodyPr>
          <a:lstStyle/>
          <a:p>
            <a:pPr marL="514350" indent="-514350">
              <a:buFontTx/>
              <a:buAutoNum type="arabicParenR"/>
            </a:pPr>
            <a:r>
              <a:rPr lang="en-US" altLang="en-US" sz="3200" dirty="0" smtClean="0"/>
              <a:t>Direct Personal Investigation</a:t>
            </a:r>
          </a:p>
          <a:p>
            <a:pPr marL="514350" indent="-514350">
              <a:buFontTx/>
              <a:buAutoNum type="arabicParenR"/>
            </a:pPr>
            <a:r>
              <a:rPr lang="en-US" altLang="en-US" sz="3200" dirty="0" smtClean="0"/>
              <a:t>Indirect Personal Investigation</a:t>
            </a:r>
          </a:p>
          <a:p>
            <a:pPr marL="514350" indent="-514350">
              <a:buFontTx/>
              <a:buAutoNum type="arabicParenR"/>
            </a:pPr>
            <a:r>
              <a:rPr lang="en-US" altLang="en-US" sz="3200" dirty="0" smtClean="0"/>
              <a:t>Investigation through Questionnaire</a:t>
            </a:r>
          </a:p>
          <a:p>
            <a:pPr marL="514350" indent="-514350">
              <a:buFontTx/>
              <a:buAutoNum type="arabicParenR"/>
            </a:pPr>
            <a:r>
              <a:rPr lang="en-US" altLang="en-US" sz="3200" dirty="0" smtClean="0"/>
              <a:t>Investigation through enumerators</a:t>
            </a:r>
          </a:p>
          <a:p>
            <a:pPr marL="514350" indent="-514350">
              <a:buFontTx/>
              <a:buAutoNum type="arabicParenR"/>
            </a:pPr>
            <a:r>
              <a:rPr lang="en-US" altLang="en-US" sz="3200" dirty="0" smtClean="0"/>
              <a:t>Investigation through local source.</a:t>
            </a:r>
          </a:p>
          <a:p>
            <a:pPr marL="514350" indent="-514350">
              <a:buFontTx/>
              <a:buAutoNum type="arabicParenR"/>
            </a:pPr>
            <a:endParaRPr lang="en-US" altLang="en-US" sz="3200" dirty="0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E6ADA616-0BD8-42B8-90B5-8CD0D643A537}" type="slidenum">
              <a:rPr lang="en-US" altLang="en-US" smtClean="0"/>
              <a:pPr/>
              <a:t>20</a:t>
            </a:fld>
            <a:endParaRPr lang="en-US" altLang="en-US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707542" y="711453"/>
            <a:ext cx="7728915" cy="507831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solidFill>
                  <a:schemeClr val="accent6">
                    <a:lumMod val="75000"/>
                  </a:schemeClr>
                </a:solidFill>
              </a:rPr>
              <a:t>Method of collection of Secondary data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612140" y="2034819"/>
            <a:ext cx="7919719" cy="2462213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3200" dirty="0" smtClean="0"/>
              <a:t>Government Organization</a:t>
            </a:r>
          </a:p>
          <a:p>
            <a:r>
              <a:rPr lang="en-US" altLang="en-US" sz="3200" dirty="0" smtClean="0"/>
              <a:t>Semi- Government organization</a:t>
            </a:r>
          </a:p>
          <a:p>
            <a:r>
              <a:rPr lang="en-US" altLang="en-US" sz="3200" dirty="0" smtClean="0"/>
              <a:t>NGO</a:t>
            </a:r>
          </a:p>
          <a:p>
            <a:r>
              <a:rPr lang="en-US" altLang="en-US" sz="3200" dirty="0" smtClean="0"/>
              <a:t>Chamber of Commence</a:t>
            </a:r>
          </a:p>
          <a:p>
            <a:r>
              <a:rPr lang="en-US" altLang="en-US" sz="3200" dirty="0" smtClean="0"/>
              <a:t>Research institute(Universities)</a:t>
            </a: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F87BFD40-BFBC-42D1-9CA5-A1A76E1EEBB8}" type="slidenum">
              <a:rPr lang="en-US" altLang="en-US" smtClean="0"/>
              <a:pPr/>
              <a:t>21</a:t>
            </a:fld>
            <a:endParaRPr lang="en-US" altLang="en-US" smtClean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230</TotalTime>
  <Words>737</Words>
  <Application>Microsoft Office PowerPoint</Application>
  <PresentationFormat>On-screen Show (4:3)</PresentationFormat>
  <Paragraphs>135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Aspect</vt:lpstr>
      <vt:lpstr>   INTRODUCTION TO STATISTICS</vt:lpstr>
      <vt:lpstr>What is Statistics?</vt:lpstr>
      <vt:lpstr>Data Sets</vt:lpstr>
      <vt:lpstr>Parameter and Statistic</vt:lpstr>
      <vt:lpstr>Branches of Statistics</vt:lpstr>
      <vt:lpstr>Variables</vt:lpstr>
      <vt:lpstr>Types of Variables</vt:lpstr>
      <vt:lpstr>Types of Variavles</vt:lpstr>
      <vt:lpstr>Levels (Scales) of Measurement</vt:lpstr>
      <vt:lpstr>Slide 10</vt:lpstr>
      <vt:lpstr>Solution: Classifying Data by Level</vt:lpstr>
      <vt:lpstr>Levels of Measurement</vt:lpstr>
      <vt:lpstr>Slide 13</vt:lpstr>
      <vt:lpstr>Levels of Measurement</vt:lpstr>
      <vt:lpstr>Solution: Classifying Data by Level</vt:lpstr>
      <vt:lpstr>Summary of Four Levels of Measurement</vt:lpstr>
      <vt:lpstr>Slide 17</vt:lpstr>
      <vt:lpstr>Slide 18</vt:lpstr>
      <vt:lpstr>Primary &amp; Secondary Data </vt:lpstr>
      <vt:lpstr>Method of collection of primary data</vt:lpstr>
      <vt:lpstr>Method of collection of Secondary data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Lyn Noble</dc:creator>
  <cp:lastModifiedBy>Windows User</cp:lastModifiedBy>
  <cp:revision>24</cp:revision>
  <dcterms:created xsi:type="dcterms:W3CDTF">2019-07-02T19:05:17Z</dcterms:created>
  <dcterms:modified xsi:type="dcterms:W3CDTF">2021-04-14T06:56:37Z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2016-01-13T00:00:00Z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2019-07-02T00:00:00Z</vt:filetime>
  </property>
</Properties>
</file>